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19"/>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611717"/>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611717"/>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1580284"/>
            <a:ext cx="2971800" cy="611716"/>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11580284"/>
            <a:ext cx="2971800" cy="611716"/>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 页封面页的讲解建议：
先向客户说明，这不是一份传统 ERP 升级汇报，而是围绕下一代 AI Native 财务系统的建设思路做阶段性汇报。
重点强调两点：第一，我们选择 Odoo 作为业务与财务底座；第二，我们以 FT Agent 作为 AI 编排与执行引擎，目标是把系统从记录工具升级成经营协同平台。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2 页执行摘要的讲解建议：
这一页建议用来在 1 到 2 分钟内讲清楚全场核心结论。
可以先说我们当前做的不是单点自动化，而是从系统角色、工作方式、管理模式和能力边界四个维度一起升级。
最后落到一句话：我们希望帮助客户把财务系统从事后处理中心升级为实时经营驾驶舱。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 页为什么现在必须做 AI 改革的讲解建议：
这一页建议从客户最容易共鸣的现实压力切入。
可以按数据爆炸、经营节奏加快、合规压力增加、组织协同复杂化四个方面展开。
结尾要强调，今天企业真正缺的已经不是更多系统，而是一个能理解上下文、能给出动作建议的财务能力层。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4 页传统财务系统瓶颈的讲解建议：
建议用对比法来讲。
传统系统更擅长管流程、管字段、管留痕，但面对非结构化资料、跨部门判断和复杂例外时，往往还是要靠人工经验兜底。
所以客户真正痛的不是系统不在线，而是系统之外还有大量隐性劳动。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5 页总体设计思路的讲解建议：
这一页是全套汇报的技术主心骨。
建议按底座、AI 编排、知识认知、控制治理、用户入口五层来讲。
要特别说明，我们不是把大模型直接接到数据库上，而是在 Odoo 的业务底座之上，通过 FT Agent 组织 Agent、知识、工具和执行闭环，并且保留治理层。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6 页关键能力总览的讲解建议：
这一页要帮助客户建立完整认知。
可以告诉客户，AI Native 财务系统至少应包含六类能力：自然语言交互、单据理解、持续异常检测、预测模拟、Agent 化执行以及可审计治理。
这六项合在一起，才构成真正的原生 AI 财务系统。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7 页自然语言财务交互的讲解建议：
讲这一页时建议站在 CFO、财务经理和业务负责人三个角色去说。
核心不是多了一个聊天入口，而是任何经营问题都可以被系统自动翻译成数据查询、知识检索和后续动作。
换句话说，提问本身就能触发分析和执行。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8 页单据理解与自动会计的讲解建议：
这里可以重点强调 AI 对合同、发票、报销附件、银行回单等非结构化资料的理解能力。
建议突出两个价值：第一，减少大量基础录入和匹配动作；第二，把复杂例外留给人，把高频标准动作交给系统。
这样客户会更容易理解落地价值。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9 页持续异常检测与审计增强的讲解建议：
这一页建议从风控和审计视角展开。
传统系统更多是查询工具，而 AI Native 系统应该是持续盯盘工具。
可以强调系统不仅发现已知规则异常，还能识别模式异常、组合异常和上下文异常，这对内控和审计价值非常大。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10 页预测与经营决策支持的讲解建议：
这页要把财务系统的价值从解释过去，提升到辅助判断未来。
可以用现金流预测、利润波动分析、回款变化影响、税负模拟这些场景说明，AI Native 财务系统不是让报表更漂亮，而是让管理动作更早发生。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11 页传统系统与 AI Native 系统对比的讲解建议：
建议这一页讲得简洁、有力。
不要逐字读表，而是抓住三组核心对比：从结构化到多模态、从人工发现到持续监控、从报表输出到建议与执行闭环。
这页的作用是帮助客户形成明确区分，不要把原生 AI 理解成传统系统加一个问答插件。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12 页客户价值的讲解建议：
这一页建议不要只讲降本。
更完整的表达是：在效率上更快，在管理上更准，在风险上更早，在组织上更可复制。
尤其要强调，优秀财务团队的经验如果能被系统沉淀，就能从个人能力变成组织能力。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13 页实施路径与 ROI 的讲解建议：
这一页建议用务实口径。
先从高频、高价值、容易量化的场景切入，比如报销审核、发票识别、凭证草拟、账龄监控和异常预警。
等示范价值建立后，再逐步延展到经营分析和智能决策，这样更符合客户预算和项目推进规律。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14 页数据安全原则的讲解建议：
这页一定要讲稳。
建议围绕四个关键词展开：分级、隔离、留痕、人审。
重点告诉客户，我们不会让 AI 越权访问数据，也不会让高风险动作脱离审批链，这一点对于财务场景非常关键。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15 页安全方案建议与结尾的讲解建议：
这一页既是安全方案收束页，也是整场汇报的结论页。
可以先快速带过部署模式、访问控制、脱敏加密、知识库治理、审计监控和模型策略。
最后用一句总结收尾：AI Native 财务系统不是替代财务人员，而是帮助财务团队成为企业经营智能中枢。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21792" y="402336"/>
            <a:ext cx="310896" cy="54864"/>
          </a:xfrm>
          <a:prstGeom prst="rect">
            <a:avLst/>
          </a:prstGeom>
          <a:solidFill>
            <a:srgbClr val="C61F26"/>
          </a:solidFill>
          <a:ln w="12700">
            <a:solidFill>
              <a:srgbClr val="C61F26"/>
            </a:solidFill>
            <a:prstDash val="solid"/>
          </a:ln>
        </p:spPr>
      </p:sp>
      <p:sp>
        <p:nvSpPr>
          <p:cNvPr id="3" name="Text 1"/>
          <p:cNvSpPr/>
          <p:nvPr/>
        </p:nvSpPr>
        <p:spPr>
          <a:xfrm>
            <a:off x="640080" y="6419088"/>
            <a:ext cx="5120640" cy="182880"/>
          </a:xfrm>
          <a:prstGeom prst="rect">
            <a:avLst/>
          </a:prstGeom>
          <a:noFill/>
        </p:spPr>
        <p:txBody>
          <a:bodyPr wrap="square" lIns="0" tIns="0" rIns="0" bIns="0" rtlCol="0" anchor="ctr"/>
          <a:lstStyle/>
          <a:p>
            <a:pPr marL="0" indent="0">
              <a:buNone/>
            </a:pPr>
            <a:r>
              <a:rPr lang="en-US" sz="900" dirty="0">
                <a:solidFill>
                  <a:srgbClr val="8A8F98"/>
                </a:solidFill>
                <a:latin typeface="微软雅黑" panose="020B0503020204020204" charset="-122"/>
                <a:ea typeface="微软雅黑" panose="020B0503020204020204" charset="-122"/>
                <a:cs typeface="微软雅黑" panose="020B0503020204020204" pitchFamily="34" charset="-120"/>
              </a:rPr>
              <a:t>AI-Native 财务数智化系统工作汇报</a:t>
            </a:r>
            <a:endParaRPr lang="en-US" sz="900" dirty="0"/>
          </a:p>
        </p:txBody>
      </p:sp>
      <p:sp>
        <p:nvSpPr>
          <p:cNvPr id="4" name="Text 2"/>
          <p:cNvSpPr/>
          <p:nvPr/>
        </p:nvSpPr>
        <p:spPr>
          <a:xfrm>
            <a:off x="8458200" y="301752"/>
            <a:ext cx="1920240" cy="164592"/>
          </a:xfrm>
          <a:prstGeom prst="rect">
            <a:avLst/>
          </a:prstGeom>
          <a:noFill/>
        </p:spPr>
        <p:txBody>
          <a:bodyPr wrap="square" lIns="0" tIns="0" rIns="0" bIns="0" rtlCol="0" anchor="ctr"/>
          <a:lstStyle/>
          <a:p>
            <a:pPr marL="0" indent="0" algn="r">
              <a:buNone/>
            </a:pPr>
            <a:r>
              <a:rPr lang="en-US" sz="950" b="1" dirty="0">
                <a:solidFill>
                  <a:srgbClr val="C61F26"/>
                </a:solidFill>
                <a:latin typeface="微软雅黑" panose="020B0503020204020204" charset="-122"/>
                <a:ea typeface="微软雅黑" panose="020B0503020204020204" charset="-122"/>
                <a:cs typeface="微软雅黑" panose="020B0503020204020204" pitchFamily="34" charset="-120"/>
              </a:rPr>
              <a:t>瑞华云｜数豆科技</a:t>
            </a:r>
            <a:endParaRPr lang="en-US" sz="950" dirty="0"/>
          </a:p>
        </p:txBody>
      </p:sp>
      <p:sp>
        <p:nvSpPr>
          <p:cNvPr id="5" name="Text 3"/>
          <p:cNvSpPr/>
          <p:nvPr/>
        </p:nvSpPr>
        <p:spPr>
          <a:xfrm>
            <a:off x="10424160" y="301752"/>
            <a:ext cx="1188720" cy="164592"/>
          </a:xfrm>
          <a:prstGeom prst="rect">
            <a:avLst/>
          </a:prstGeom>
          <a:noFill/>
        </p:spPr>
        <p:txBody>
          <a:bodyPr wrap="square" lIns="0" tIns="0" rIns="0" bIns="0" rtlCol="0" anchor="ctr"/>
          <a:lstStyle/>
          <a:p>
            <a:pPr marL="0" indent="0" algn="r">
              <a:buNone/>
            </a:pPr>
            <a:r>
              <a:rPr lang="en-US" sz="830" dirty="0">
                <a:solidFill>
                  <a:srgbClr val="4B4F56"/>
                </a:solidFill>
                <a:latin typeface="微软雅黑" panose="020B0503020204020204" charset="-122"/>
                <a:ea typeface="微软雅黑" panose="020B0503020204020204" charset="-122"/>
                <a:cs typeface="微软雅黑" panose="020B0503020204020204" pitchFamily="34" charset="-120"/>
              </a:rPr>
              <a:t>赋能企业财务数字化转型</a:t>
            </a:r>
            <a:endParaRPr lang="en-US" sz="830" dirty="0"/>
          </a:p>
        </p:txBody>
      </p:sp>
      <p:sp>
        <p:nvSpPr>
          <p:cNvPr id="25"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11000">
        <p14:vortex dir="r"/>
      </p:transition>
    </mc:Choice>
    <mc:Fallback>
      <p:transition spd="slow" advTm="11000">
        <p:fade/>
      </p:transition>
    </mc:Fallback>
  </mc:AlternateContent>
  <p:hf sldNum="0" ftr="0" dt="0"/>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1.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9" Type="http://schemas.openxmlformats.org/officeDocument/2006/relationships/notesSlide" Target="../notesSlides/notesSlide4.xml"/><Relationship Id="rId18" Type="http://schemas.openxmlformats.org/officeDocument/2006/relationships/slideLayout" Target="../slideLayouts/slideLayout2.xml"/><Relationship Id="rId17" Type="http://schemas.openxmlformats.org/officeDocument/2006/relationships/tags" Target="../tags/tag30.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tags" Target="../tags/tag14.xml"/></Relationships>
</file>

<file path=ppt/slides/_rels/slide5.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3" Type="http://schemas.openxmlformats.org/officeDocument/2006/relationships/notesSlide" Target="../notesSlides/notesSlide5.xml"/><Relationship Id="rId22" Type="http://schemas.openxmlformats.org/officeDocument/2006/relationships/slideLayout" Target="../slideLayouts/slideLayout2.xml"/><Relationship Id="rId21" Type="http://schemas.openxmlformats.org/officeDocument/2006/relationships/tags" Target="../tags/tag51.xml"/><Relationship Id="rId20" Type="http://schemas.openxmlformats.org/officeDocument/2006/relationships/tags" Target="../tags/tag50.xml"/><Relationship Id="rId2" Type="http://schemas.openxmlformats.org/officeDocument/2006/relationships/tags" Target="../tags/tag32.xml"/><Relationship Id="rId19" Type="http://schemas.openxmlformats.org/officeDocument/2006/relationships/tags" Target="../tags/tag49.xml"/><Relationship Id="rId18" Type="http://schemas.openxmlformats.org/officeDocument/2006/relationships/tags" Target="../tags/tag48.xml"/><Relationship Id="rId17" Type="http://schemas.openxmlformats.org/officeDocument/2006/relationships/tags" Target="../tags/tag47.xml"/><Relationship Id="rId16" Type="http://schemas.openxmlformats.org/officeDocument/2006/relationships/tags" Target="../tags/tag46.xml"/><Relationship Id="rId15" Type="http://schemas.openxmlformats.org/officeDocument/2006/relationships/tags" Target="../tags/tag45.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tags" Target="../tags/tag41.xml"/><Relationship Id="rId10" Type="http://schemas.openxmlformats.org/officeDocument/2006/relationships/tags" Target="../tags/tag40.xml"/><Relationship Id="rId1" Type="http://schemas.openxmlformats.org/officeDocument/2006/relationships/tags" Target="../tags/tag31.xml"/></Relationships>
</file>

<file path=ppt/slides/_rels/slide6.xml.rels><?xml version="1.0" encoding="UTF-8" standalone="yes"?>
<Relationships xmlns="http://schemas.openxmlformats.org/package/2006/relationships"><Relationship Id="rId9" Type="http://schemas.openxmlformats.org/officeDocument/2006/relationships/tags" Target="../tags/tag60.xml"/><Relationship Id="rId8" Type="http://schemas.openxmlformats.org/officeDocument/2006/relationships/tags" Target="../tags/tag59.xml"/><Relationship Id="rId7" Type="http://schemas.openxmlformats.org/officeDocument/2006/relationships/tags" Target="../tags/tag58.xml"/><Relationship Id="rId6" Type="http://schemas.openxmlformats.org/officeDocument/2006/relationships/tags" Target="../tags/tag57.xml"/><Relationship Id="rId5" Type="http://schemas.openxmlformats.org/officeDocument/2006/relationships/tags" Target="../tags/tag56.xml"/><Relationship Id="rId4" Type="http://schemas.openxmlformats.org/officeDocument/2006/relationships/tags" Target="../tags/tag55.xml"/><Relationship Id="rId33" Type="http://schemas.openxmlformats.org/officeDocument/2006/relationships/notesSlide" Target="../notesSlides/notesSlide6.xml"/><Relationship Id="rId32" Type="http://schemas.openxmlformats.org/officeDocument/2006/relationships/slideLayout" Target="../slideLayouts/slideLayout2.xml"/><Relationship Id="rId31" Type="http://schemas.openxmlformats.org/officeDocument/2006/relationships/tags" Target="../tags/tag82.xml"/><Relationship Id="rId30" Type="http://schemas.openxmlformats.org/officeDocument/2006/relationships/tags" Target="../tags/tag81.xml"/><Relationship Id="rId3" Type="http://schemas.openxmlformats.org/officeDocument/2006/relationships/tags" Target="../tags/tag54.xml"/><Relationship Id="rId29" Type="http://schemas.openxmlformats.org/officeDocument/2006/relationships/tags" Target="../tags/tag80.xml"/><Relationship Id="rId28" Type="http://schemas.openxmlformats.org/officeDocument/2006/relationships/tags" Target="../tags/tag79.xml"/><Relationship Id="rId27" Type="http://schemas.openxmlformats.org/officeDocument/2006/relationships/tags" Target="../tags/tag78.xml"/><Relationship Id="rId26" Type="http://schemas.openxmlformats.org/officeDocument/2006/relationships/tags" Target="../tags/tag77.xml"/><Relationship Id="rId25" Type="http://schemas.openxmlformats.org/officeDocument/2006/relationships/tags" Target="../tags/tag76.xml"/><Relationship Id="rId24" Type="http://schemas.openxmlformats.org/officeDocument/2006/relationships/tags" Target="../tags/tag75.xml"/><Relationship Id="rId23" Type="http://schemas.openxmlformats.org/officeDocument/2006/relationships/tags" Target="../tags/tag74.xml"/><Relationship Id="rId22" Type="http://schemas.openxmlformats.org/officeDocument/2006/relationships/tags" Target="../tags/tag73.xml"/><Relationship Id="rId21" Type="http://schemas.openxmlformats.org/officeDocument/2006/relationships/tags" Target="../tags/tag72.xml"/><Relationship Id="rId20" Type="http://schemas.openxmlformats.org/officeDocument/2006/relationships/tags" Target="../tags/tag71.xml"/><Relationship Id="rId2" Type="http://schemas.openxmlformats.org/officeDocument/2006/relationships/tags" Target="../tags/tag53.xml"/><Relationship Id="rId19" Type="http://schemas.openxmlformats.org/officeDocument/2006/relationships/tags" Target="../tags/tag70.xml"/><Relationship Id="rId18" Type="http://schemas.openxmlformats.org/officeDocument/2006/relationships/tags" Target="../tags/tag69.xml"/><Relationship Id="rId17" Type="http://schemas.openxmlformats.org/officeDocument/2006/relationships/tags" Target="../tags/tag68.xml"/><Relationship Id="rId16" Type="http://schemas.openxmlformats.org/officeDocument/2006/relationships/tags" Target="../tags/tag67.xml"/><Relationship Id="rId15" Type="http://schemas.openxmlformats.org/officeDocument/2006/relationships/tags" Target="../tags/tag66.xml"/><Relationship Id="rId14" Type="http://schemas.openxmlformats.org/officeDocument/2006/relationships/tags" Target="../tags/tag65.xml"/><Relationship Id="rId13" Type="http://schemas.openxmlformats.org/officeDocument/2006/relationships/tags" Target="../tags/tag64.xml"/><Relationship Id="rId12" Type="http://schemas.openxmlformats.org/officeDocument/2006/relationships/tags" Target="../tags/tag63.xml"/><Relationship Id="rId11" Type="http://schemas.openxmlformats.org/officeDocument/2006/relationships/tags" Target="../tags/tag62.xml"/><Relationship Id="rId10" Type="http://schemas.openxmlformats.org/officeDocument/2006/relationships/tags" Target="../tags/tag61.xml"/><Relationship Id="rId1" Type="http://schemas.openxmlformats.org/officeDocument/2006/relationships/tags" Target="../tags/tag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7" Type="http://schemas.openxmlformats.org/officeDocument/2006/relationships/notesSlide" Target="../notesSlides/notesSlide9.xml"/><Relationship Id="rId26" Type="http://schemas.openxmlformats.org/officeDocument/2006/relationships/slideLayout" Target="../slideLayouts/slideLayout2.xml"/><Relationship Id="rId25" Type="http://schemas.openxmlformats.org/officeDocument/2006/relationships/tags" Target="../tags/tag107.xml"/><Relationship Id="rId24" Type="http://schemas.openxmlformats.org/officeDocument/2006/relationships/tags" Target="../tags/tag106.xml"/><Relationship Id="rId23" Type="http://schemas.openxmlformats.org/officeDocument/2006/relationships/tags" Target="../tags/tag105.xml"/><Relationship Id="rId22" Type="http://schemas.openxmlformats.org/officeDocument/2006/relationships/tags" Target="../tags/tag104.xml"/><Relationship Id="rId21" Type="http://schemas.openxmlformats.org/officeDocument/2006/relationships/tags" Target="../tags/tag103.xml"/><Relationship Id="rId20" Type="http://schemas.openxmlformats.org/officeDocument/2006/relationships/tags" Target="../tags/tag102.xml"/><Relationship Id="rId2" Type="http://schemas.openxmlformats.org/officeDocument/2006/relationships/tags" Target="../tags/tag84.xml"/><Relationship Id="rId19" Type="http://schemas.openxmlformats.org/officeDocument/2006/relationships/tags" Target="../tags/tag101.xml"/><Relationship Id="rId18" Type="http://schemas.openxmlformats.org/officeDocument/2006/relationships/tags" Target="../tags/tag100.xml"/><Relationship Id="rId17" Type="http://schemas.openxmlformats.org/officeDocument/2006/relationships/tags" Target="../tags/tag99.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tags" Target="../tags/tag8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3" Type="http://schemas.openxmlformats.org/officeDocument/2006/relationships/notesSlide" Target="../notesSlides/notesSlide13.xml"/><Relationship Id="rId22" Type="http://schemas.openxmlformats.org/officeDocument/2006/relationships/slideLayout" Target="../slideLayouts/slideLayout2.xml"/><Relationship Id="rId21" Type="http://schemas.openxmlformats.org/officeDocument/2006/relationships/tags" Target="../tags/tag129.xml"/><Relationship Id="rId20" Type="http://schemas.openxmlformats.org/officeDocument/2006/relationships/tags" Target="../tags/tag128.xml"/><Relationship Id="rId2" Type="http://schemas.openxmlformats.org/officeDocument/2006/relationships/tags" Target="../tags/tag110.xml"/><Relationship Id="rId19" Type="http://schemas.openxmlformats.org/officeDocument/2006/relationships/tags" Target="../tags/tag127.xml"/><Relationship Id="rId18" Type="http://schemas.openxmlformats.org/officeDocument/2006/relationships/tags" Target="../tags/tag126.xml"/><Relationship Id="rId17" Type="http://schemas.openxmlformats.org/officeDocument/2006/relationships/tags" Target="../tags/tag125.xml"/><Relationship Id="rId16" Type="http://schemas.openxmlformats.org/officeDocument/2006/relationships/tags" Target="../tags/tag124.xml"/><Relationship Id="rId15" Type="http://schemas.openxmlformats.org/officeDocument/2006/relationships/tags" Target="../tags/tag123.xml"/><Relationship Id="rId14" Type="http://schemas.openxmlformats.org/officeDocument/2006/relationships/tags" Target="../tags/tag122.xml"/><Relationship Id="rId13" Type="http://schemas.openxmlformats.org/officeDocument/2006/relationships/tags" Target="../tags/tag121.xml"/><Relationship Id="rId12" Type="http://schemas.openxmlformats.org/officeDocument/2006/relationships/tags" Target="../tags/tag120.xml"/><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tags" Target="../tags/tag109.xml"/></Relationships>
</file>

<file path=ppt/slides/_rels/slide14.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1" Type="http://schemas.openxmlformats.org/officeDocument/2006/relationships/notesSlide" Target="../notesSlides/notesSlide14.xml"/><Relationship Id="rId30" Type="http://schemas.openxmlformats.org/officeDocument/2006/relationships/slideLayout" Target="../slideLayouts/slideLayout2.xml"/><Relationship Id="rId3" Type="http://schemas.openxmlformats.org/officeDocument/2006/relationships/tags" Target="../tags/tag132.xml"/><Relationship Id="rId29" Type="http://schemas.openxmlformats.org/officeDocument/2006/relationships/tags" Target="../tags/tag158.xml"/><Relationship Id="rId28" Type="http://schemas.openxmlformats.org/officeDocument/2006/relationships/tags" Target="../tags/tag157.xml"/><Relationship Id="rId27" Type="http://schemas.openxmlformats.org/officeDocument/2006/relationships/tags" Target="../tags/tag156.xml"/><Relationship Id="rId26" Type="http://schemas.openxmlformats.org/officeDocument/2006/relationships/tags" Target="../tags/tag155.xml"/><Relationship Id="rId25" Type="http://schemas.openxmlformats.org/officeDocument/2006/relationships/tags" Target="../tags/tag154.xml"/><Relationship Id="rId24" Type="http://schemas.openxmlformats.org/officeDocument/2006/relationships/tags" Target="../tags/tag153.xml"/><Relationship Id="rId23" Type="http://schemas.openxmlformats.org/officeDocument/2006/relationships/tags" Target="../tags/tag152.xml"/><Relationship Id="rId22" Type="http://schemas.openxmlformats.org/officeDocument/2006/relationships/tags" Target="../tags/tag151.xml"/><Relationship Id="rId21" Type="http://schemas.openxmlformats.org/officeDocument/2006/relationships/tags" Target="../tags/tag150.xml"/><Relationship Id="rId20" Type="http://schemas.openxmlformats.org/officeDocument/2006/relationships/tags" Target="../tags/tag149.xml"/><Relationship Id="rId2" Type="http://schemas.openxmlformats.org/officeDocument/2006/relationships/tags" Target="../tags/tag131.xml"/><Relationship Id="rId19" Type="http://schemas.openxmlformats.org/officeDocument/2006/relationships/tags" Target="../tags/tag148.xml"/><Relationship Id="rId18" Type="http://schemas.openxmlformats.org/officeDocument/2006/relationships/tags" Target="../tags/tag147.xml"/><Relationship Id="rId17" Type="http://schemas.openxmlformats.org/officeDocument/2006/relationships/tags" Target="../tags/tag146.xml"/><Relationship Id="rId16" Type="http://schemas.openxmlformats.org/officeDocument/2006/relationships/tags" Target="../tags/tag145.xml"/><Relationship Id="rId15" Type="http://schemas.openxmlformats.org/officeDocument/2006/relationships/tags" Target="../tags/tag144.xml"/><Relationship Id="rId14" Type="http://schemas.openxmlformats.org/officeDocument/2006/relationships/tags" Target="../tags/tag143.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tags" Target="../tags/tag13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15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9808" y="822960"/>
            <a:ext cx="384048" cy="54864"/>
          </a:xfrm>
          <a:prstGeom prst="rect">
            <a:avLst/>
          </a:prstGeom>
          <a:solidFill>
            <a:srgbClr val="C61F26"/>
          </a:solidFill>
          <a:ln w="12700">
            <a:solidFill>
              <a:srgbClr val="C61F26"/>
            </a:solidFill>
            <a:prstDash val="solid"/>
          </a:ln>
        </p:spPr>
      </p:sp>
      <p:sp>
        <p:nvSpPr>
          <p:cNvPr id="3" name="Text 1"/>
          <p:cNvSpPr/>
          <p:nvPr/>
        </p:nvSpPr>
        <p:spPr>
          <a:xfrm>
            <a:off x="862965" y="1234440"/>
            <a:ext cx="6011545" cy="1143000"/>
          </a:xfrm>
          <a:prstGeom prst="rect">
            <a:avLst/>
          </a:prstGeom>
          <a:noFill/>
        </p:spPr>
        <p:txBody>
          <a:bodyPr wrap="square" lIns="0" tIns="0" rIns="0" bIns="0" rtlCol="0" anchor="ctr"/>
          <a:lstStyle/>
          <a:p>
            <a:pPr marL="0" indent="0">
              <a:lnSpc>
                <a:spcPct val="150000"/>
              </a:lnSpc>
              <a:buNone/>
            </a:pPr>
            <a:r>
              <a:rPr lang="en-US" sz="2300" b="1" dirty="0">
                <a:solidFill>
                  <a:schemeClr val="tx1"/>
                </a:solidFill>
                <a:effectLst/>
                <a:latin typeface="微软雅黑" panose="020B0503020204020204" charset="-122"/>
                <a:ea typeface="微软雅黑" panose="020B0503020204020204" charset="-122"/>
                <a:cs typeface="微软雅黑" panose="020B0503020204020204" charset="-122"/>
              </a:rPr>
              <a:t>基于 Odoo + FT Agent 的</a:t>
            </a:r>
            <a:endParaRPr lang="en-US" sz="2300" b="1" dirty="0">
              <a:solidFill>
                <a:schemeClr val="tx1"/>
              </a:solidFill>
              <a:effectLst/>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2300" b="1" dirty="0">
                <a:solidFill>
                  <a:schemeClr val="tx1"/>
                </a:solidFill>
                <a:effectLst/>
                <a:latin typeface="微软雅黑" panose="020B0503020204020204" charset="-122"/>
                <a:ea typeface="微软雅黑" panose="020B0503020204020204" charset="-122"/>
                <a:cs typeface="微软雅黑" panose="020B0503020204020204" charset="-122"/>
              </a:rPr>
              <a:t>AI-Native </a:t>
            </a:r>
            <a:r>
              <a:rPr lang="en-US" sz="2300" b="1" dirty="0">
                <a:solidFill>
                  <a:srgbClr val="2F3440"/>
                </a:solidFill>
                <a:effectLst/>
                <a:latin typeface="微软雅黑" panose="020B0503020204020204" charset="-122"/>
                <a:ea typeface="微软雅黑" panose="020B0503020204020204" charset="-122"/>
                <a:cs typeface="微软雅黑" panose="020B0503020204020204" charset="-122"/>
              </a:rPr>
              <a:t>企业财务数智化系统工作汇报</a:t>
            </a:r>
            <a:endParaRPr lang="en-US" sz="2300" b="1" dirty="0">
              <a:effectLst/>
              <a:latin typeface="微软雅黑" panose="020B0503020204020204" charset="-122"/>
              <a:ea typeface="微软雅黑" panose="020B0503020204020204" charset="-122"/>
              <a:cs typeface="微软雅黑" panose="020B0503020204020204" charset="-122"/>
            </a:endParaRPr>
          </a:p>
        </p:txBody>
      </p:sp>
      <p:sp>
        <p:nvSpPr>
          <p:cNvPr id="4" name="Text 2"/>
          <p:cNvSpPr/>
          <p:nvPr/>
        </p:nvSpPr>
        <p:spPr>
          <a:xfrm>
            <a:off x="905637" y="3281045"/>
            <a:ext cx="5303520" cy="685800"/>
          </a:xfrm>
          <a:prstGeom prst="rect">
            <a:avLst/>
          </a:prstGeom>
          <a:noFill/>
        </p:spPr>
        <p:txBody>
          <a:bodyPr wrap="square" lIns="0" tIns="0" rIns="0" bIns="0" rtlCol="0" anchor="ctr"/>
          <a:lstStyle/>
          <a:p>
            <a:pPr marL="0" indent="0">
              <a:lnSpc>
                <a:spcPct val="150000"/>
              </a:lnSpc>
              <a:buNone/>
            </a:pPr>
            <a:r>
              <a:rPr lang="en-US" sz="1350" b="1" dirty="0">
                <a:solidFill>
                  <a:srgbClr val="7C828B"/>
                </a:solidFill>
                <a:latin typeface="微软雅黑" panose="020B0503020204020204" charset="-122"/>
                <a:ea typeface="微软雅黑" panose="020B0503020204020204" charset="-122"/>
                <a:cs typeface="微软雅黑" panose="020B0503020204020204" charset="-122"/>
              </a:rPr>
              <a:t>面向下一代企业财务数智化平台</a:t>
            </a:r>
            <a:endParaRPr lang="en-US" sz="1350" b="1"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350" b="1" dirty="0">
                <a:solidFill>
                  <a:srgbClr val="7C828B"/>
                </a:solidFill>
                <a:latin typeface="微软雅黑" panose="020B0503020204020204" charset="-122"/>
                <a:ea typeface="微软雅黑" panose="020B0503020204020204" charset="-122"/>
                <a:cs typeface="微软雅黑" panose="020B0503020204020204" charset="-122"/>
              </a:rPr>
              <a:t>从“流程记录系统”升级为“经营理解与决策协同系统”</a:t>
            </a:r>
            <a:endParaRPr lang="en-US" sz="1350" b="1" dirty="0">
              <a:latin typeface="微软雅黑" panose="020B0503020204020204" charset="-122"/>
              <a:ea typeface="微软雅黑" panose="020B0503020204020204" charset="-122"/>
              <a:cs typeface="微软雅黑" panose="020B0503020204020204" charset="-122"/>
            </a:endParaRPr>
          </a:p>
        </p:txBody>
      </p:sp>
      <p:grpSp>
        <p:nvGrpSpPr>
          <p:cNvPr id="26" name="组合 25"/>
          <p:cNvGrpSpPr/>
          <p:nvPr/>
        </p:nvGrpSpPr>
        <p:grpSpPr>
          <a:xfrm>
            <a:off x="862194" y="4307205"/>
            <a:ext cx="5741806" cy="1077160"/>
            <a:chOff x="1527" y="6912"/>
            <a:chExt cx="8395" cy="1478"/>
          </a:xfrm>
        </p:grpSpPr>
        <p:sp>
          <p:nvSpPr>
            <p:cNvPr id="5" name="Shape 3"/>
            <p:cNvSpPr/>
            <p:nvPr/>
          </p:nvSpPr>
          <p:spPr>
            <a:xfrm>
              <a:off x="1527" y="6912"/>
              <a:ext cx="8395" cy="1478"/>
            </a:xfrm>
            <a:prstGeom prst="roundRect">
              <a:avLst>
                <a:gd name="adj" fmla="val 13793"/>
              </a:avLst>
            </a:prstGeom>
            <a:solidFill>
              <a:srgbClr val="C61F26"/>
            </a:solidFill>
            <a:ln w="12700">
              <a:solidFill>
                <a:srgbClr val="C61F26"/>
              </a:solidFill>
              <a:prstDash val="solid"/>
            </a:ln>
          </p:spPr>
          <p:txBody>
            <a:bodyPr/>
            <a:p>
              <a:endParaRPr lang="zh-CN" altLang="en-US"/>
            </a:p>
          </p:txBody>
        </p:sp>
        <p:sp>
          <p:nvSpPr>
            <p:cNvPr id="6" name="Text 4"/>
            <p:cNvSpPr/>
            <p:nvPr/>
          </p:nvSpPr>
          <p:spPr>
            <a:xfrm>
              <a:off x="1747" y="7085"/>
              <a:ext cx="8175" cy="951"/>
            </a:xfrm>
            <a:prstGeom prst="rect">
              <a:avLst/>
            </a:prstGeom>
            <a:noFill/>
          </p:spPr>
          <p:txBody>
            <a:bodyPr wrap="square" lIns="0" tIns="0" rIns="0" bIns="0" rtlCol="0" anchor="ctr"/>
            <a:lstStyle/>
            <a:p>
              <a:pPr marL="0" indent="0" algn="l">
                <a:lnSpc>
                  <a:spcPct val="150000"/>
                </a:lnSpc>
                <a:buNone/>
              </a:pPr>
              <a:r>
                <a:rPr 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不是给 ERP 外挂一个聊天框,</a:t>
              </a:r>
              <a:endParaRPr 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而是在业务底座上建设可执行、可治理、可审计的 AI 能力层</a:t>
              </a:r>
              <a:r>
                <a:rPr lang="zh-CN" alt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t>
              </a:r>
              <a:endParaRPr lang="zh-CN" altLang="en-US" sz="1200" b="1" dirty="0">
                <a:solidFill>
                  <a:schemeClr val="bg1"/>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grpSp>
      <p:grpSp>
        <p:nvGrpSpPr>
          <p:cNvPr id="24" name="组合 23"/>
          <p:cNvGrpSpPr/>
          <p:nvPr>
            <p:custDataLst>
              <p:tags r:id="rId1"/>
            </p:custDataLst>
          </p:nvPr>
        </p:nvGrpSpPr>
        <p:grpSpPr>
          <a:xfrm>
            <a:off x="7332345" y="1143000"/>
            <a:ext cx="3862070" cy="2492375"/>
            <a:chOff x="12240" y="1800"/>
            <a:chExt cx="4507" cy="3528"/>
          </a:xfrm>
        </p:grpSpPr>
        <p:sp>
          <p:nvSpPr>
            <p:cNvPr id="7" name="Shape 5"/>
            <p:cNvSpPr/>
            <p:nvPr>
              <p:custDataLst>
                <p:tags r:id="rId2"/>
              </p:custDataLst>
            </p:nvPr>
          </p:nvSpPr>
          <p:spPr>
            <a:xfrm>
              <a:off x="12240" y="1800"/>
              <a:ext cx="2088" cy="1512"/>
            </a:xfrm>
            <a:prstGeom prst="roundRect">
              <a:avLst>
                <a:gd name="adj" fmla="val 11429"/>
              </a:avLst>
            </a:prstGeom>
            <a:solidFill>
              <a:srgbClr val="F7F8FA"/>
            </a:solidFill>
            <a:ln w="12700">
              <a:solidFill>
                <a:srgbClr val="E7E9ED"/>
              </a:solidFill>
              <a:prstDash val="solid"/>
            </a:ln>
          </p:spPr>
        </p:sp>
        <p:sp>
          <p:nvSpPr>
            <p:cNvPr id="8" name="Text 6"/>
            <p:cNvSpPr/>
            <p:nvPr>
              <p:custDataLst>
                <p:tags r:id="rId3"/>
              </p:custDataLst>
            </p:nvPr>
          </p:nvSpPr>
          <p:spPr>
            <a:xfrm>
              <a:off x="12240" y="1944"/>
              <a:ext cx="2088" cy="490"/>
            </a:xfrm>
            <a:prstGeom prst="rect">
              <a:avLst/>
            </a:prstGeom>
            <a:noFill/>
          </p:spPr>
          <p:txBody>
            <a:bodyPr wrap="square" lIns="0" tIns="0" rIns="0" bIns="0" rtlCol="0" anchor="ctr"/>
            <a:lstStyle/>
            <a:p>
              <a:pPr marL="0" indent="0" algn="ctr">
                <a:buNone/>
              </a:pPr>
              <a:r>
                <a:rPr lang="en-US" sz="2000" b="1" dirty="0"/>
                <a:t>Agent</a:t>
              </a:r>
              <a:endParaRPr lang="en-US" sz="2000" b="1" dirty="0"/>
            </a:p>
          </p:txBody>
        </p:sp>
        <p:sp>
          <p:nvSpPr>
            <p:cNvPr id="9" name="Text 7"/>
            <p:cNvSpPr/>
            <p:nvPr>
              <p:custDataLst>
                <p:tags r:id="rId4"/>
              </p:custDataLst>
            </p:nvPr>
          </p:nvSpPr>
          <p:spPr>
            <a:xfrm>
              <a:off x="12355" y="2520"/>
              <a:ext cx="1858" cy="346"/>
            </a:xfrm>
            <a:prstGeom prst="rect">
              <a:avLst/>
            </a:prstGeom>
            <a:noFill/>
          </p:spPr>
          <p:txBody>
            <a:bodyPr wrap="square" lIns="0" tIns="0" rIns="0" bIns="0" rtlCol="0" anchor="ctr"/>
            <a:lstStyle/>
            <a:p>
              <a:pPr marL="0" indent="0" algn="ctr">
                <a:buNone/>
              </a:pPr>
              <a:r>
                <a:rPr lang="zh-CN" alt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智能体</a:t>
              </a:r>
              <a:endParaRPr lang="zh-CN" alt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custDataLst>
                <p:tags r:id="rId5"/>
              </p:custDataLst>
            </p:nvPr>
          </p:nvSpPr>
          <p:spPr>
            <a:xfrm>
              <a:off x="14659" y="1800"/>
              <a:ext cx="2088" cy="1512"/>
            </a:xfrm>
            <a:prstGeom prst="roundRect">
              <a:avLst>
                <a:gd name="adj" fmla="val 11429"/>
              </a:avLst>
            </a:prstGeom>
            <a:solidFill>
              <a:srgbClr val="FFF4F4"/>
            </a:solidFill>
            <a:ln w="12700">
              <a:solidFill>
                <a:srgbClr val="E7E9ED"/>
              </a:solidFill>
              <a:prstDash val="solid"/>
            </a:ln>
          </p:spPr>
        </p:sp>
        <p:sp>
          <p:nvSpPr>
            <p:cNvPr id="11" name="Text 9"/>
            <p:cNvSpPr/>
            <p:nvPr>
              <p:custDataLst>
                <p:tags r:id="rId6"/>
              </p:custDataLst>
            </p:nvPr>
          </p:nvSpPr>
          <p:spPr>
            <a:xfrm>
              <a:off x="14659" y="1944"/>
              <a:ext cx="2088" cy="490"/>
            </a:xfrm>
            <a:prstGeom prst="rect">
              <a:avLst/>
            </a:prstGeom>
            <a:noFill/>
          </p:spPr>
          <p:txBody>
            <a:bodyPr wrap="square" lIns="0" tIns="0" rIns="0" bIns="0" rtlCol="0" anchor="ctr"/>
            <a:lstStyle/>
            <a:p>
              <a:pPr marL="0" indent="0" algn="ctr">
                <a:buNone/>
              </a:pPr>
              <a:r>
                <a:rPr lang="en-US" sz="2000" b="1" dirty="0"/>
                <a:t>LLM + RAG</a:t>
              </a:r>
              <a:endParaRPr lang="en-US" sz="2000" b="1" dirty="0"/>
            </a:p>
          </p:txBody>
        </p:sp>
        <p:sp>
          <p:nvSpPr>
            <p:cNvPr id="12" name="Text 10"/>
            <p:cNvSpPr/>
            <p:nvPr>
              <p:custDataLst>
                <p:tags r:id="rId7"/>
              </p:custDataLst>
            </p:nvPr>
          </p:nvSpPr>
          <p:spPr>
            <a:xfrm>
              <a:off x="14774" y="2520"/>
              <a:ext cx="1858" cy="346"/>
            </a:xfrm>
            <a:prstGeom prst="rect">
              <a:avLst/>
            </a:prstGeom>
            <a:noFill/>
          </p:spPr>
          <p:txBody>
            <a:bodyPr wrap="square" lIns="0" tIns="0" rIns="0" bIns="0" rtlCol="0" anchor="ctr"/>
            <a:lstStyle/>
            <a:p>
              <a:pPr marL="0" indent="0" algn="ctr">
                <a:buNone/>
              </a:pPr>
              <a:r>
                <a:rPr lang="zh-CN" alt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知识库</a:t>
              </a:r>
              <a:endParaRPr lang="zh-CN" alt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3" name="Shape 11"/>
            <p:cNvSpPr/>
            <p:nvPr>
              <p:custDataLst>
                <p:tags r:id="rId8"/>
              </p:custDataLst>
            </p:nvPr>
          </p:nvSpPr>
          <p:spPr>
            <a:xfrm>
              <a:off x="12240" y="3816"/>
              <a:ext cx="2088" cy="1512"/>
            </a:xfrm>
            <a:prstGeom prst="roundRect">
              <a:avLst>
                <a:gd name="adj" fmla="val 11429"/>
              </a:avLst>
            </a:prstGeom>
            <a:solidFill>
              <a:srgbClr val="FFF4F4"/>
            </a:solidFill>
            <a:ln w="12700">
              <a:solidFill>
                <a:srgbClr val="E7E9ED"/>
              </a:solidFill>
              <a:prstDash val="solid"/>
            </a:ln>
          </p:spPr>
        </p:sp>
        <p:sp>
          <p:nvSpPr>
            <p:cNvPr id="14" name="Text 12"/>
            <p:cNvSpPr/>
            <p:nvPr>
              <p:custDataLst>
                <p:tags r:id="rId9"/>
              </p:custDataLst>
            </p:nvPr>
          </p:nvSpPr>
          <p:spPr>
            <a:xfrm>
              <a:off x="12240" y="3960"/>
              <a:ext cx="2088"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AI</a:t>
              </a:r>
              <a:endParaRPr lang="en-US" sz="2000" dirty="0"/>
            </a:p>
          </p:txBody>
        </p:sp>
        <p:sp>
          <p:nvSpPr>
            <p:cNvPr id="15" name="Text 13"/>
            <p:cNvSpPr/>
            <p:nvPr>
              <p:custDataLst>
                <p:tags r:id="rId10"/>
              </p:custDataLst>
            </p:nvPr>
          </p:nvSpPr>
          <p:spPr>
            <a:xfrm>
              <a:off x="12355" y="4536"/>
              <a:ext cx="1858" cy="346"/>
            </a:xfrm>
            <a:prstGeom prst="rect">
              <a:avLst/>
            </a:prstGeom>
            <a:noFill/>
          </p:spPr>
          <p:txBody>
            <a:bodyPr wrap="square" lIns="0" tIns="0" rIns="0" bIns="0" rtlCol="0" anchor="ctr"/>
            <a:lstStyle/>
            <a:p>
              <a:pPr marL="0" indent="0" algn="ctr">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原生架构</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6" name="Shape 14"/>
            <p:cNvSpPr/>
            <p:nvPr>
              <p:custDataLst>
                <p:tags r:id="rId11"/>
              </p:custDataLst>
            </p:nvPr>
          </p:nvSpPr>
          <p:spPr>
            <a:xfrm>
              <a:off x="14659" y="3816"/>
              <a:ext cx="2088" cy="1512"/>
            </a:xfrm>
            <a:prstGeom prst="roundRect">
              <a:avLst>
                <a:gd name="adj" fmla="val 11429"/>
              </a:avLst>
            </a:prstGeom>
            <a:solidFill>
              <a:srgbClr val="F7F8FA"/>
            </a:solidFill>
            <a:ln w="12700">
              <a:solidFill>
                <a:srgbClr val="E7E9ED"/>
              </a:solidFill>
              <a:prstDash val="solid"/>
            </a:ln>
          </p:spPr>
        </p:sp>
        <p:sp>
          <p:nvSpPr>
            <p:cNvPr id="17" name="Text 15"/>
            <p:cNvSpPr/>
            <p:nvPr>
              <p:custDataLst>
                <p:tags r:id="rId12"/>
              </p:custDataLst>
            </p:nvPr>
          </p:nvSpPr>
          <p:spPr>
            <a:xfrm>
              <a:off x="14659" y="3960"/>
              <a:ext cx="2088"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odoo</a:t>
              </a:r>
              <a:endParaRPr lang="en-US" sz="2000" dirty="0"/>
            </a:p>
          </p:txBody>
        </p:sp>
        <p:sp>
          <p:nvSpPr>
            <p:cNvPr id="18" name="Text 16"/>
            <p:cNvSpPr/>
            <p:nvPr>
              <p:custDataLst>
                <p:tags r:id="rId13"/>
              </p:custDataLst>
            </p:nvPr>
          </p:nvSpPr>
          <p:spPr>
            <a:xfrm>
              <a:off x="14774" y="4536"/>
              <a:ext cx="1858" cy="346"/>
            </a:xfrm>
            <a:prstGeom prst="rect">
              <a:avLst/>
            </a:prstGeom>
            <a:noFill/>
          </p:spPr>
          <p:txBody>
            <a:bodyPr wrap="square" lIns="0" tIns="0" rIns="0" bIns="0" rtlCol="0" anchor="ctr"/>
            <a:lstStyle/>
            <a:p>
              <a:pPr marL="0" indent="0" algn="ctr">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业务底座</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25" name="组合 24"/>
          <p:cNvGrpSpPr/>
          <p:nvPr/>
        </p:nvGrpSpPr>
        <p:grpSpPr>
          <a:xfrm>
            <a:off x="7332345" y="3966845"/>
            <a:ext cx="3868420" cy="1417320"/>
            <a:chOff x="11592" y="6048"/>
            <a:chExt cx="6092" cy="2232"/>
          </a:xfrm>
        </p:grpSpPr>
        <p:sp>
          <p:nvSpPr>
            <p:cNvPr id="19" name="Shape 17"/>
            <p:cNvSpPr/>
            <p:nvPr/>
          </p:nvSpPr>
          <p:spPr>
            <a:xfrm>
              <a:off x="11592" y="6048"/>
              <a:ext cx="6092" cy="2232"/>
            </a:xfrm>
            <a:prstGeom prst="roundRect">
              <a:avLst>
                <a:gd name="adj" fmla="val 5161"/>
              </a:avLst>
            </a:prstGeom>
            <a:solidFill>
              <a:srgbClr val="FFFFFF"/>
            </a:solidFill>
            <a:ln w="12700">
              <a:solidFill>
                <a:srgbClr val="E7E9ED"/>
              </a:solidFill>
              <a:prstDash val="solid"/>
            </a:ln>
          </p:spPr>
        </p:sp>
        <p:sp>
          <p:nvSpPr>
            <p:cNvPr id="20" name="Text 18"/>
            <p:cNvSpPr/>
            <p:nvPr/>
          </p:nvSpPr>
          <p:spPr>
            <a:xfrm>
              <a:off x="12020" y="6393"/>
              <a:ext cx="3384" cy="259"/>
            </a:xfrm>
            <a:prstGeom prst="rect">
              <a:avLst/>
            </a:prstGeom>
            <a:noFill/>
          </p:spPr>
          <p:txBody>
            <a:bodyPr wrap="square" lIns="0" tIns="0" rIns="0" bIns="0" rtlCol="0" anchor="ctr"/>
            <a:lstStyle/>
            <a:p>
              <a:pPr marL="0" indent="0">
                <a:buNone/>
              </a:pPr>
              <a:r>
                <a:rPr lang="en-US" sz="1180" b="1" dirty="0">
                  <a:solidFill>
                    <a:srgbClr val="C61F26"/>
                  </a:solidFill>
                  <a:latin typeface="微软雅黑" panose="020B0503020204020204" charset="-122"/>
                  <a:ea typeface="微软雅黑" panose="020B0503020204020204" charset="-122"/>
                  <a:cs typeface="微软雅黑" panose="020B0503020204020204" pitchFamily="34" charset="-120"/>
                </a:rPr>
                <a:t>瑞华云｜数豆科技</a:t>
              </a:r>
              <a:endParaRPr lang="en-US" sz="1180" dirty="0"/>
            </a:p>
          </p:txBody>
        </p:sp>
        <p:sp>
          <p:nvSpPr>
            <p:cNvPr id="21" name="Text 19"/>
            <p:cNvSpPr/>
            <p:nvPr/>
          </p:nvSpPr>
          <p:spPr>
            <a:xfrm>
              <a:off x="12020" y="6857"/>
              <a:ext cx="4248" cy="259"/>
            </a:xfrm>
            <a:prstGeom prst="rect">
              <a:avLst/>
            </a:prstGeom>
            <a:noFill/>
          </p:spPr>
          <p:txBody>
            <a:bodyPr wrap="square" lIns="0" tIns="0" rIns="0" bIns="0" rtlCol="0" anchor="ctr"/>
            <a:lstStyle/>
            <a:p>
              <a:pPr marL="0" indent="0">
                <a:buNone/>
              </a:pPr>
              <a:r>
                <a:rPr lang="en-US" sz="1060" dirty="0">
                  <a:solidFill>
                    <a:srgbClr val="2F3440"/>
                  </a:solidFill>
                  <a:latin typeface="微软雅黑" panose="020B0503020204020204" charset="-122"/>
                  <a:ea typeface="微软雅黑" panose="020B0503020204020204" charset="-122"/>
                  <a:cs typeface="微软雅黑" panose="020B0503020204020204" pitchFamily="34" charset="-120"/>
                </a:rPr>
                <a:t>赋能企业财务数字化转型</a:t>
              </a:r>
              <a:endParaRPr lang="en-US" sz="1060" dirty="0"/>
            </a:p>
          </p:txBody>
        </p:sp>
        <p:sp>
          <p:nvSpPr>
            <p:cNvPr id="23" name="Text 21"/>
            <p:cNvSpPr/>
            <p:nvPr/>
          </p:nvSpPr>
          <p:spPr>
            <a:xfrm>
              <a:off x="12020" y="7520"/>
              <a:ext cx="4464" cy="259"/>
            </a:xfrm>
            <a:prstGeom prst="rect">
              <a:avLst/>
            </a:prstGeom>
            <a:noFill/>
          </p:spPr>
          <p:txBody>
            <a:bodyPr wrap="square" lIns="0" tIns="0" rIns="0" bIns="0" rtlCol="0" anchor="ctr"/>
            <a:lstStyle/>
            <a:p>
              <a:pPr marL="0" indent="0">
                <a:buNone/>
              </a:pPr>
              <a:r>
                <a:rPr lang="en-US" sz="1020" i="1" dirty="0">
                  <a:solidFill>
                    <a:srgbClr val="7C828B"/>
                  </a:solidFill>
                  <a:latin typeface="微软雅黑" panose="020B0503020204020204" charset="-122"/>
                  <a:ea typeface="微软雅黑" panose="020B0503020204020204" charset="-122"/>
                  <a:cs typeface="微软雅黑" panose="020B0503020204020204" pitchFamily="34" charset="-120"/>
                </a:rPr>
                <a:t>AI Native Finance System</a:t>
              </a:r>
              <a:endParaRPr lang="en-US" sz="102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执行摘要：我们正在做什么，为什么现在必须做</a:t>
            </a:r>
            <a:endParaRPr lang="en-US" sz="2250" dirty="0"/>
          </a:p>
        </p:txBody>
      </p:sp>
      <p:sp>
        <p:nvSpPr>
          <p:cNvPr id="4" name="Text 2"/>
          <p:cNvSpPr/>
          <p:nvPr/>
        </p:nvSpPr>
        <p:spPr>
          <a:xfrm>
            <a:off x="639953" y="113385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本阶段目标：基于 Odoo 与 FT Agent，打造 AI-Native 的企业财务数智化底座</a:t>
            </a:r>
            <a:endParaRPr lang="en-US" sz="1000" dirty="0"/>
          </a:p>
        </p:txBody>
      </p:sp>
      <p:sp>
        <p:nvSpPr>
          <p:cNvPr id="5" name="Text 3"/>
          <p:cNvSpPr/>
          <p:nvPr/>
        </p:nvSpPr>
        <p:spPr>
          <a:xfrm>
            <a:off x="640207" y="1408684"/>
            <a:ext cx="118872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Summary</a:t>
            </a:r>
            <a:endParaRPr lang="en-US" sz="1050" dirty="0"/>
          </a:p>
        </p:txBody>
      </p:sp>
      <p:sp>
        <p:nvSpPr>
          <p:cNvPr id="6" name="Shape 4"/>
          <p:cNvSpPr/>
          <p:nvPr/>
        </p:nvSpPr>
        <p:spPr>
          <a:xfrm>
            <a:off x="640080" y="1645920"/>
            <a:ext cx="3611880" cy="1508760"/>
          </a:xfrm>
          <a:prstGeom prst="roundRect">
            <a:avLst>
              <a:gd name="adj" fmla="val 7273"/>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nvSpPr>
        <p:spPr>
          <a:xfrm>
            <a:off x="841248" y="1847088"/>
            <a:ext cx="3209544" cy="292608"/>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工作方向</a:t>
            </a:r>
            <a:endParaRPr lang="en-US" sz="1460" dirty="0"/>
          </a:p>
        </p:txBody>
      </p:sp>
      <p:sp>
        <p:nvSpPr>
          <p:cNvPr id="8" name="Shape 6"/>
          <p:cNvSpPr/>
          <p:nvPr/>
        </p:nvSpPr>
        <p:spPr>
          <a:xfrm>
            <a:off x="841248" y="2148840"/>
            <a:ext cx="164592" cy="36576"/>
          </a:xfrm>
          <a:prstGeom prst="rect">
            <a:avLst/>
          </a:prstGeom>
          <a:solidFill>
            <a:srgbClr val="C61F26"/>
          </a:solidFill>
          <a:ln w="12700">
            <a:solidFill>
              <a:srgbClr val="C61F26"/>
            </a:solidFill>
            <a:prstDash val="solid"/>
          </a:ln>
        </p:spPr>
      </p:sp>
      <p:sp>
        <p:nvSpPr>
          <p:cNvPr id="9" name="Text 7"/>
          <p:cNvSpPr/>
          <p:nvPr/>
        </p:nvSpPr>
        <p:spPr>
          <a:xfrm>
            <a:off x="799465" y="2256155"/>
            <a:ext cx="3423285" cy="795655"/>
          </a:xfrm>
          <a:prstGeom prst="rect">
            <a:avLst/>
          </a:prstGeom>
          <a:noFill/>
        </p:spPr>
        <p:txBody>
          <a:bodyPr wrap="square" lIns="0" tIns="0" rIns="0" bIns="0" rtlCol="0" anchor="t">
            <a:normAutofit fontScale="90000"/>
          </a:bodyPr>
          <a:lstStyle/>
          <a:p>
            <a:pPr marL="0" indent="0">
              <a:lnSpc>
                <a:spcPct val="150000"/>
              </a:lnSpc>
              <a:buNone/>
            </a:pPr>
            <a:r>
              <a:rPr lang="en-US" sz="1060" dirty="0">
                <a:solidFill>
                  <a:srgbClr val="4B4F56"/>
                </a:solidFill>
                <a:latin typeface="微软雅黑" panose="020B0503020204020204" charset="-122"/>
                <a:ea typeface="微软雅黑" panose="020B0503020204020204" charset="-122"/>
                <a:cs typeface="微软雅黑" panose="020B0503020204020204" pitchFamily="34" charset="-120"/>
              </a:rPr>
              <a:t>以 Odoo 作为业务与财务主数据/流程底座，以 FT Agent 组织 AI Agent、知识检索、工具调用与工作流编排，构建“可执行、可解释、可治理”的原生 AI 财务系统。</a:t>
            </a:r>
            <a:endParaRPr lang="en-US" sz="1060" dirty="0"/>
          </a:p>
        </p:txBody>
      </p:sp>
      <p:sp>
        <p:nvSpPr>
          <p:cNvPr id="10" name="Shape 8"/>
          <p:cNvSpPr/>
          <p:nvPr/>
        </p:nvSpPr>
        <p:spPr>
          <a:xfrm>
            <a:off x="4315968" y="1645920"/>
            <a:ext cx="3611880" cy="1508760"/>
          </a:xfrm>
          <a:prstGeom prst="roundRect">
            <a:avLst>
              <a:gd name="adj" fmla="val 7273"/>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nvSpPr>
        <p:spPr>
          <a:xfrm>
            <a:off x="4517136" y="1847088"/>
            <a:ext cx="3209544" cy="292608"/>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核心判断</a:t>
            </a:r>
            <a:endParaRPr lang="en-US" sz="1460" dirty="0"/>
          </a:p>
        </p:txBody>
      </p:sp>
      <p:sp>
        <p:nvSpPr>
          <p:cNvPr id="12" name="Shape 10"/>
          <p:cNvSpPr/>
          <p:nvPr/>
        </p:nvSpPr>
        <p:spPr>
          <a:xfrm>
            <a:off x="4517136" y="2148840"/>
            <a:ext cx="164592" cy="36576"/>
          </a:xfrm>
          <a:prstGeom prst="rect">
            <a:avLst/>
          </a:prstGeom>
          <a:solidFill>
            <a:srgbClr val="2F6BFF"/>
          </a:solidFill>
          <a:ln w="12700">
            <a:solidFill>
              <a:srgbClr val="2F6BFF"/>
            </a:solidFill>
            <a:prstDash val="solid"/>
          </a:ln>
        </p:spPr>
      </p:sp>
      <p:sp>
        <p:nvSpPr>
          <p:cNvPr id="13" name="Text 11"/>
          <p:cNvSpPr/>
          <p:nvPr/>
        </p:nvSpPr>
        <p:spPr>
          <a:xfrm>
            <a:off x="4502531" y="2256028"/>
            <a:ext cx="3209544" cy="630936"/>
          </a:xfrm>
          <a:prstGeom prst="rect">
            <a:avLst/>
          </a:prstGeom>
          <a:noFill/>
        </p:spPr>
        <p:txBody>
          <a:bodyPr wrap="square" lIns="0" tIns="0" rIns="0" bIns="0" rtlCol="0" anchor="t"/>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未来财务系统不应只是做凭证、报表和流程留痕，而要持续理</a:t>
            </a: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解业务、识别风险、自动协同，并直接为经营决策提供建议与动作闭环。</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nvSpPr>
        <p:spPr>
          <a:xfrm>
            <a:off x="7991856" y="1645920"/>
            <a:ext cx="3566160" cy="1508760"/>
          </a:xfrm>
          <a:prstGeom prst="roundRect">
            <a:avLst>
              <a:gd name="adj" fmla="val 7273"/>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nvSpPr>
        <p:spPr>
          <a:xfrm>
            <a:off x="8193024" y="1847088"/>
            <a:ext cx="3163824" cy="292608"/>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客户价值</a:t>
            </a:r>
            <a:endParaRPr lang="en-US" sz="1460" dirty="0"/>
          </a:p>
        </p:txBody>
      </p:sp>
      <p:sp>
        <p:nvSpPr>
          <p:cNvPr id="16" name="Shape 14"/>
          <p:cNvSpPr/>
          <p:nvPr/>
        </p:nvSpPr>
        <p:spPr>
          <a:xfrm>
            <a:off x="8193024" y="2148840"/>
            <a:ext cx="164592" cy="36576"/>
          </a:xfrm>
          <a:prstGeom prst="rect">
            <a:avLst/>
          </a:prstGeom>
          <a:solidFill>
            <a:srgbClr val="C61F26"/>
          </a:solidFill>
          <a:ln w="12700">
            <a:solidFill>
              <a:srgbClr val="C61F26"/>
            </a:solidFill>
            <a:prstDash val="solid"/>
          </a:ln>
        </p:spPr>
      </p:sp>
      <p:sp>
        <p:nvSpPr>
          <p:cNvPr id="17" name="Text 15"/>
          <p:cNvSpPr/>
          <p:nvPr/>
        </p:nvSpPr>
        <p:spPr>
          <a:xfrm>
            <a:off x="8193659" y="2256028"/>
            <a:ext cx="3163824" cy="630936"/>
          </a:xfrm>
          <a:prstGeom prst="rect">
            <a:avLst/>
          </a:prstGeom>
          <a:noFill/>
        </p:spPr>
        <p:txBody>
          <a:bodyPr wrap="square" lIns="0" tIns="0" rIns="0" bIns="0" rtlCol="0" anchor="t">
            <a:normAutofit fontScale="90000" lnSpcReduction="20000"/>
          </a:bodyPr>
          <a:lstStyle/>
          <a:p>
            <a:pPr marL="0" indent="0">
              <a:lnSpc>
                <a:spcPct val="150000"/>
              </a:lnSpc>
              <a:buNone/>
            </a:pPr>
            <a:r>
              <a:rPr lang="en-US" sz="1060" dirty="0">
                <a:solidFill>
                  <a:srgbClr val="4B4F56"/>
                </a:solidFill>
                <a:latin typeface="微软雅黑" panose="020B0503020204020204" charset="-122"/>
                <a:ea typeface="微软雅黑" panose="020B0503020204020204" charset="-122"/>
                <a:cs typeface="微软雅黑" panose="020B0503020204020204" pitchFamily="34" charset="-120"/>
              </a:rPr>
              <a:t>显著降低重复性财务作业成本，提高关账与分析效率，增强异常识别、经营预测与合规治理能力，让 CFO 团队从“做账”走向“经营驾驶舱”。</a:t>
            </a:r>
            <a:endParaRPr lang="en-US" sz="1060" dirty="0"/>
          </a:p>
        </p:txBody>
      </p:sp>
      <p:grpSp>
        <p:nvGrpSpPr>
          <p:cNvPr id="40" name="组合 39"/>
          <p:cNvGrpSpPr/>
          <p:nvPr/>
        </p:nvGrpSpPr>
        <p:grpSpPr>
          <a:xfrm>
            <a:off x="731520" y="3703320"/>
            <a:ext cx="10826750" cy="914400"/>
            <a:chOff x="1152" y="5832"/>
            <a:chExt cx="16128" cy="1440"/>
          </a:xfrm>
        </p:grpSpPr>
        <p:sp>
          <p:nvSpPr>
            <p:cNvPr id="18" name="Shape 16"/>
            <p:cNvSpPr/>
            <p:nvPr/>
          </p:nvSpPr>
          <p:spPr>
            <a:xfrm>
              <a:off x="1152" y="5832"/>
              <a:ext cx="3816" cy="1440"/>
            </a:xfrm>
            <a:prstGeom prst="roundRect">
              <a:avLst>
                <a:gd name="adj" fmla="val 12000"/>
              </a:avLst>
            </a:prstGeom>
            <a:solidFill>
              <a:srgbClr val="EAF1FF"/>
            </a:solidFill>
            <a:ln w="12700">
              <a:solidFill>
                <a:srgbClr val="E7E9ED"/>
              </a:solidFill>
              <a:prstDash val="solid"/>
            </a:ln>
          </p:spPr>
        </p:sp>
        <p:sp>
          <p:nvSpPr>
            <p:cNvPr id="19" name="Text 17"/>
            <p:cNvSpPr/>
            <p:nvPr/>
          </p:nvSpPr>
          <p:spPr>
            <a:xfrm>
              <a:off x="1152" y="6062"/>
              <a:ext cx="3816" cy="490"/>
            </a:xfrm>
            <a:prstGeom prst="rect">
              <a:avLst/>
            </a:prstGeom>
            <a:noFill/>
          </p:spPr>
          <p:txBody>
            <a:bodyPr wrap="square" lIns="0" tIns="0" rIns="0" bIns="0" rtlCol="0" anchor="ctr"/>
            <a:lstStyle/>
            <a:p>
              <a:pPr marL="0" indent="0" algn="ctr">
                <a:buNone/>
              </a:pPr>
              <a:r>
                <a:rPr lang="en-US" b="1" dirty="0">
                  <a:solidFill>
                    <a:srgbClr val="2F3440"/>
                  </a:solidFill>
                  <a:latin typeface="微软雅黑" panose="020B0503020204020204" charset="-122"/>
                  <a:ea typeface="微软雅黑" panose="020B0503020204020204" charset="-122"/>
                  <a:cs typeface="微软雅黑" panose="020B0503020204020204" pitchFamily="34" charset="-120"/>
                </a:rPr>
                <a:t>记录 → 理解</a:t>
              </a:r>
              <a:endParaRPr lang="en-US"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0" name="Text 18"/>
            <p:cNvSpPr/>
            <p:nvPr/>
          </p:nvSpPr>
          <p:spPr>
            <a:xfrm>
              <a:off x="1267" y="6629"/>
              <a:ext cx="3586"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系统角色升级</a:t>
              </a:r>
              <a:endParaRPr lang="en-US" sz="1020" dirty="0"/>
            </a:p>
          </p:txBody>
        </p:sp>
        <p:sp>
          <p:nvSpPr>
            <p:cNvPr id="21" name="Shape 19"/>
            <p:cNvSpPr/>
            <p:nvPr/>
          </p:nvSpPr>
          <p:spPr>
            <a:xfrm>
              <a:off x="5256" y="5832"/>
              <a:ext cx="3816" cy="1440"/>
            </a:xfrm>
            <a:prstGeom prst="roundRect">
              <a:avLst>
                <a:gd name="adj" fmla="val 12000"/>
              </a:avLst>
            </a:prstGeom>
            <a:solidFill>
              <a:srgbClr val="DFF6F4"/>
            </a:solidFill>
            <a:ln w="12700">
              <a:solidFill>
                <a:srgbClr val="E7E9ED"/>
              </a:solidFill>
              <a:prstDash val="solid"/>
            </a:ln>
          </p:spPr>
        </p:sp>
        <p:sp>
          <p:nvSpPr>
            <p:cNvPr id="22" name="Text 20"/>
            <p:cNvSpPr/>
            <p:nvPr/>
          </p:nvSpPr>
          <p:spPr>
            <a:xfrm>
              <a:off x="5256" y="6062"/>
              <a:ext cx="3816" cy="490"/>
            </a:xfrm>
            <a:prstGeom prst="rect">
              <a:avLst/>
            </a:prstGeom>
            <a:noFill/>
          </p:spPr>
          <p:txBody>
            <a:bodyPr wrap="square" lIns="0" tIns="0" rIns="0" bIns="0" rtlCol="0" anchor="ctr"/>
            <a:lstStyle/>
            <a:p>
              <a:pPr marL="0" indent="0" algn="ctr">
                <a:buNone/>
              </a:pPr>
              <a:r>
                <a:rPr lang="en-US" b="1" dirty="0">
                  <a:solidFill>
                    <a:srgbClr val="2F3440"/>
                  </a:solidFill>
                  <a:latin typeface="微软雅黑" panose="020B0503020204020204" charset="-122"/>
                  <a:ea typeface="微软雅黑" panose="020B0503020204020204" charset="-122"/>
                  <a:cs typeface="微软雅黑" panose="020B0503020204020204" pitchFamily="34" charset="-120"/>
                </a:rPr>
                <a:t>人驱动 →人机协同</a:t>
              </a:r>
              <a:endParaRPr lang="en-US"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3" name="Text 21"/>
            <p:cNvSpPr/>
            <p:nvPr/>
          </p:nvSpPr>
          <p:spPr>
            <a:xfrm>
              <a:off x="5371" y="6629"/>
              <a:ext cx="3586"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工作方式升级</a:t>
              </a:r>
              <a:endParaRPr lang="en-US" sz="1020" dirty="0"/>
            </a:p>
          </p:txBody>
        </p:sp>
        <p:sp>
          <p:nvSpPr>
            <p:cNvPr id="24" name="Shape 22"/>
            <p:cNvSpPr/>
            <p:nvPr/>
          </p:nvSpPr>
          <p:spPr>
            <a:xfrm>
              <a:off x="9360" y="5832"/>
              <a:ext cx="3816" cy="1440"/>
            </a:xfrm>
            <a:prstGeom prst="roundRect">
              <a:avLst>
                <a:gd name="adj" fmla="val 12000"/>
              </a:avLst>
            </a:prstGeom>
            <a:solidFill>
              <a:srgbClr val="FFF4D6"/>
            </a:solidFill>
            <a:ln w="12700">
              <a:solidFill>
                <a:srgbClr val="E7E9ED"/>
              </a:solidFill>
              <a:prstDash val="solid"/>
            </a:ln>
          </p:spPr>
        </p:sp>
        <p:sp>
          <p:nvSpPr>
            <p:cNvPr id="25" name="Text 23"/>
            <p:cNvSpPr/>
            <p:nvPr/>
          </p:nvSpPr>
          <p:spPr>
            <a:xfrm>
              <a:off x="9360" y="6062"/>
              <a:ext cx="3816" cy="490"/>
            </a:xfrm>
            <a:prstGeom prst="rect">
              <a:avLst/>
            </a:prstGeom>
            <a:noFill/>
          </p:spPr>
          <p:txBody>
            <a:bodyPr wrap="square" lIns="0" tIns="0" rIns="0" bIns="0" rtlCol="0" anchor="ctr"/>
            <a:lstStyle/>
            <a:p>
              <a:pPr marL="0" indent="0" algn="ctr">
                <a:buNone/>
              </a:pPr>
              <a:r>
                <a:rPr lang="en-US" b="1" dirty="0">
                  <a:solidFill>
                    <a:srgbClr val="2F3440"/>
                  </a:solidFill>
                  <a:latin typeface="微软雅黑" panose="020B0503020204020204" charset="-122"/>
                  <a:ea typeface="微软雅黑" panose="020B0503020204020204" charset="-122"/>
                  <a:cs typeface="微软雅黑" panose="020B0503020204020204" pitchFamily="34" charset="-120"/>
                </a:rPr>
                <a:t>事后报表 → 实时洞察</a:t>
              </a:r>
              <a:endParaRPr lang="en-US"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6" name="Text 24"/>
            <p:cNvSpPr/>
            <p:nvPr/>
          </p:nvSpPr>
          <p:spPr>
            <a:xfrm>
              <a:off x="9475" y="6629"/>
              <a:ext cx="3586"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管理模式升级</a:t>
              </a:r>
              <a:endParaRPr lang="en-US" sz="1020" dirty="0"/>
            </a:p>
          </p:txBody>
        </p:sp>
        <p:sp>
          <p:nvSpPr>
            <p:cNvPr id="27" name="Shape 25"/>
            <p:cNvSpPr/>
            <p:nvPr/>
          </p:nvSpPr>
          <p:spPr>
            <a:xfrm>
              <a:off x="13464" y="5832"/>
              <a:ext cx="3816" cy="1440"/>
            </a:xfrm>
            <a:prstGeom prst="roundRect">
              <a:avLst>
                <a:gd name="adj" fmla="val 12000"/>
              </a:avLst>
            </a:prstGeom>
            <a:solidFill>
              <a:srgbClr val="FFE5D9"/>
            </a:solidFill>
            <a:ln w="12700">
              <a:solidFill>
                <a:srgbClr val="E7E9ED"/>
              </a:solidFill>
              <a:prstDash val="solid"/>
            </a:ln>
          </p:spPr>
        </p:sp>
        <p:sp>
          <p:nvSpPr>
            <p:cNvPr id="28" name="Text 26"/>
            <p:cNvSpPr/>
            <p:nvPr/>
          </p:nvSpPr>
          <p:spPr>
            <a:xfrm>
              <a:off x="13464" y="6062"/>
              <a:ext cx="3816" cy="490"/>
            </a:xfrm>
            <a:prstGeom prst="rect">
              <a:avLst/>
            </a:prstGeom>
            <a:noFill/>
          </p:spPr>
          <p:txBody>
            <a:bodyPr wrap="square" lIns="0" tIns="0" rIns="0" bIns="0" rtlCol="0" anchor="ctr"/>
            <a:lstStyle/>
            <a:p>
              <a:pPr marL="0" indent="0" algn="ctr">
                <a:buNone/>
              </a:pPr>
              <a:r>
                <a:rPr lang="en-US" b="1" dirty="0">
                  <a:solidFill>
                    <a:srgbClr val="2F3440"/>
                  </a:solidFill>
                  <a:latin typeface="微软雅黑" panose="020B0503020204020204" charset="-122"/>
                  <a:ea typeface="微软雅黑" panose="020B0503020204020204" charset="-122"/>
                  <a:cs typeface="微软雅黑" panose="020B0503020204020204" pitchFamily="34" charset="-120"/>
                </a:rPr>
                <a:t>单点自动化 → 闭环自治</a:t>
              </a:r>
              <a:endParaRPr lang="en-US"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9" name="Text 27"/>
            <p:cNvSpPr/>
            <p:nvPr/>
          </p:nvSpPr>
          <p:spPr>
            <a:xfrm>
              <a:off x="13579" y="6629"/>
              <a:ext cx="3586"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能力边界升级</a:t>
              </a:r>
              <a:endParaRPr lang="en-US" sz="1020" dirty="0"/>
            </a:p>
          </p:txBody>
        </p:sp>
      </p:grpSp>
      <p:grpSp>
        <p:nvGrpSpPr>
          <p:cNvPr id="39" name="组合 38"/>
          <p:cNvGrpSpPr/>
          <p:nvPr/>
        </p:nvGrpSpPr>
        <p:grpSpPr>
          <a:xfrm>
            <a:off x="822960" y="5344160"/>
            <a:ext cx="10735310" cy="511810"/>
            <a:chOff x="1296" y="8568"/>
            <a:chExt cx="16258" cy="806"/>
          </a:xfrm>
        </p:grpSpPr>
        <p:sp>
          <p:nvSpPr>
            <p:cNvPr id="30" name="Shape 28"/>
            <p:cNvSpPr/>
            <p:nvPr/>
          </p:nvSpPr>
          <p:spPr>
            <a:xfrm>
              <a:off x="1296" y="8568"/>
              <a:ext cx="3384" cy="806"/>
            </a:xfrm>
            <a:prstGeom prst="chevron">
              <a:avLst/>
            </a:prstGeom>
            <a:solidFill>
              <a:srgbClr val="FFF4F4"/>
            </a:solidFill>
            <a:ln w="12700">
              <a:solidFill>
                <a:srgbClr val="E7E9ED"/>
              </a:solidFill>
              <a:prstDash val="solid"/>
            </a:ln>
          </p:spPr>
        </p:sp>
        <p:sp>
          <p:nvSpPr>
            <p:cNvPr id="31" name="Text 29"/>
            <p:cNvSpPr/>
            <p:nvPr/>
          </p:nvSpPr>
          <p:spPr>
            <a:xfrm>
              <a:off x="1469" y="8798"/>
              <a:ext cx="3096" cy="288"/>
            </a:xfrm>
            <a:prstGeom prst="rect">
              <a:avLst/>
            </a:prstGeom>
            <a:noFill/>
          </p:spPr>
          <p:txBody>
            <a:bodyPr wrap="square" lIns="0" tIns="0" rIns="0" bIns="0" rtlCol="0" anchor="ctr"/>
            <a:lstStyle/>
            <a:p>
              <a:pPr marL="0" indent="0" algn="ctr">
                <a:buNone/>
              </a:pPr>
              <a:r>
                <a:rPr lang="en-US" sz="1200" b="1" dirty="0">
                  <a:solidFill>
                    <a:srgbClr val="2F3440"/>
                  </a:solidFill>
                  <a:latin typeface="微软雅黑" panose="020B0503020204020204" charset="-122"/>
                  <a:ea typeface="微软雅黑" panose="020B0503020204020204" charset="-122"/>
                  <a:cs typeface="微软雅黑" panose="020B0503020204020204" pitchFamily="34" charset="-120"/>
                </a:rPr>
                <a:t>1. 业务事件进入系统</a:t>
              </a:r>
              <a:endParaRPr lang="en-US" sz="12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32" name="Shape 30"/>
            <p:cNvSpPr/>
            <p:nvPr/>
          </p:nvSpPr>
          <p:spPr>
            <a:xfrm>
              <a:off x="5587" y="8568"/>
              <a:ext cx="3384" cy="806"/>
            </a:xfrm>
            <a:prstGeom prst="chevron">
              <a:avLst/>
            </a:prstGeom>
            <a:solidFill>
              <a:srgbClr val="F7F8FA"/>
            </a:solidFill>
            <a:ln w="12700">
              <a:solidFill>
                <a:srgbClr val="E7E9ED"/>
              </a:solidFill>
              <a:prstDash val="solid"/>
            </a:ln>
          </p:spPr>
        </p:sp>
        <p:sp>
          <p:nvSpPr>
            <p:cNvPr id="33" name="Text 31"/>
            <p:cNvSpPr/>
            <p:nvPr/>
          </p:nvSpPr>
          <p:spPr>
            <a:xfrm>
              <a:off x="5760" y="8798"/>
              <a:ext cx="3096" cy="288"/>
            </a:xfrm>
            <a:prstGeom prst="rect">
              <a:avLst/>
            </a:prstGeom>
            <a:noFill/>
          </p:spPr>
          <p:txBody>
            <a:bodyPr wrap="square" lIns="0" tIns="0" rIns="0" bIns="0" rtlCol="0" anchor="ctr"/>
            <a:lstStyle/>
            <a:p>
              <a:pPr marL="0" indent="0" algn="ctr">
                <a:buNone/>
              </a:pPr>
              <a:r>
                <a:rPr lang="en-US" sz="1200" b="1" dirty="0">
                  <a:solidFill>
                    <a:srgbClr val="2F3440"/>
                  </a:solidFill>
                  <a:latin typeface="微软雅黑" panose="020B0503020204020204" charset="-122"/>
                  <a:ea typeface="微软雅黑" panose="020B0503020204020204" charset="-122"/>
                  <a:cs typeface="微软雅黑" panose="020B0503020204020204" pitchFamily="34" charset="-120"/>
                </a:rPr>
                <a:t>2. AI 理解 + 规则校验</a:t>
              </a:r>
              <a:endParaRPr lang="en-US" sz="12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34" name="Shape 32"/>
            <p:cNvSpPr/>
            <p:nvPr/>
          </p:nvSpPr>
          <p:spPr>
            <a:xfrm>
              <a:off x="9878" y="8568"/>
              <a:ext cx="3384" cy="806"/>
            </a:xfrm>
            <a:prstGeom prst="chevron">
              <a:avLst/>
            </a:prstGeom>
            <a:solidFill>
              <a:srgbClr val="FFF4F4"/>
            </a:solidFill>
            <a:ln w="12700">
              <a:solidFill>
                <a:srgbClr val="E7E9ED"/>
              </a:solidFill>
              <a:prstDash val="solid"/>
            </a:ln>
          </p:spPr>
        </p:sp>
        <p:sp>
          <p:nvSpPr>
            <p:cNvPr id="35" name="Text 33"/>
            <p:cNvSpPr/>
            <p:nvPr/>
          </p:nvSpPr>
          <p:spPr>
            <a:xfrm>
              <a:off x="10051" y="8798"/>
              <a:ext cx="3096" cy="288"/>
            </a:xfrm>
            <a:prstGeom prst="rect">
              <a:avLst/>
            </a:prstGeom>
            <a:noFill/>
          </p:spPr>
          <p:txBody>
            <a:bodyPr wrap="square" lIns="0" tIns="0" rIns="0" bIns="0" rtlCol="0" anchor="ctr"/>
            <a:lstStyle/>
            <a:p>
              <a:pPr marL="0" indent="0" algn="ctr">
                <a:buNone/>
              </a:pPr>
              <a:r>
                <a:rPr lang="en-US" sz="1200" b="1" dirty="0">
                  <a:solidFill>
                    <a:srgbClr val="2F3440"/>
                  </a:solidFill>
                  <a:latin typeface="微软雅黑" panose="020B0503020204020204" charset="-122"/>
                  <a:ea typeface="微软雅黑" panose="020B0503020204020204" charset="-122"/>
                  <a:cs typeface="微软雅黑" panose="020B0503020204020204" pitchFamily="34" charset="-120"/>
                </a:rPr>
                <a:t>3. 自动生成建议/动作</a:t>
              </a:r>
              <a:endParaRPr lang="en-US" sz="12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36" name="Shape 34"/>
            <p:cNvSpPr/>
            <p:nvPr/>
          </p:nvSpPr>
          <p:spPr>
            <a:xfrm>
              <a:off x="14170" y="8568"/>
              <a:ext cx="3384" cy="806"/>
            </a:xfrm>
            <a:prstGeom prst="chevron">
              <a:avLst/>
            </a:prstGeom>
            <a:solidFill>
              <a:srgbClr val="F7F8FA"/>
            </a:solidFill>
            <a:ln w="12700">
              <a:solidFill>
                <a:srgbClr val="E7E9ED"/>
              </a:solidFill>
              <a:prstDash val="solid"/>
            </a:ln>
          </p:spPr>
        </p:sp>
        <p:sp>
          <p:nvSpPr>
            <p:cNvPr id="37" name="Text 35"/>
            <p:cNvSpPr/>
            <p:nvPr/>
          </p:nvSpPr>
          <p:spPr>
            <a:xfrm>
              <a:off x="14342" y="8798"/>
              <a:ext cx="3096" cy="288"/>
            </a:xfrm>
            <a:prstGeom prst="rect">
              <a:avLst/>
            </a:prstGeom>
            <a:noFill/>
          </p:spPr>
          <p:txBody>
            <a:bodyPr wrap="square" lIns="0" tIns="0" rIns="0" bIns="0" rtlCol="0" anchor="ctr"/>
            <a:lstStyle/>
            <a:p>
              <a:pPr marL="0" indent="0" algn="ctr">
                <a:buNone/>
              </a:pPr>
              <a:r>
                <a:rPr lang="en-US" sz="1200" b="1" dirty="0">
                  <a:solidFill>
                    <a:srgbClr val="2F3440"/>
                  </a:solidFill>
                  <a:latin typeface="微软雅黑" panose="020B0503020204020204" charset="-122"/>
                  <a:ea typeface="微软雅黑" panose="020B0503020204020204" charset="-122"/>
                  <a:cs typeface="微软雅黑" panose="020B0503020204020204" pitchFamily="34" charset="-120"/>
                </a:rPr>
                <a:t>4. 人机协同闭环</a:t>
              </a:r>
              <a:endParaRPr lang="en-US" sz="12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grpSp>
      <p:sp>
        <p:nvSpPr>
          <p:cNvPr id="38"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1. 为什么财务系统也必须进行 AI 改革</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外部环境已变：经营节奏更快、数据更多、合规要求更高，传统系统模式不再够用</a:t>
            </a:r>
            <a:endParaRPr lang="en-US" sz="1000" dirty="0"/>
          </a:p>
        </p:txBody>
      </p:sp>
      <p:sp>
        <p:nvSpPr>
          <p:cNvPr id="5" name="Text 3"/>
          <p:cNvSpPr/>
          <p:nvPr/>
        </p:nvSpPr>
        <p:spPr>
          <a:xfrm>
            <a:off x="621792" y="1335024"/>
            <a:ext cx="118872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Why Now</a:t>
            </a:r>
            <a:endParaRPr lang="en-US" sz="1050" dirty="0"/>
          </a:p>
        </p:txBody>
      </p:sp>
      <p:grpSp>
        <p:nvGrpSpPr>
          <p:cNvPr id="37" name="组合 36"/>
          <p:cNvGrpSpPr/>
          <p:nvPr/>
        </p:nvGrpSpPr>
        <p:grpSpPr>
          <a:xfrm>
            <a:off x="658495" y="1685925"/>
            <a:ext cx="10872089" cy="1468755"/>
            <a:chOff x="1037" y="2655"/>
            <a:chExt cx="17121" cy="2313"/>
          </a:xfrm>
        </p:grpSpPr>
        <p:sp>
          <p:nvSpPr>
            <p:cNvPr id="6" name="Shape 4"/>
            <p:cNvSpPr/>
            <p:nvPr/>
          </p:nvSpPr>
          <p:spPr>
            <a:xfrm>
              <a:off x="1037" y="2655"/>
              <a:ext cx="4176" cy="2304"/>
            </a:xfrm>
            <a:prstGeom prst="roundRect">
              <a:avLst>
                <a:gd name="adj" fmla="val 75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nvSpPr>
          <p:spPr>
            <a:xfrm>
              <a:off x="1268" y="2943"/>
              <a:ext cx="3542" cy="461"/>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数据爆炸</a:t>
              </a:r>
              <a:endParaRPr lang="en-US" sz="1460" dirty="0"/>
            </a:p>
          </p:txBody>
        </p:sp>
        <p:sp>
          <p:nvSpPr>
            <p:cNvPr id="8" name="Shape 6"/>
            <p:cNvSpPr/>
            <p:nvPr/>
          </p:nvSpPr>
          <p:spPr>
            <a:xfrm>
              <a:off x="1325" y="3456"/>
              <a:ext cx="259" cy="58"/>
            </a:xfrm>
            <a:prstGeom prst="rect">
              <a:avLst/>
            </a:prstGeom>
            <a:solidFill>
              <a:srgbClr val="C61F26"/>
            </a:solidFill>
            <a:ln w="12700">
              <a:solidFill>
                <a:srgbClr val="C61F26"/>
              </a:solidFill>
              <a:prstDash val="solid"/>
            </a:ln>
          </p:spPr>
        </p:sp>
        <p:sp>
          <p:nvSpPr>
            <p:cNvPr id="9" name="Text 7"/>
            <p:cNvSpPr/>
            <p:nvPr/>
          </p:nvSpPr>
          <p:spPr>
            <a:xfrm>
              <a:off x="1268" y="3566"/>
              <a:ext cx="3838" cy="1249"/>
            </a:xfrm>
            <a:prstGeom prst="rect">
              <a:avLst/>
            </a:prstGeom>
            <a:noFill/>
          </p:spPr>
          <p:txBody>
            <a:bodyPr wrap="square" lIns="0" tIns="0" rIns="0" bIns="0" rtlCol="0" anchor="t">
              <a:noAutofit/>
            </a:bodyPr>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财务数据已不再局限于总账和单据，而是来自订单、采购、费控、合同、发票、银行流水、邮件、附件、政策文档等多模态来源。</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nvSpPr>
          <p:spPr>
            <a:xfrm>
              <a:off x="5501" y="2664"/>
              <a:ext cx="4176" cy="2304"/>
            </a:xfrm>
            <a:prstGeom prst="roundRect">
              <a:avLst>
                <a:gd name="adj" fmla="val 75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nvSpPr>
          <p:spPr>
            <a:xfrm>
              <a:off x="5756" y="2943"/>
              <a:ext cx="3542"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经营节奏加快</a:t>
              </a:r>
              <a:endParaRPr lang="en-US" sz="1460" dirty="0"/>
            </a:p>
          </p:txBody>
        </p:sp>
        <p:sp>
          <p:nvSpPr>
            <p:cNvPr id="12" name="Shape 10"/>
            <p:cNvSpPr/>
            <p:nvPr/>
          </p:nvSpPr>
          <p:spPr>
            <a:xfrm>
              <a:off x="5818" y="3456"/>
              <a:ext cx="259" cy="58"/>
            </a:xfrm>
            <a:prstGeom prst="rect">
              <a:avLst/>
            </a:prstGeom>
            <a:solidFill>
              <a:srgbClr val="2F6BFF"/>
            </a:solidFill>
            <a:ln w="12700">
              <a:solidFill>
                <a:srgbClr val="2F6BFF"/>
              </a:solidFill>
              <a:prstDash val="solid"/>
            </a:ln>
          </p:spPr>
        </p:sp>
        <p:sp>
          <p:nvSpPr>
            <p:cNvPr id="13" name="Text 11"/>
            <p:cNvSpPr/>
            <p:nvPr/>
          </p:nvSpPr>
          <p:spPr>
            <a:xfrm>
              <a:off x="5818" y="3566"/>
              <a:ext cx="3701" cy="1219"/>
            </a:xfrm>
            <a:prstGeom prst="rect">
              <a:avLst/>
            </a:prstGeom>
            <a:noFill/>
          </p:spPr>
          <p:txBody>
            <a:bodyPr wrap="square" lIns="0" tIns="0" rIns="0" bIns="0" rtlCol="0" anchor="t">
              <a:normAutofit/>
            </a:bodyPr>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企业需要更短周期的结账、分析、预测和预警，月度报表已无法满足实时经营管理的决策速度。</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nvSpPr>
          <p:spPr>
            <a:xfrm>
              <a:off x="9994" y="2664"/>
              <a:ext cx="4176" cy="2304"/>
            </a:xfrm>
            <a:prstGeom prst="roundRect">
              <a:avLst>
                <a:gd name="adj" fmla="val 75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nvSpPr>
          <p:spPr>
            <a:xfrm>
              <a:off x="10244" y="2943"/>
              <a:ext cx="3542"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合规与审计压力</a:t>
              </a:r>
              <a:endParaRPr lang="en-US" sz="1460" dirty="0"/>
            </a:p>
          </p:txBody>
        </p:sp>
        <p:sp>
          <p:nvSpPr>
            <p:cNvPr id="16" name="Shape 14"/>
            <p:cNvSpPr/>
            <p:nvPr/>
          </p:nvSpPr>
          <p:spPr>
            <a:xfrm>
              <a:off x="10310" y="3456"/>
              <a:ext cx="259" cy="58"/>
            </a:xfrm>
            <a:prstGeom prst="rect">
              <a:avLst/>
            </a:prstGeom>
            <a:solidFill>
              <a:srgbClr val="C61F26"/>
            </a:solidFill>
            <a:ln w="12700">
              <a:solidFill>
                <a:srgbClr val="C61F26"/>
              </a:solidFill>
              <a:prstDash val="solid"/>
            </a:ln>
          </p:spPr>
        </p:sp>
        <p:sp>
          <p:nvSpPr>
            <p:cNvPr id="17" name="Text 15"/>
            <p:cNvSpPr/>
            <p:nvPr/>
          </p:nvSpPr>
          <p:spPr>
            <a:xfrm>
              <a:off x="10310" y="3566"/>
              <a:ext cx="3542" cy="1205"/>
            </a:xfrm>
            <a:prstGeom prst="rect">
              <a:avLst/>
            </a:prstGeom>
            <a:noFill/>
          </p:spPr>
          <p:txBody>
            <a:bodyPr wrap="square" lIns="0" tIns="0" rIns="0" bIns="0" rtlCol="0" anchor="t"/>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税务、内控、审计与数据监管要求持续增加，仅靠人工抽样与事后检查，无法覆盖全部交易与过程风险。</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nvSpPr>
          <p:spPr>
            <a:xfrm>
              <a:off x="14486" y="2664"/>
              <a:ext cx="3672" cy="2304"/>
            </a:xfrm>
            <a:prstGeom prst="roundRect">
              <a:avLst>
                <a:gd name="adj" fmla="val 75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9" name="Text 17"/>
            <p:cNvSpPr/>
            <p:nvPr/>
          </p:nvSpPr>
          <p:spPr>
            <a:xfrm>
              <a:off x="14732" y="2943"/>
              <a:ext cx="3038"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组织协同复杂化</a:t>
              </a:r>
              <a:endParaRPr lang="en-US" sz="1460" dirty="0"/>
            </a:p>
          </p:txBody>
        </p:sp>
        <p:sp>
          <p:nvSpPr>
            <p:cNvPr id="20" name="Shape 18"/>
            <p:cNvSpPr/>
            <p:nvPr/>
          </p:nvSpPr>
          <p:spPr>
            <a:xfrm>
              <a:off x="14803" y="3456"/>
              <a:ext cx="259" cy="58"/>
            </a:xfrm>
            <a:prstGeom prst="rect">
              <a:avLst/>
            </a:prstGeom>
            <a:solidFill>
              <a:srgbClr val="E25A3B"/>
            </a:solidFill>
            <a:ln w="12700">
              <a:solidFill>
                <a:srgbClr val="E25A3B"/>
              </a:solidFill>
              <a:prstDash val="solid"/>
            </a:ln>
          </p:spPr>
        </p:sp>
        <p:sp>
          <p:nvSpPr>
            <p:cNvPr id="21" name="Text 19"/>
            <p:cNvSpPr/>
            <p:nvPr/>
          </p:nvSpPr>
          <p:spPr>
            <a:xfrm>
              <a:off x="14732" y="3538"/>
              <a:ext cx="3269" cy="1292"/>
            </a:xfrm>
            <a:prstGeom prst="rect">
              <a:avLst/>
            </a:prstGeom>
            <a:noFill/>
          </p:spPr>
          <p:txBody>
            <a:bodyPr wrap="square" lIns="0" tIns="0" rIns="0" bIns="0" rtlCol="0" anchor="t">
              <a:normAutofit/>
            </a:bodyPr>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财务已深度参与业务、供应链、人力、法务与管理层协同，需要系统直接支持跨部门理解与执行</a:t>
              </a:r>
              <a:r>
                <a:rPr lang="en-US" sz="1060" dirty="0">
                  <a:solidFill>
                    <a:srgbClr val="4B4F56"/>
                  </a:solidFill>
                  <a:latin typeface="微软雅黑" panose="020B0503020204020204" charset="-122"/>
                  <a:ea typeface="微软雅黑" panose="020B0503020204020204" charset="-122"/>
                  <a:cs typeface="微软雅黑" panose="020B0503020204020204" pitchFamily="34" charset="-120"/>
                </a:rPr>
                <a:t>。</a:t>
              </a:r>
              <a:endParaRPr lang="en-US" sz="1060" dirty="0"/>
            </a:p>
          </p:txBody>
        </p:sp>
      </p:grpSp>
      <p:sp>
        <p:nvSpPr>
          <p:cNvPr id="22" name="Shape 20"/>
          <p:cNvSpPr/>
          <p:nvPr/>
        </p:nvSpPr>
        <p:spPr>
          <a:xfrm>
            <a:off x="658495" y="3536315"/>
            <a:ext cx="10888345" cy="2192655"/>
          </a:xfrm>
          <a:prstGeom prst="roundRect">
            <a:avLst>
              <a:gd name="adj" fmla="val 3636"/>
            </a:avLst>
          </a:prstGeom>
          <a:solidFill>
            <a:srgbClr val="FDFEFE"/>
          </a:solidFill>
          <a:ln w="12700">
            <a:solidFill>
              <a:srgbClr val="E7E9ED"/>
            </a:solidFill>
            <a:prstDash val="solid"/>
          </a:ln>
        </p:spPr>
        <p:txBody>
          <a:bodyPr/>
          <a:p>
            <a:endParaRPr lang="zh-CN" altLang="en-US"/>
          </a:p>
        </p:txBody>
      </p:sp>
      <p:sp>
        <p:nvSpPr>
          <p:cNvPr id="23" name="Text 21"/>
          <p:cNvSpPr/>
          <p:nvPr/>
        </p:nvSpPr>
        <p:spPr>
          <a:xfrm>
            <a:off x="805180" y="3813810"/>
            <a:ext cx="10625455" cy="365760"/>
          </a:xfrm>
          <a:prstGeom prst="rect">
            <a:avLst/>
          </a:prstGeom>
          <a:noFill/>
        </p:spPr>
        <p:txBody>
          <a:bodyPr wrap="square" lIns="0" tIns="0" rIns="0" bIns="0" rtlCol="0" anchor="ctr"/>
          <a:lstStyle/>
          <a:p>
            <a:pPr marL="0" indent="0" algn="ctr">
              <a:buNone/>
            </a:pPr>
            <a:r>
              <a:rPr lang="en-US" sz="1800" b="1" dirty="0">
                <a:solidFill>
                  <a:srgbClr val="2F3440"/>
                </a:solidFill>
                <a:latin typeface="微软雅黑" panose="020B0503020204020204" charset="-122"/>
                <a:ea typeface="微软雅黑" panose="020B0503020204020204" charset="-122"/>
                <a:cs typeface="微软雅黑" panose="020B0503020204020204" pitchFamily="34" charset="-120"/>
              </a:rPr>
              <a:t>本质变化：企业不再缺“系统”，而是缺“能读懂业务、理解上下文、持续给出动作建议”的财务能力层</a:t>
            </a:r>
            <a:endParaRPr lang="en-US" sz="1800" dirty="0"/>
          </a:p>
        </p:txBody>
      </p:sp>
      <p:grpSp>
        <p:nvGrpSpPr>
          <p:cNvPr id="38" name="组合 37"/>
          <p:cNvGrpSpPr/>
          <p:nvPr/>
        </p:nvGrpSpPr>
        <p:grpSpPr>
          <a:xfrm>
            <a:off x="1051560" y="4434840"/>
            <a:ext cx="10232390" cy="989330"/>
            <a:chOff x="1656" y="6984"/>
            <a:chExt cx="14976" cy="1368"/>
          </a:xfrm>
        </p:grpSpPr>
        <p:sp>
          <p:nvSpPr>
            <p:cNvPr id="24" name="Shape 22"/>
            <p:cNvSpPr/>
            <p:nvPr/>
          </p:nvSpPr>
          <p:spPr>
            <a:xfrm>
              <a:off x="1656" y="6984"/>
              <a:ext cx="3312" cy="1368"/>
            </a:xfrm>
            <a:prstGeom prst="roundRect">
              <a:avLst>
                <a:gd name="adj" fmla="val 12632"/>
              </a:avLst>
            </a:prstGeom>
            <a:solidFill>
              <a:srgbClr val="EAF1FF"/>
            </a:solidFill>
            <a:ln w="12700">
              <a:solidFill>
                <a:srgbClr val="E7E9ED"/>
              </a:solidFill>
              <a:prstDash val="solid"/>
            </a:ln>
          </p:spPr>
        </p:sp>
        <p:sp>
          <p:nvSpPr>
            <p:cNvPr id="25" name="Text 23"/>
            <p:cNvSpPr/>
            <p:nvPr/>
          </p:nvSpPr>
          <p:spPr>
            <a:xfrm>
              <a:off x="1656" y="7128"/>
              <a:ext cx="3312"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多模态</a:t>
              </a:r>
              <a:endParaRPr lang="en-US" sz="2000" dirty="0"/>
            </a:p>
          </p:txBody>
        </p:sp>
        <p:sp>
          <p:nvSpPr>
            <p:cNvPr id="26" name="Text 24"/>
            <p:cNvSpPr/>
            <p:nvPr/>
          </p:nvSpPr>
          <p:spPr>
            <a:xfrm>
              <a:off x="1771" y="7704"/>
              <a:ext cx="3082"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数据形态从结构化走向非结构化</a:t>
              </a:r>
              <a:endParaRPr lang="en-US" sz="1020" dirty="0"/>
            </a:p>
          </p:txBody>
        </p:sp>
        <p:sp>
          <p:nvSpPr>
            <p:cNvPr id="27" name="Shape 25"/>
            <p:cNvSpPr/>
            <p:nvPr/>
          </p:nvSpPr>
          <p:spPr>
            <a:xfrm>
              <a:off x="5544" y="6984"/>
              <a:ext cx="3312" cy="1368"/>
            </a:xfrm>
            <a:prstGeom prst="roundRect">
              <a:avLst>
                <a:gd name="adj" fmla="val 12632"/>
              </a:avLst>
            </a:prstGeom>
            <a:solidFill>
              <a:srgbClr val="DFF6F4"/>
            </a:solidFill>
            <a:ln w="12700">
              <a:solidFill>
                <a:srgbClr val="E7E9ED"/>
              </a:solidFill>
              <a:prstDash val="solid"/>
            </a:ln>
          </p:spPr>
        </p:sp>
        <p:sp>
          <p:nvSpPr>
            <p:cNvPr id="28" name="Text 26"/>
            <p:cNvSpPr/>
            <p:nvPr/>
          </p:nvSpPr>
          <p:spPr>
            <a:xfrm>
              <a:off x="5544" y="7128"/>
              <a:ext cx="3312"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实时化</a:t>
              </a:r>
              <a:endParaRPr lang="en-US" sz="2000" dirty="0"/>
            </a:p>
          </p:txBody>
        </p:sp>
        <p:sp>
          <p:nvSpPr>
            <p:cNvPr id="29" name="Text 27"/>
            <p:cNvSpPr/>
            <p:nvPr/>
          </p:nvSpPr>
          <p:spPr>
            <a:xfrm>
              <a:off x="5659" y="7704"/>
              <a:ext cx="3082"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管理要求从月结走向连续监控</a:t>
              </a:r>
              <a:endParaRPr lang="en-US" sz="1020" dirty="0"/>
            </a:p>
          </p:txBody>
        </p:sp>
        <p:sp>
          <p:nvSpPr>
            <p:cNvPr id="30" name="Shape 28"/>
            <p:cNvSpPr/>
            <p:nvPr/>
          </p:nvSpPr>
          <p:spPr>
            <a:xfrm>
              <a:off x="9432" y="6984"/>
              <a:ext cx="3312" cy="1368"/>
            </a:xfrm>
            <a:prstGeom prst="roundRect">
              <a:avLst>
                <a:gd name="adj" fmla="val 12632"/>
              </a:avLst>
            </a:prstGeom>
            <a:solidFill>
              <a:srgbClr val="FFF4D6"/>
            </a:solidFill>
            <a:ln w="12700">
              <a:solidFill>
                <a:srgbClr val="E7E9ED"/>
              </a:solidFill>
              <a:prstDash val="solid"/>
            </a:ln>
          </p:spPr>
        </p:sp>
        <p:sp>
          <p:nvSpPr>
            <p:cNvPr id="31" name="Text 29"/>
            <p:cNvSpPr/>
            <p:nvPr/>
          </p:nvSpPr>
          <p:spPr>
            <a:xfrm>
              <a:off x="9432" y="7128"/>
              <a:ext cx="3312"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智能化</a:t>
              </a:r>
              <a:endParaRPr lang="en-US" sz="2000" dirty="0"/>
            </a:p>
          </p:txBody>
        </p:sp>
        <p:sp>
          <p:nvSpPr>
            <p:cNvPr id="32" name="Text 30"/>
            <p:cNvSpPr/>
            <p:nvPr/>
          </p:nvSpPr>
          <p:spPr>
            <a:xfrm>
              <a:off x="9547" y="7704"/>
              <a:ext cx="3082"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系统角色从记录走向判断</a:t>
              </a:r>
              <a:endParaRPr lang="en-US" sz="1020" dirty="0"/>
            </a:p>
          </p:txBody>
        </p:sp>
        <p:sp>
          <p:nvSpPr>
            <p:cNvPr id="33" name="Shape 31"/>
            <p:cNvSpPr/>
            <p:nvPr/>
          </p:nvSpPr>
          <p:spPr>
            <a:xfrm>
              <a:off x="13320" y="6984"/>
              <a:ext cx="3312" cy="1368"/>
            </a:xfrm>
            <a:prstGeom prst="roundRect">
              <a:avLst>
                <a:gd name="adj" fmla="val 12632"/>
              </a:avLst>
            </a:prstGeom>
            <a:solidFill>
              <a:srgbClr val="FFE5D9"/>
            </a:solidFill>
            <a:ln w="12700">
              <a:solidFill>
                <a:srgbClr val="E7E9ED"/>
              </a:solidFill>
              <a:prstDash val="solid"/>
            </a:ln>
          </p:spPr>
        </p:sp>
        <p:sp>
          <p:nvSpPr>
            <p:cNvPr id="34" name="Text 32"/>
            <p:cNvSpPr/>
            <p:nvPr/>
          </p:nvSpPr>
          <p:spPr>
            <a:xfrm>
              <a:off x="13320" y="7128"/>
              <a:ext cx="3312"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闭环化</a:t>
              </a:r>
              <a:endParaRPr lang="en-US" sz="2000" dirty="0"/>
            </a:p>
          </p:txBody>
        </p:sp>
        <p:sp>
          <p:nvSpPr>
            <p:cNvPr id="35" name="Text 33"/>
            <p:cNvSpPr/>
            <p:nvPr/>
          </p:nvSpPr>
          <p:spPr>
            <a:xfrm>
              <a:off x="13435" y="7704"/>
              <a:ext cx="3082"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输出从报表走向建议与执行</a:t>
              </a:r>
              <a:endParaRPr lang="en-US" sz="1020" dirty="0"/>
            </a:p>
          </p:txBody>
        </p:sp>
      </p:grpSp>
      <p:sp>
        <p:nvSpPr>
          <p:cNvPr id="36"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传统财务系统的主要瓶颈</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传统 ERP / 财务软件更多是“流程容器”，并非“认知型工作系统”</a:t>
            </a:r>
            <a:endParaRPr lang="en-US" sz="1000" dirty="0"/>
          </a:p>
        </p:txBody>
      </p:sp>
      <p:sp>
        <p:nvSpPr>
          <p:cNvPr id="5" name="Text 3"/>
          <p:cNvSpPr/>
          <p:nvPr/>
        </p:nvSpPr>
        <p:spPr>
          <a:xfrm>
            <a:off x="621792" y="1253617"/>
            <a:ext cx="141732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Pain Points</a:t>
            </a:r>
            <a:endParaRPr lang="en-US" sz="1050" dirty="0"/>
          </a:p>
        </p:txBody>
      </p:sp>
      <p:grpSp>
        <p:nvGrpSpPr>
          <p:cNvPr id="29" name="组合 28"/>
          <p:cNvGrpSpPr/>
          <p:nvPr>
            <p:custDataLst>
              <p:tags r:id="rId1"/>
            </p:custDataLst>
          </p:nvPr>
        </p:nvGrpSpPr>
        <p:grpSpPr>
          <a:xfrm>
            <a:off x="658495" y="1536700"/>
            <a:ext cx="10880725" cy="1442085"/>
            <a:chOff x="1037" y="2747"/>
            <a:chExt cx="17710" cy="1944"/>
          </a:xfrm>
        </p:grpSpPr>
        <p:sp>
          <p:nvSpPr>
            <p:cNvPr id="6" name="Shape 4"/>
            <p:cNvSpPr/>
            <p:nvPr>
              <p:custDataLst>
                <p:tags r:id="rId2"/>
              </p:custDataLst>
            </p:nvPr>
          </p:nvSpPr>
          <p:spPr>
            <a:xfrm>
              <a:off x="1037" y="2747"/>
              <a:ext cx="4211" cy="1944"/>
            </a:xfrm>
            <a:prstGeom prst="roundRect">
              <a:avLst>
                <a:gd name="adj" fmla="val 8889"/>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custDataLst>
                <p:tags r:id="rId3"/>
              </p:custDataLst>
            </p:nvPr>
          </p:nvSpPr>
          <p:spPr>
            <a:xfrm>
              <a:off x="1354" y="2995"/>
              <a:ext cx="3614" cy="461"/>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只能处理结构化录入</a:t>
              </a:r>
              <a:endParaRPr lang="en-US" sz="1460" dirty="0"/>
            </a:p>
          </p:txBody>
        </p:sp>
        <p:sp>
          <p:nvSpPr>
            <p:cNvPr id="8" name="Shape 6"/>
            <p:cNvSpPr/>
            <p:nvPr>
              <p:custDataLst>
                <p:tags r:id="rId4"/>
              </p:custDataLst>
            </p:nvPr>
          </p:nvSpPr>
          <p:spPr>
            <a:xfrm>
              <a:off x="1354" y="3456"/>
              <a:ext cx="259" cy="58"/>
            </a:xfrm>
            <a:prstGeom prst="rect">
              <a:avLst/>
            </a:prstGeom>
            <a:solidFill>
              <a:srgbClr val="C61F26"/>
            </a:solidFill>
            <a:ln w="12700">
              <a:solidFill>
                <a:srgbClr val="C61F26"/>
              </a:solidFill>
              <a:prstDash val="solid"/>
            </a:ln>
          </p:spPr>
        </p:sp>
        <p:sp>
          <p:nvSpPr>
            <p:cNvPr id="9" name="Text 7"/>
            <p:cNvSpPr/>
            <p:nvPr>
              <p:custDataLst>
                <p:tags r:id="rId5"/>
              </p:custDataLst>
            </p:nvPr>
          </p:nvSpPr>
          <p:spPr>
            <a:xfrm>
              <a:off x="1274" y="3520"/>
              <a:ext cx="3612" cy="1083"/>
            </a:xfrm>
            <a:prstGeom prst="rect">
              <a:avLst/>
            </a:prstGeom>
            <a:noFill/>
          </p:spPr>
          <p:txBody>
            <a:bodyPr wrap="square" lIns="0" tIns="0" rIns="0" bIns="0" rtlCol="0" anchor="t">
              <a:normAutofit/>
            </a:bodyPr>
            <a:lstStyle/>
            <a:p>
              <a:pPr marL="0" indent="0">
                <a:lnSpc>
                  <a:spcPct val="150000"/>
                </a:lnSpc>
                <a:buNone/>
              </a:pPr>
              <a:r>
                <a:rPr lang="en-US" sz="1060" dirty="0">
                  <a:solidFill>
                    <a:srgbClr val="4B4F56"/>
                  </a:solidFill>
                  <a:latin typeface="微软雅黑" panose="020B0503020204020204" charset="-122"/>
                  <a:ea typeface="微软雅黑" panose="020B0503020204020204" charset="-122"/>
                  <a:cs typeface="微软雅黑" panose="020B0503020204020204" pitchFamily="34" charset="-120"/>
                </a:rPr>
                <a:t>遇到合同、发票附件、政策口径、邮件解释等非结构化信息时，系统几乎无理解能力。</a:t>
              </a:r>
              <a:endParaRPr lang="en-US" sz="1060" dirty="0"/>
            </a:p>
          </p:txBody>
        </p:sp>
        <p:sp>
          <p:nvSpPr>
            <p:cNvPr id="10" name="Shape 8"/>
            <p:cNvSpPr/>
            <p:nvPr>
              <p:custDataLst>
                <p:tags r:id="rId6"/>
              </p:custDataLst>
            </p:nvPr>
          </p:nvSpPr>
          <p:spPr>
            <a:xfrm>
              <a:off x="5440" y="2747"/>
              <a:ext cx="4201" cy="1944"/>
            </a:xfrm>
            <a:prstGeom prst="roundRect">
              <a:avLst>
                <a:gd name="adj" fmla="val 8889"/>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custDataLst>
                <p:tags r:id="rId7"/>
              </p:custDataLst>
            </p:nvPr>
          </p:nvSpPr>
          <p:spPr>
            <a:xfrm>
              <a:off x="5828" y="2995"/>
              <a:ext cx="3614"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依赖人工解释和串联</a:t>
              </a:r>
              <a:endParaRPr lang="en-US" sz="1460" dirty="0"/>
            </a:p>
          </p:txBody>
        </p:sp>
        <p:sp>
          <p:nvSpPr>
            <p:cNvPr id="12" name="Shape 10"/>
            <p:cNvSpPr/>
            <p:nvPr>
              <p:custDataLst>
                <p:tags r:id="rId8"/>
              </p:custDataLst>
            </p:nvPr>
          </p:nvSpPr>
          <p:spPr>
            <a:xfrm>
              <a:off x="5861" y="3456"/>
              <a:ext cx="259" cy="58"/>
            </a:xfrm>
            <a:prstGeom prst="rect">
              <a:avLst/>
            </a:prstGeom>
            <a:solidFill>
              <a:srgbClr val="2F6BFF"/>
            </a:solidFill>
            <a:ln w="12700">
              <a:solidFill>
                <a:srgbClr val="2F6BFF"/>
              </a:solidFill>
              <a:prstDash val="solid"/>
            </a:ln>
          </p:spPr>
        </p:sp>
        <p:sp>
          <p:nvSpPr>
            <p:cNvPr id="13" name="Text 11"/>
            <p:cNvSpPr/>
            <p:nvPr>
              <p:custDataLst>
                <p:tags r:id="rId9"/>
              </p:custDataLst>
            </p:nvPr>
          </p:nvSpPr>
          <p:spPr>
            <a:xfrm>
              <a:off x="5766" y="3615"/>
              <a:ext cx="3739" cy="872"/>
            </a:xfrm>
            <a:prstGeom prst="rect">
              <a:avLst/>
            </a:prstGeom>
            <a:noFill/>
          </p:spPr>
          <p:txBody>
            <a:bodyPr wrap="square" lIns="0" tIns="0" rIns="0" bIns="0" rtlCol="0" anchor="t">
              <a:noAutofit/>
            </a:bodyPr>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很多关键动作靠财务人员在系统外通过 Excel、微信、邮件、经验判断来完成。</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custDataLst>
                <p:tags r:id="rId10"/>
              </p:custDataLst>
            </p:nvPr>
          </p:nvSpPr>
          <p:spPr>
            <a:xfrm>
              <a:off x="10023" y="2747"/>
              <a:ext cx="4210" cy="1944"/>
            </a:xfrm>
            <a:prstGeom prst="roundRect">
              <a:avLst>
                <a:gd name="adj" fmla="val 8889"/>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custDataLst>
                <p:tags r:id="rId11"/>
              </p:custDataLst>
            </p:nvPr>
          </p:nvSpPr>
          <p:spPr>
            <a:xfrm>
              <a:off x="10302" y="2995"/>
              <a:ext cx="3614"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自动化止步于规则流</a:t>
              </a:r>
              <a:endParaRPr lang="en-US" sz="1460" dirty="0"/>
            </a:p>
          </p:txBody>
        </p:sp>
        <p:sp>
          <p:nvSpPr>
            <p:cNvPr id="16" name="Shape 14"/>
            <p:cNvSpPr/>
            <p:nvPr>
              <p:custDataLst>
                <p:tags r:id="rId12"/>
              </p:custDataLst>
            </p:nvPr>
          </p:nvSpPr>
          <p:spPr>
            <a:xfrm>
              <a:off x="10368" y="3456"/>
              <a:ext cx="259" cy="58"/>
            </a:xfrm>
            <a:prstGeom prst="rect">
              <a:avLst/>
            </a:prstGeom>
            <a:solidFill>
              <a:srgbClr val="C61F26"/>
            </a:solidFill>
            <a:ln w="12700">
              <a:solidFill>
                <a:srgbClr val="C61F26"/>
              </a:solidFill>
              <a:prstDash val="solid"/>
            </a:ln>
          </p:spPr>
        </p:sp>
        <p:sp>
          <p:nvSpPr>
            <p:cNvPr id="17" name="Text 15"/>
            <p:cNvSpPr/>
            <p:nvPr>
              <p:custDataLst>
                <p:tags r:id="rId13"/>
              </p:custDataLst>
            </p:nvPr>
          </p:nvSpPr>
          <p:spPr>
            <a:xfrm>
              <a:off x="10195" y="3623"/>
              <a:ext cx="3805" cy="993"/>
            </a:xfrm>
            <a:prstGeom prst="rect">
              <a:avLst/>
            </a:prstGeom>
            <a:noFill/>
          </p:spPr>
          <p:txBody>
            <a:bodyPr wrap="square" lIns="0" tIns="0" rIns="0" bIns="0" rtlCol="0" anchor="t"/>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传统 RPA/规则引擎只能处理稳定场景，难以面对复杂例外、模糊文本和跨系统上下文。</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custDataLst>
                <p:tags r:id="rId14"/>
              </p:custDataLst>
            </p:nvPr>
          </p:nvSpPr>
          <p:spPr>
            <a:xfrm>
              <a:off x="14537" y="2747"/>
              <a:ext cx="4210" cy="1944"/>
            </a:xfrm>
            <a:prstGeom prst="roundRect">
              <a:avLst>
                <a:gd name="adj" fmla="val 8889"/>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9" name="Text 17"/>
            <p:cNvSpPr/>
            <p:nvPr>
              <p:custDataLst>
                <p:tags r:id="rId15"/>
              </p:custDataLst>
            </p:nvPr>
          </p:nvSpPr>
          <p:spPr>
            <a:xfrm>
              <a:off x="14814" y="2995"/>
              <a:ext cx="2966"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缺乏持续学习能力</a:t>
              </a:r>
              <a:endParaRPr lang="en-US" sz="1460" dirty="0"/>
            </a:p>
          </p:txBody>
        </p:sp>
        <p:sp>
          <p:nvSpPr>
            <p:cNvPr id="20" name="Shape 18"/>
            <p:cNvSpPr/>
            <p:nvPr>
              <p:custDataLst>
                <p:tags r:id="rId16"/>
              </p:custDataLst>
            </p:nvPr>
          </p:nvSpPr>
          <p:spPr>
            <a:xfrm>
              <a:off x="14875" y="3456"/>
              <a:ext cx="259" cy="58"/>
            </a:xfrm>
            <a:prstGeom prst="rect">
              <a:avLst/>
            </a:prstGeom>
            <a:solidFill>
              <a:srgbClr val="E25A3B"/>
            </a:solidFill>
            <a:ln w="12700">
              <a:solidFill>
                <a:srgbClr val="E25A3B"/>
              </a:solidFill>
              <a:prstDash val="solid"/>
            </a:ln>
          </p:spPr>
        </p:sp>
        <p:sp>
          <p:nvSpPr>
            <p:cNvPr id="21" name="Text 19"/>
            <p:cNvSpPr/>
            <p:nvPr>
              <p:custDataLst>
                <p:tags r:id="rId17"/>
              </p:custDataLst>
            </p:nvPr>
          </p:nvSpPr>
          <p:spPr>
            <a:xfrm>
              <a:off x="14810" y="3656"/>
              <a:ext cx="3663" cy="974"/>
            </a:xfrm>
            <a:prstGeom prst="rect">
              <a:avLst/>
            </a:prstGeom>
            <a:noFill/>
          </p:spPr>
          <p:txBody>
            <a:bodyPr wrap="square" lIns="0" tIns="0" rIns="0" bIns="0" rtlCol="0" anchor="t">
              <a:normAutofit/>
            </a:bodyPr>
            <a:lstStyle/>
            <a:p>
              <a:pPr marL="0" indent="0">
                <a:lnSpc>
                  <a:spcPct val="150000"/>
                </a:lnSpc>
                <a:buNone/>
              </a:pPr>
              <a:r>
                <a:rPr lang="en-US" sz="1000" dirty="0">
                  <a:solidFill>
                    <a:srgbClr val="4B4F56"/>
                  </a:solidFill>
                  <a:latin typeface="微软雅黑" panose="020B0503020204020204" charset="-122"/>
                  <a:ea typeface="微软雅黑" panose="020B0503020204020204" charset="-122"/>
                  <a:cs typeface="微软雅黑" panose="020B0503020204020204" pitchFamily="34" charset="-120"/>
                </a:rPr>
                <a:t>系统不会随着知识、流程与业务变化而快速适配，只能依赖实施改造。</a:t>
              </a:r>
              <a:endParaRPr lang="en-US" sz="10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sp>
        <p:nvSpPr>
          <p:cNvPr id="22" name="Shape 20"/>
          <p:cNvSpPr/>
          <p:nvPr/>
        </p:nvSpPr>
        <p:spPr>
          <a:xfrm>
            <a:off x="658368" y="3246120"/>
            <a:ext cx="5394960" cy="2011680"/>
          </a:xfrm>
          <a:prstGeom prst="roundRect">
            <a:avLst>
              <a:gd name="adj" fmla="val 3636"/>
            </a:avLst>
          </a:prstGeom>
          <a:solidFill>
            <a:srgbClr val="FFF7F5"/>
          </a:solidFill>
          <a:ln w="12700">
            <a:solidFill>
              <a:srgbClr val="F6D4C9"/>
            </a:solidFill>
            <a:prstDash val="solid"/>
          </a:ln>
        </p:spPr>
      </p:sp>
      <p:sp>
        <p:nvSpPr>
          <p:cNvPr id="23" name="Text 21"/>
          <p:cNvSpPr/>
          <p:nvPr/>
        </p:nvSpPr>
        <p:spPr>
          <a:xfrm>
            <a:off x="1024255" y="3474720"/>
            <a:ext cx="4892040" cy="256032"/>
          </a:xfrm>
          <a:prstGeom prst="rect">
            <a:avLst/>
          </a:prstGeom>
          <a:noFill/>
        </p:spPr>
        <p:txBody>
          <a:bodyPr wrap="square" lIns="0" tIns="0" rIns="0" bIns="0" rtlCol="0" anchor="ctr"/>
          <a:lstStyle/>
          <a:p>
            <a:pPr marL="0" indent="0">
              <a:buNone/>
            </a:pPr>
            <a:r>
              <a:rPr lang="en-US" sz="1800" b="1" dirty="0">
                <a:solidFill>
                  <a:srgbClr val="9B3D27"/>
                </a:solidFill>
                <a:latin typeface="微软雅黑" panose="020B0503020204020204" charset="-122"/>
                <a:ea typeface="微软雅黑" panose="020B0503020204020204" charset="-122"/>
                <a:cs typeface="微软雅黑" panose="020B0503020204020204" pitchFamily="34" charset="-120"/>
              </a:rPr>
              <a:t>结果：财务团队被迫承担大量“系统外劳动”</a:t>
            </a:r>
            <a:endParaRPr lang="en-US" sz="1800" dirty="0"/>
          </a:p>
        </p:txBody>
      </p:sp>
      <p:sp>
        <p:nvSpPr>
          <p:cNvPr id="24" name="Text 22"/>
          <p:cNvSpPr/>
          <p:nvPr/>
        </p:nvSpPr>
        <p:spPr>
          <a:xfrm>
            <a:off x="1069975" y="3931158"/>
            <a:ext cx="4572000" cy="1143000"/>
          </a:xfrm>
          <a:prstGeom prst="rect">
            <a:avLst/>
          </a:prstGeom>
          <a:noFill/>
        </p:spPr>
        <p:txBody>
          <a:bodyPr wrap="square" lIns="254" tIns="254" rIns="254" bIns="254" rtlCol="0" anchor="t"/>
          <a:lstStyle/>
          <a:p>
            <a:pPr marL="203200" indent="-203200">
              <a:lnSpc>
                <a:spcPct val="150000"/>
              </a:lnSpc>
              <a:buSzPct val="100000"/>
              <a:buChar char="•"/>
            </a:pPr>
            <a:r>
              <a:rPr lang="en-US" sz="1350" dirty="0">
                <a:solidFill>
                  <a:srgbClr val="7A3A2D"/>
                </a:solidFill>
                <a:latin typeface="微软雅黑" panose="020B0503020204020204" charset="-122"/>
                <a:ea typeface="微软雅黑" panose="020B0503020204020204" charset="-122"/>
                <a:cs typeface="微软雅黑" panose="020B0503020204020204" pitchFamily="34" charset="-120"/>
              </a:rPr>
              <a:t>重复录入、人工匹配、人工催办、人工解释口径</a:t>
            </a:r>
            <a:endParaRPr lang="en-US" sz="1350" dirty="0">
              <a:latin typeface="微软雅黑" panose="020B0503020204020204" charset="-122"/>
              <a:ea typeface="微软雅黑" panose="020B0503020204020204" charset="-122"/>
            </a:endParaRPr>
          </a:p>
          <a:p>
            <a:pPr marL="203200" indent="-203200">
              <a:lnSpc>
                <a:spcPct val="150000"/>
              </a:lnSpc>
              <a:buSzPct val="100000"/>
              <a:buChar char="•"/>
            </a:pPr>
            <a:r>
              <a:rPr lang="en-US" sz="1350" dirty="0">
                <a:solidFill>
                  <a:srgbClr val="7A3A2D"/>
                </a:solidFill>
                <a:latin typeface="微软雅黑" panose="020B0503020204020204" charset="-122"/>
                <a:ea typeface="微软雅黑" panose="020B0503020204020204" charset="-122"/>
                <a:cs typeface="微软雅黑" panose="020B0503020204020204" pitchFamily="34" charset="-120"/>
              </a:rPr>
              <a:t>问题发现滞后，异常和风险经常在事后才暴露</a:t>
            </a:r>
            <a:endParaRPr lang="en-US" sz="1350" dirty="0">
              <a:latin typeface="微软雅黑" panose="020B0503020204020204" charset="-122"/>
              <a:ea typeface="微软雅黑" panose="020B0503020204020204" charset="-122"/>
            </a:endParaRPr>
          </a:p>
          <a:p>
            <a:pPr marL="203200" indent="-203200">
              <a:lnSpc>
                <a:spcPct val="150000"/>
              </a:lnSpc>
              <a:buSzPct val="100000"/>
              <a:buChar char="•"/>
            </a:pPr>
            <a:r>
              <a:rPr lang="en-US" sz="1350" dirty="0">
                <a:solidFill>
                  <a:srgbClr val="7A3A2D"/>
                </a:solidFill>
                <a:latin typeface="微软雅黑" panose="020B0503020204020204" charset="-122"/>
                <a:ea typeface="微软雅黑" panose="020B0503020204020204" charset="-122"/>
                <a:cs typeface="微软雅黑" panose="020B0503020204020204" pitchFamily="34" charset="-120"/>
              </a:rPr>
              <a:t>经营分析高度依赖少数关键人员经验，难以规模化</a:t>
            </a:r>
            <a:endParaRPr lang="en-US" sz="1350" dirty="0">
              <a:latin typeface="微软雅黑" panose="020B0503020204020204" charset="-122"/>
              <a:ea typeface="微软雅黑" panose="020B0503020204020204" charset="-122"/>
            </a:endParaRPr>
          </a:p>
        </p:txBody>
      </p:sp>
      <p:sp>
        <p:nvSpPr>
          <p:cNvPr id="25" name="Shape 23"/>
          <p:cNvSpPr/>
          <p:nvPr/>
        </p:nvSpPr>
        <p:spPr>
          <a:xfrm>
            <a:off x="6236208" y="3246120"/>
            <a:ext cx="5303520" cy="2011680"/>
          </a:xfrm>
          <a:prstGeom prst="roundRect">
            <a:avLst>
              <a:gd name="adj" fmla="val 3636"/>
            </a:avLst>
          </a:prstGeom>
          <a:solidFill>
            <a:srgbClr val="F3FAF9"/>
          </a:solidFill>
          <a:ln w="12700">
            <a:solidFill>
              <a:srgbClr val="C6ECE7"/>
            </a:solidFill>
            <a:prstDash val="solid"/>
          </a:ln>
        </p:spPr>
      </p:sp>
      <p:sp>
        <p:nvSpPr>
          <p:cNvPr id="26" name="Text 24"/>
          <p:cNvSpPr/>
          <p:nvPr/>
        </p:nvSpPr>
        <p:spPr>
          <a:xfrm>
            <a:off x="6474079" y="3535045"/>
            <a:ext cx="4800600" cy="256032"/>
          </a:xfrm>
          <a:prstGeom prst="rect">
            <a:avLst/>
          </a:prstGeom>
          <a:noFill/>
        </p:spPr>
        <p:txBody>
          <a:bodyPr wrap="square" lIns="0" tIns="0" rIns="0" bIns="0" rtlCol="0" anchor="ctr"/>
          <a:lstStyle/>
          <a:p>
            <a:pPr marL="0" indent="0">
              <a:buNone/>
            </a:pPr>
            <a:r>
              <a:rPr lang="en-US" sz="1800" b="1" dirty="0">
                <a:solidFill>
                  <a:srgbClr val="0A6E67"/>
                </a:solidFill>
                <a:latin typeface="微软雅黑" panose="020B0503020204020204" charset="-122"/>
                <a:ea typeface="微软雅黑" panose="020B0503020204020204" charset="-122"/>
                <a:cs typeface="微软雅黑" panose="020B0503020204020204" pitchFamily="34" charset="-120"/>
              </a:rPr>
              <a:t>因此需要从“系统自动化”升级为“系统智能化”</a:t>
            </a:r>
            <a:endParaRPr lang="en-US" sz="1800" dirty="0"/>
          </a:p>
        </p:txBody>
      </p:sp>
      <p:sp>
        <p:nvSpPr>
          <p:cNvPr id="27" name="Text 25"/>
          <p:cNvSpPr/>
          <p:nvPr/>
        </p:nvSpPr>
        <p:spPr>
          <a:xfrm>
            <a:off x="6583807" y="3931158"/>
            <a:ext cx="4526280" cy="1143000"/>
          </a:xfrm>
          <a:prstGeom prst="rect">
            <a:avLst/>
          </a:prstGeom>
          <a:noFill/>
        </p:spPr>
        <p:txBody>
          <a:bodyPr wrap="square" lIns="254" tIns="254" rIns="254" bIns="254" rtlCol="0" anchor="t"/>
          <a:lstStyle/>
          <a:p>
            <a:pPr marL="203200" indent="-203200">
              <a:lnSpc>
                <a:spcPct val="150000"/>
              </a:lnSpc>
              <a:buSzPct val="100000"/>
              <a:buChar char="•"/>
            </a:pPr>
            <a:r>
              <a:rPr lang="en-US" sz="1350" dirty="0">
                <a:solidFill>
                  <a:srgbClr val="21534F"/>
                </a:solidFill>
                <a:latin typeface="微软雅黑" panose="020B0503020204020204" charset="-122"/>
                <a:ea typeface="微软雅黑" panose="020B0503020204020204" charset="-122"/>
                <a:cs typeface="微软雅黑" panose="020B0503020204020204" pitchFamily="34" charset="-120"/>
              </a:rPr>
              <a:t>让系统能理解文本、附件、规则、上下文和角色意图</a:t>
            </a:r>
            <a:endParaRPr lang="en-US" sz="1350" dirty="0">
              <a:latin typeface="微软雅黑" panose="020B0503020204020204" charset="-122"/>
              <a:ea typeface="微软雅黑" panose="020B0503020204020204" charset="-122"/>
            </a:endParaRPr>
          </a:p>
          <a:p>
            <a:pPr marL="203200" indent="-203200">
              <a:lnSpc>
                <a:spcPct val="150000"/>
              </a:lnSpc>
              <a:buSzPct val="100000"/>
              <a:buChar char="•"/>
            </a:pPr>
            <a:r>
              <a:rPr lang="en-US" sz="1350" dirty="0">
                <a:solidFill>
                  <a:srgbClr val="21534F"/>
                </a:solidFill>
                <a:latin typeface="微软雅黑" panose="020B0503020204020204" charset="-122"/>
                <a:ea typeface="微软雅黑" panose="020B0503020204020204" charset="-122"/>
                <a:cs typeface="微软雅黑" panose="020B0503020204020204" pitchFamily="34" charset="-120"/>
              </a:rPr>
              <a:t>让系统能主动发现问题，而不是等待人工报错</a:t>
            </a:r>
            <a:endParaRPr lang="en-US" sz="1350" dirty="0">
              <a:latin typeface="微软雅黑" panose="020B0503020204020204" charset="-122"/>
              <a:ea typeface="微软雅黑" panose="020B0503020204020204" charset="-122"/>
            </a:endParaRPr>
          </a:p>
          <a:p>
            <a:pPr marL="203200" indent="-203200">
              <a:lnSpc>
                <a:spcPct val="150000"/>
              </a:lnSpc>
              <a:buSzPct val="100000"/>
              <a:buChar char="•"/>
            </a:pPr>
            <a:r>
              <a:rPr lang="en-US" sz="1350" dirty="0">
                <a:solidFill>
                  <a:srgbClr val="21534F"/>
                </a:solidFill>
                <a:latin typeface="微软雅黑" panose="020B0503020204020204" charset="-122"/>
                <a:ea typeface="微软雅黑" panose="020B0503020204020204" charset="-122"/>
                <a:cs typeface="微软雅黑" panose="020B0503020204020204" pitchFamily="34" charset="-120"/>
              </a:rPr>
              <a:t>让系统可以提出建议、生成动作，并被治理地执行</a:t>
            </a:r>
            <a:endParaRPr lang="en-US" sz="1350" dirty="0">
              <a:latin typeface="微软雅黑" panose="020B0503020204020204" charset="-122"/>
              <a:ea typeface="微软雅黑" panose="020B0503020204020204" charset="-122"/>
            </a:endParaRPr>
          </a:p>
        </p:txBody>
      </p:sp>
      <p:sp>
        <p:nvSpPr>
          <p:cNvPr id="28"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AI-Native 财务系统的总体设计思路</a:t>
            </a:r>
            <a:endParaRPr lang="en-US" sz="2250" dirty="0"/>
          </a:p>
        </p:txBody>
      </p:sp>
      <p:sp>
        <p:nvSpPr>
          <p:cNvPr id="4" name="Text 2"/>
          <p:cNvSpPr/>
          <p:nvPr/>
        </p:nvSpPr>
        <p:spPr>
          <a:xfrm>
            <a:off x="658368" y="11059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我们的方向不是给传统系统“外挂聊天框”，而是建设原生的 AI 能力层</a:t>
            </a:r>
            <a:endParaRPr lang="en-US" sz="1000" dirty="0"/>
          </a:p>
        </p:txBody>
      </p:sp>
      <p:sp>
        <p:nvSpPr>
          <p:cNvPr id="5" name="Text 3"/>
          <p:cNvSpPr/>
          <p:nvPr/>
        </p:nvSpPr>
        <p:spPr>
          <a:xfrm>
            <a:off x="640207" y="1362202"/>
            <a:ext cx="155448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Architecture</a:t>
            </a:r>
            <a:endParaRPr lang="en-US" sz="1050" dirty="0"/>
          </a:p>
        </p:txBody>
      </p:sp>
      <p:grpSp>
        <p:nvGrpSpPr>
          <p:cNvPr id="31" name="组合 30"/>
          <p:cNvGrpSpPr/>
          <p:nvPr>
            <p:custDataLst>
              <p:tags r:id="rId1"/>
            </p:custDataLst>
          </p:nvPr>
        </p:nvGrpSpPr>
        <p:grpSpPr>
          <a:xfrm>
            <a:off x="589280" y="1821180"/>
            <a:ext cx="10789285" cy="3439795"/>
            <a:chOff x="997" y="2069"/>
            <a:chExt cx="16991" cy="5417"/>
          </a:xfrm>
        </p:grpSpPr>
        <p:sp>
          <p:nvSpPr>
            <p:cNvPr id="6" name="Shape 4"/>
            <p:cNvSpPr/>
            <p:nvPr>
              <p:custDataLst>
                <p:tags r:id="rId2"/>
              </p:custDataLst>
            </p:nvPr>
          </p:nvSpPr>
          <p:spPr>
            <a:xfrm>
              <a:off x="997" y="2069"/>
              <a:ext cx="3402" cy="5417"/>
            </a:xfrm>
            <a:prstGeom prst="roundRect">
              <a:avLst>
                <a:gd name="adj" fmla="val 5217"/>
              </a:avLst>
            </a:prstGeom>
            <a:solidFill>
              <a:srgbClr val="FDFEFE"/>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custDataLst>
                <p:tags r:id="rId3"/>
              </p:custDataLst>
            </p:nvPr>
          </p:nvSpPr>
          <p:spPr>
            <a:xfrm>
              <a:off x="1339" y="2581"/>
              <a:ext cx="2732" cy="922"/>
            </a:xfrm>
            <a:prstGeom prst="rect">
              <a:avLst/>
            </a:prstGeom>
            <a:noFill/>
          </p:spPr>
          <p:txBody>
            <a:bodyPr wrap="square" lIns="0" tIns="0" rIns="0" bIns="0" rtlCol="0" anchor="ctr">
              <a:normAutofit lnSpcReduction="20000"/>
            </a:bodyPr>
            <a:lstStyle/>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业务与财务底座</a:t>
              </a:r>
              <a:endParaRPr lang="en-US" sz="1400" b="1" dirty="0"/>
            </a:p>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Odoo</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8" name="Shape 6"/>
            <p:cNvSpPr/>
            <p:nvPr>
              <p:custDataLst>
                <p:tags r:id="rId4"/>
              </p:custDataLst>
            </p:nvPr>
          </p:nvSpPr>
          <p:spPr>
            <a:xfrm>
              <a:off x="1433" y="3610"/>
              <a:ext cx="266" cy="120"/>
            </a:xfrm>
            <a:prstGeom prst="rect">
              <a:avLst/>
            </a:prstGeom>
            <a:solidFill>
              <a:srgbClr val="3B82F6"/>
            </a:solidFill>
            <a:ln w="12700">
              <a:solidFill>
                <a:srgbClr val="3B82F6"/>
              </a:solidFill>
              <a:prstDash val="solid"/>
            </a:ln>
          </p:spPr>
          <p:txBody>
            <a:bodyPr/>
            <a:p>
              <a:endParaRPr lang="zh-CN" altLang="en-US"/>
            </a:p>
          </p:txBody>
        </p:sp>
        <p:sp>
          <p:nvSpPr>
            <p:cNvPr id="9" name="Text 7"/>
            <p:cNvSpPr/>
            <p:nvPr>
              <p:custDataLst>
                <p:tags r:id="rId5"/>
              </p:custDataLst>
            </p:nvPr>
          </p:nvSpPr>
          <p:spPr>
            <a:xfrm>
              <a:off x="1367" y="3799"/>
              <a:ext cx="2656" cy="3490"/>
            </a:xfrm>
            <a:prstGeom prst="rect">
              <a:avLst/>
            </a:prstGeom>
            <a:noFill/>
          </p:spPr>
          <p:txBody>
            <a:bodyPr wrap="square" lIns="0" tIns="0" rIns="0" bIns="0" rtlCol="0" anchor="t">
              <a:normAutofit/>
            </a:bodyPr>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统一承载组织、客户、供应商、产品、合同、采购、销售、费用、发票、会计、资金等核心对象与交易流程，保证流程可追踪、数据可沉淀。</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custDataLst>
                <p:tags r:id="rId6"/>
              </p:custDataLst>
            </p:nvPr>
          </p:nvSpPr>
          <p:spPr>
            <a:xfrm>
              <a:off x="4748" y="2069"/>
              <a:ext cx="3402" cy="5417"/>
            </a:xfrm>
            <a:prstGeom prst="roundRect">
              <a:avLst>
                <a:gd name="adj" fmla="val 5217"/>
              </a:avLst>
            </a:prstGeom>
            <a:solidFill>
              <a:srgbClr val="FDFEFE"/>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custDataLst>
                <p:tags r:id="rId7"/>
              </p:custDataLst>
            </p:nvPr>
          </p:nvSpPr>
          <p:spPr>
            <a:xfrm>
              <a:off x="5116" y="2373"/>
              <a:ext cx="2751" cy="1356"/>
            </a:xfrm>
            <a:prstGeom prst="rect">
              <a:avLst/>
            </a:prstGeom>
            <a:noFill/>
          </p:spPr>
          <p:txBody>
            <a:bodyPr wrap="square" lIns="0" tIns="0" rIns="0" bIns="0" rtlCol="0" anchor="ctr"/>
            <a:lstStyle/>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AI 编排与 Agent 层</a:t>
              </a:r>
              <a:endParaRPr lang="en-US" sz="1400" b="1" dirty="0"/>
            </a:p>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FT Agent</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2" name="Shape 10"/>
            <p:cNvSpPr/>
            <p:nvPr>
              <p:custDataLst>
                <p:tags r:id="rId8"/>
              </p:custDataLst>
            </p:nvPr>
          </p:nvSpPr>
          <p:spPr>
            <a:xfrm>
              <a:off x="5134" y="3610"/>
              <a:ext cx="266" cy="120"/>
            </a:xfrm>
            <a:prstGeom prst="rect">
              <a:avLst/>
            </a:prstGeom>
            <a:solidFill>
              <a:srgbClr val="2F6BFF"/>
            </a:solidFill>
            <a:ln w="12700">
              <a:solidFill>
                <a:srgbClr val="2F6BFF"/>
              </a:solidFill>
              <a:prstDash val="solid"/>
            </a:ln>
          </p:spPr>
        </p:sp>
        <p:sp>
          <p:nvSpPr>
            <p:cNvPr id="13" name="Text 11"/>
            <p:cNvSpPr/>
            <p:nvPr>
              <p:custDataLst>
                <p:tags r:id="rId9"/>
              </p:custDataLst>
            </p:nvPr>
          </p:nvSpPr>
          <p:spPr>
            <a:xfrm>
              <a:off x="5068" y="3799"/>
              <a:ext cx="2609" cy="3262"/>
            </a:xfrm>
            <a:prstGeom prst="rect">
              <a:avLst/>
            </a:prstGeom>
            <a:noFill/>
          </p:spPr>
          <p:txBody>
            <a:bodyPr wrap="square" lIns="0" tIns="0" rIns="0" bIns="0" rtlCol="0" anchor="t">
              <a:normAutofit/>
            </a:bodyPr>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组织多 Agent 协作、任务分解、工具调用、工作流编排和执行追踪，把“提问”变成“可交付动作”，并支持人与系统协同审批。</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custDataLst>
                <p:tags r:id="rId10"/>
              </p:custDataLst>
            </p:nvPr>
          </p:nvSpPr>
          <p:spPr>
            <a:xfrm>
              <a:off x="8346" y="2069"/>
              <a:ext cx="3402" cy="5417"/>
            </a:xfrm>
            <a:prstGeom prst="roundRect">
              <a:avLst>
                <a:gd name="adj" fmla="val 5217"/>
              </a:avLst>
            </a:prstGeom>
            <a:solidFill>
              <a:srgbClr val="FDFEFE"/>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custDataLst>
                <p:tags r:id="rId11"/>
              </p:custDataLst>
            </p:nvPr>
          </p:nvSpPr>
          <p:spPr>
            <a:xfrm>
              <a:off x="8826" y="2515"/>
              <a:ext cx="2751" cy="1095"/>
            </a:xfrm>
            <a:prstGeom prst="rect">
              <a:avLst/>
            </a:prstGeom>
            <a:noFill/>
          </p:spPr>
          <p:txBody>
            <a:bodyPr wrap="square" lIns="0" tIns="0" rIns="0" bIns="0" rtlCol="0" anchor="ctr"/>
            <a:lstStyle/>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知识与认知层</a:t>
              </a:r>
              <a:endParaRPr lang="en-US" sz="1400" b="1" dirty="0"/>
            </a:p>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LLM + RAG</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6" name="Shape 14"/>
            <p:cNvSpPr/>
            <p:nvPr>
              <p:custDataLst>
                <p:tags r:id="rId12"/>
              </p:custDataLst>
            </p:nvPr>
          </p:nvSpPr>
          <p:spPr>
            <a:xfrm>
              <a:off x="8835" y="3610"/>
              <a:ext cx="266" cy="120"/>
            </a:xfrm>
            <a:prstGeom prst="rect">
              <a:avLst/>
            </a:prstGeom>
            <a:solidFill>
              <a:srgbClr val="C61F26"/>
            </a:solidFill>
            <a:ln w="12700">
              <a:solidFill>
                <a:srgbClr val="C61F26"/>
              </a:solidFill>
              <a:prstDash val="solid"/>
            </a:ln>
          </p:spPr>
        </p:sp>
        <p:sp>
          <p:nvSpPr>
            <p:cNvPr id="17" name="Text 15"/>
            <p:cNvSpPr/>
            <p:nvPr>
              <p:custDataLst>
                <p:tags r:id="rId13"/>
              </p:custDataLst>
            </p:nvPr>
          </p:nvSpPr>
          <p:spPr>
            <a:xfrm>
              <a:off x="8769" y="3799"/>
              <a:ext cx="2525" cy="2976"/>
            </a:xfrm>
            <a:prstGeom prst="rect">
              <a:avLst/>
            </a:prstGeom>
            <a:noFill/>
          </p:spPr>
          <p:txBody>
            <a:bodyPr wrap="square" lIns="0" tIns="0" rIns="0" bIns="0" rtlCol="0" anchor="t">
              <a:normAutofit/>
            </a:bodyPr>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接入财务制度、税务政策、会计口径、内部 SOP、历史凭证与案例库，让 AI 的分析、建议和解释建立在企业知识上下文之上。</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custDataLst>
                <p:tags r:id="rId14"/>
              </p:custDataLst>
            </p:nvPr>
          </p:nvSpPr>
          <p:spPr>
            <a:xfrm>
              <a:off x="12020" y="2069"/>
              <a:ext cx="3402" cy="5417"/>
            </a:xfrm>
            <a:prstGeom prst="roundRect">
              <a:avLst>
                <a:gd name="adj" fmla="val 5217"/>
              </a:avLst>
            </a:prstGeom>
            <a:solidFill>
              <a:srgbClr val="FDFEFE"/>
            </a:solidFill>
            <a:ln w="12700">
              <a:solidFill>
                <a:srgbClr val="E7E9ED"/>
              </a:solidFill>
              <a:prstDash val="solid"/>
            </a:ln>
            <a:effectLst>
              <a:outerShdw blurRad="25400" dist="50800" dir="2700000" algn="bl" rotWithShape="0">
                <a:srgbClr val="D9DDE3">
                  <a:alpha val="12000"/>
                </a:srgbClr>
              </a:outerShdw>
            </a:effectLst>
          </p:spPr>
        </p:sp>
        <p:sp>
          <p:nvSpPr>
            <p:cNvPr id="19" name="Text 17"/>
            <p:cNvSpPr/>
            <p:nvPr>
              <p:custDataLst>
                <p:tags r:id="rId15"/>
              </p:custDataLst>
            </p:nvPr>
          </p:nvSpPr>
          <p:spPr>
            <a:xfrm>
              <a:off x="12469" y="2393"/>
              <a:ext cx="2751" cy="1217"/>
            </a:xfrm>
            <a:prstGeom prst="rect">
              <a:avLst/>
            </a:prstGeom>
            <a:noFill/>
          </p:spPr>
          <p:txBody>
            <a:bodyPr wrap="square" lIns="0" tIns="0" rIns="0" bIns="0" rtlCol="0" anchor="ctr"/>
            <a:lstStyle/>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控制与治理层</a:t>
              </a:r>
              <a:endParaRPr lang="en-US" sz="1400" dirty="0"/>
            </a:p>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Policy + Audit</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0" name="Shape 18"/>
            <p:cNvSpPr/>
            <p:nvPr>
              <p:custDataLst>
                <p:tags r:id="rId16"/>
              </p:custDataLst>
            </p:nvPr>
          </p:nvSpPr>
          <p:spPr>
            <a:xfrm>
              <a:off x="12535" y="3610"/>
              <a:ext cx="266" cy="120"/>
            </a:xfrm>
            <a:prstGeom prst="rect">
              <a:avLst/>
            </a:prstGeom>
            <a:solidFill>
              <a:srgbClr val="E25A3B"/>
            </a:solidFill>
            <a:ln w="12700">
              <a:solidFill>
                <a:srgbClr val="E25A3B"/>
              </a:solidFill>
              <a:prstDash val="solid"/>
            </a:ln>
          </p:spPr>
        </p:sp>
        <p:sp>
          <p:nvSpPr>
            <p:cNvPr id="21" name="Text 19"/>
            <p:cNvSpPr/>
            <p:nvPr>
              <p:custDataLst>
                <p:tags r:id="rId17"/>
              </p:custDataLst>
            </p:nvPr>
          </p:nvSpPr>
          <p:spPr>
            <a:xfrm>
              <a:off x="12469" y="3799"/>
              <a:ext cx="2732" cy="2976"/>
            </a:xfrm>
            <a:prstGeom prst="rect">
              <a:avLst/>
            </a:prstGeom>
            <a:noFill/>
          </p:spPr>
          <p:txBody>
            <a:bodyPr wrap="square" lIns="0" tIns="0" rIns="0" bIns="0" rtlCol="0" anchor="t">
              <a:normAutofit/>
            </a:bodyPr>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对权限、审批、数据访问、日志、敏感信息、模型调用和执行动作进行统一治理，确保 AI 可控、可审计、可回放。</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22" name="Shape 20"/>
            <p:cNvSpPr/>
            <p:nvPr/>
          </p:nvSpPr>
          <p:spPr>
            <a:xfrm>
              <a:off x="15695" y="2069"/>
              <a:ext cx="2293" cy="5417"/>
            </a:xfrm>
            <a:prstGeom prst="roundRect">
              <a:avLst>
                <a:gd name="adj" fmla="val 7742"/>
              </a:avLst>
            </a:prstGeom>
            <a:solidFill>
              <a:srgbClr val="FDFEFE"/>
            </a:solidFill>
            <a:ln w="12700">
              <a:solidFill>
                <a:srgbClr val="E7E9ED"/>
              </a:solidFill>
              <a:prstDash val="solid"/>
            </a:ln>
            <a:effectLst>
              <a:outerShdw blurRad="25400" dist="50800" dir="2700000" algn="bl" rotWithShape="0">
                <a:srgbClr val="D9DDE3">
                  <a:alpha val="12000"/>
                </a:srgbClr>
              </a:outerShdw>
            </a:effectLst>
          </p:spPr>
        </p:sp>
        <p:sp>
          <p:nvSpPr>
            <p:cNvPr id="23" name="Text 21"/>
            <p:cNvSpPr/>
            <p:nvPr/>
          </p:nvSpPr>
          <p:spPr>
            <a:xfrm>
              <a:off x="16189" y="2660"/>
              <a:ext cx="1641" cy="475"/>
            </a:xfrm>
            <a:prstGeom prst="rect">
              <a:avLst/>
            </a:prstGeom>
            <a:noFill/>
          </p:spPr>
          <p:txBody>
            <a:bodyPr wrap="square" lIns="0" tIns="0" rIns="0" bIns="0" rtlCol="0" anchor="ctr">
              <a:normAutofit lnSpcReduction="10000"/>
            </a:bodyPr>
            <a:lstStyle/>
            <a:p>
              <a:pPr marL="0" indent="0">
                <a:lnSpc>
                  <a:spcPct val="15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用户入口</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4" name="Shape 22"/>
            <p:cNvSpPr/>
            <p:nvPr/>
          </p:nvSpPr>
          <p:spPr>
            <a:xfrm>
              <a:off x="16236" y="3610"/>
              <a:ext cx="266" cy="120"/>
            </a:xfrm>
            <a:prstGeom prst="rect">
              <a:avLst/>
            </a:prstGeom>
            <a:solidFill>
              <a:srgbClr val="C61F26"/>
            </a:solidFill>
            <a:ln w="12700">
              <a:solidFill>
                <a:srgbClr val="C61F26"/>
              </a:solidFill>
              <a:prstDash val="solid"/>
            </a:ln>
          </p:spPr>
        </p:sp>
        <p:sp>
          <p:nvSpPr>
            <p:cNvPr id="25" name="Text 23"/>
            <p:cNvSpPr/>
            <p:nvPr/>
          </p:nvSpPr>
          <p:spPr>
            <a:xfrm>
              <a:off x="16200" y="3799"/>
              <a:ext cx="1641" cy="3128"/>
            </a:xfrm>
            <a:prstGeom prst="rect">
              <a:avLst/>
            </a:prstGeom>
            <a:noFill/>
          </p:spPr>
          <p:txBody>
            <a:bodyPr wrap="square" lIns="0" tIns="0" rIns="0" bIns="0" rtlCol="0" anchor="t">
              <a:normAutofit/>
            </a:bodyPr>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Web</a:t>
              </a:r>
              <a:endParaRPr lang="en-US" sz="1200"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移动端</a:t>
              </a:r>
              <a:endParaRPr lang="en-US" sz="1200"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对话式助手</a:t>
              </a:r>
              <a:endParaRPr lang="en-US" sz="1200"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业务工作台</a:t>
              </a:r>
              <a:endParaRPr lang="en-US" sz="1200"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预警中心</a:t>
              </a:r>
              <a:endParaRPr lang="en-US" sz="1200" dirty="0">
                <a:latin typeface="微软雅黑" panose="020B0503020204020204" charset="-122"/>
                <a:ea typeface="微软雅黑" panose="020B0503020204020204" charset="-122"/>
                <a:cs typeface="微软雅黑" panose="020B0503020204020204" charset="-122"/>
              </a:endParaRPr>
            </a:p>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charset="-122"/>
                </a:rPr>
                <a:t>管理驾驶舱</a:t>
              </a:r>
              <a:endParaRPr lang="en-US" sz="1200" dirty="0">
                <a:solidFill>
                  <a:srgbClr val="4B4F56"/>
                </a:solidFill>
                <a:latin typeface="微软雅黑" panose="020B0503020204020204" charset="-122"/>
                <a:ea typeface="微软雅黑" panose="020B0503020204020204" charset="-122"/>
                <a:cs typeface="微软雅黑" panose="020B0503020204020204" charset="-122"/>
              </a:endParaRPr>
            </a:p>
          </p:txBody>
        </p:sp>
        <p:sp>
          <p:nvSpPr>
            <p:cNvPr id="26" name="Shape 24"/>
            <p:cNvSpPr/>
            <p:nvPr>
              <p:custDataLst>
                <p:tags r:id="rId18"/>
              </p:custDataLst>
            </p:nvPr>
          </p:nvSpPr>
          <p:spPr>
            <a:xfrm>
              <a:off x="4338" y="4995"/>
              <a:ext cx="414" cy="563"/>
            </a:xfrm>
            <a:prstGeom prst="chevron">
              <a:avLst/>
            </a:prstGeom>
            <a:solidFill>
              <a:srgbClr val="C9D9FF"/>
            </a:solidFill>
            <a:ln w="12700">
              <a:solidFill>
                <a:srgbClr val="C9D9FF"/>
              </a:solidFill>
              <a:prstDash val="solid"/>
            </a:ln>
          </p:spPr>
        </p:sp>
        <p:sp>
          <p:nvSpPr>
            <p:cNvPr id="27" name="Shape 25"/>
            <p:cNvSpPr/>
            <p:nvPr>
              <p:custDataLst>
                <p:tags r:id="rId19"/>
              </p:custDataLst>
            </p:nvPr>
          </p:nvSpPr>
          <p:spPr>
            <a:xfrm>
              <a:off x="8039" y="4995"/>
              <a:ext cx="414" cy="563"/>
            </a:xfrm>
            <a:prstGeom prst="chevron">
              <a:avLst/>
            </a:prstGeom>
            <a:solidFill>
              <a:srgbClr val="BDEFEA"/>
            </a:solidFill>
            <a:ln w="12700">
              <a:solidFill>
                <a:srgbClr val="BDEFEA"/>
              </a:solidFill>
              <a:prstDash val="solid"/>
            </a:ln>
          </p:spPr>
        </p:sp>
        <p:sp>
          <p:nvSpPr>
            <p:cNvPr id="28" name="Shape 26"/>
            <p:cNvSpPr/>
            <p:nvPr>
              <p:custDataLst>
                <p:tags r:id="rId20"/>
              </p:custDataLst>
            </p:nvPr>
          </p:nvSpPr>
          <p:spPr>
            <a:xfrm>
              <a:off x="11739" y="4995"/>
              <a:ext cx="414" cy="563"/>
            </a:xfrm>
            <a:prstGeom prst="chevron">
              <a:avLst/>
            </a:prstGeom>
            <a:solidFill>
              <a:srgbClr val="FDE1A3"/>
            </a:solidFill>
            <a:ln w="12700">
              <a:solidFill>
                <a:srgbClr val="FDE1A3"/>
              </a:solidFill>
              <a:prstDash val="solid"/>
            </a:ln>
          </p:spPr>
        </p:sp>
        <p:sp>
          <p:nvSpPr>
            <p:cNvPr id="29" name="Shape 27"/>
            <p:cNvSpPr/>
            <p:nvPr>
              <p:custDataLst>
                <p:tags r:id="rId21"/>
              </p:custDataLst>
            </p:nvPr>
          </p:nvSpPr>
          <p:spPr>
            <a:xfrm>
              <a:off x="15440" y="4995"/>
              <a:ext cx="414" cy="563"/>
            </a:xfrm>
            <a:prstGeom prst="chevron">
              <a:avLst/>
            </a:prstGeom>
            <a:solidFill>
              <a:srgbClr val="FFD1B8"/>
            </a:solidFill>
            <a:ln w="12700">
              <a:solidFill>
                <a:srgbClr val="FFD1B8"/>
              </a:solidFill>
              <a:prstDash val="solid"/>
            </a:ln>
          </p:spPr>
        </p:sp>
      </p:grpSp>
      <p:sp>
        <p:nvSpPr>
          <p:cNvPr id="30"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2. AI 原生财务系统应具备哪些传统系统没有的能力</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从“功能菜单”升级为“认知 + 行动 + 治理”的复合能力体系</a:t>
            </a:r>
            <a:endParaRPr lang="en-US" sz="1000" dirty="0"/>
          </a:p>
        </p:txBody>
      </p:sp>
      <p:sp>
        <p:nvSpPr>
          <p:cNvPr id="5" name="Text 3"/>
          <p:cNvSpPr/>
          <p:nvPr/>
        </p:nvSpPr>
        <p:spPr>
          <a:xfrm>
            <a:off x="621792" y="1291082"/>
            <a:ext cx="1572768"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Capabilities</a:t>
            </a:r>
            <a:endParaRPr lang="en-US" sz="1050" dirty="0"/>
          </a:p>
        </p:txBody>
      </p:sp>
      <p:grpSp>
        <p:nvGrpSpPr>
          <p:cNvPr id="37" name="组合 36"/>
          <p:cNvGrpSpPr/>
          <p:nvPr>
            <p:custDataLst>
              <p:tags r:id="rId1"/>
            </p:custDataLst>
          </p:nvPr>
        </p:nvGrpSpPr>
        <p:grpSpPr>
          <a:xfrm>
            <a:off x="624968" y="1737360"/>
            <a:ext cx="11106785" cy="3508257"/>
            <a:chOff x="1123" y="2736"/>
            <a:chExt cx="17352" cy="5429"/>
          </a:xfrm>
        </p:grpSpPr>
        <p:sp>
          <p:nvSpPr>
            <p:cNvPr id="6" name="Shape 4"/>
            <p:cNvSpPr/>
            <p:nvPr>
              <p:custDataLst>
                <p:tags r:id="rId2"/>
              </p:custDataLst>
            </p:nvPr>
          </p:nvSpPr>
          <p:spPr>
            <a:xfrm>
              <a:off x="1123" y="2736"/>
              <a:ext cx="5400" cy="2477"/>
            </a:xfrm>
            <a:prstGeom prst="roundRect">
              <a:avLst>
                <a:gd name="adj" fmla="val 4651"/>
              </a:avLst>
            </a:prstGeom>
            <a:solidFill>
              <a:srgbClr val="FEFEFF"/>
            </a:solidFill>
            <a:ln w="12700">
              <a:solidFill>
                <a:srgbClr val="E7E9ED"/>
              </a:solidFill>
              <a:prstDash val="solid"/>
            </a:ln>
          </p:spPr>
        </p:sp>
        <p:sp>
          <p:nvSpPr>
            <p:cNvPr id="7" name="Shape 5"/>
            <p:cNvSpPr/>
            <p:nvPr>
              <p:custDataLst>
                <p:tags r:id="rId3"/>
              </p:custDataLst>
            </p:nvPr>
          </p:nvSpPr>
          <p:spPr>
            <a:xfrm>
              <a:off x="1382" y="2995"/>
              <a:ext cx="720" cy="720"/>
            </a:xfrm>
            <a:prstGeom prst="ellipse">
              <a:avLst/>
            </a:prstGeom>
            <a:solidFill>
              <a:srgbClr val="3B82F6"/>
            </a:solidFill>
            <a:ln w="12700">
              <a:solidFill>
                <a:srgbClr val="3B82F6"/>
              </a:solidFill>
              <a:prstDash val="solid"/>
            </a:ln>
          </p:spPr>
        </p:sp>
        <p:sp>
          <p:nvSpPr>
            <p:cNvPr id="8" name="Text 6"/>
            <p:cNvSpPr/>
            <p:nvPr>
              <p:custDataLst>
                <p:tags r:id="rId4"/>
              </p:custDataLst>
            </p:nvPr>
          </p:nvSpPr>
          <p:spPr>
            <a:xfrm>
              <a:off x="1382" y="3182"/>
              <a:ext cx="720" cy="374"/>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01</a:t>
              </a:r>
              <a:endParaRPr lang="en-US" sz="1000" dirty="0"/>
            </a:p>
          </p:txBody>
        </p:sp>
        <p:sp>
          <p:nvSpPr>
            <p:cNvPr id="9" name="Text 7"/>
            <p:cNvSpPr/>
            <p:nvPr>
              <p:custDataLst>
                <p:tags r:id="rId5"/>
              </p:custDataLst>
            </p:nvPr>
          </p:nvSpPr>
          <p:spPr>
            <a:xfrm>
              <a:off x="2304" y="3182"/>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自然语言财务交互</a:t>
              </a:r>
              <a:endParaRPr lang="en-US" sz="1500" dirty="0"/>
            </a:p>
          </p:txBody>
        </p:sp>
        <p:sp>
          <p:nvSpPr>
            <p:cNvPr id="10" name="Text 8"/>
            <p:cNvSpPr/>
            <p:nvPr>
              <p:custDataLst>
                <p:tags r:id="rId6"/>
              </p:custDataLst>
            </p:nvPr>
          </p:nvSpPr>
          <p:spPr>
            <a:xfrm>
              <a:off x="1439" y="3926"/>
              <a:ext cx="4824" cy="974"/>
            </a:xfrm>
            <a:prstGeom prst="rect">
              <a:avLst/>
            </a:prstGeom>
            <a:noFill/>
          </p:spPr>
          <p:txBody>
            <a:bodyPr wrap="square" lIns="0" tIns="0" rIns="0" bIns="0" rtlCol="0" anchor="ctr"/>
            <a:lstStyle/>
            <a:p>
              <a:pPr marL="0" indent="0" algn="just">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用业务语言直接问系统：利润为何波动、某客户回款异常原因是什么、某项费用是否超标。</a:t>
              </a:r>
              <a:endParaRPr lang="en-US" sz="1120" dirty="0"/>
            </a:p>
          </p:txBody>
        </p:sp>
        <p:sp>
          <p:nvSpPr>
            <p:cNvPr id="11" name="Shape 9"/>
            <p:cNvSpPr/>
            <p:nvPr>
              <p:custDataLst>
                <p:tags r:id="rId7"/>
              </p:custDataLst>
            </p:nvPr>
          </p:nvSpPr>
          <p:spPr>
            <a:xfrm>
              <a:off x="7099" y="2736"/>
              <a:ext cx="5400" cy="2477"/>
            </a:xfrm>
            <a:prstGeom prst="roundRect">
              <a:avLst>
                <a:gd name="adj" fmla="val 4651"/>
              </a:avLst>
            </a:prstGeom>
            <a:solidFill>
              <a:srgbClr val="FEFEFF"/>
            </a:solidFill>
            <a:ln w="12700">
              <a:solidFill>
                <a:srgbClr val="E7E9ED"/>
              </a:solidFill>
              <a:prstDash val="solid"/>
            </a:ln>
          </p:spPr>
        </p:sp>
        <p:sp>
          <p:nvSpPr>
            <p:cNvPr id="12" name="Shape 10"/>
            <p:cNvSpPr/>
            <p:nvPr>
              <p:custDataLst>
                <p:tags r:id="rId8"/>
              </p:custDataLst>
            </p:nvPr>
          </p:nvSpPr>
          <p:spPr>
            <a:xfrm>
              <a:off x="7358" y="2995"/>
              <a:ext cx="720" cy="720"/>
            </a:xfrm>
            <a:prstGeom prst="ellipse">
              <a:avLst/>
            </a:prstGeom>
            <a:solidFill>
              <a:srgbClr val="2F6BFF"/>
            </a:solidFill>
            <a:ln w="12700">
              <a:solidFill>
                <a:srgbClr val="2F6BFF"/>
              </a:solidFill>
              <a:prstDash val="solid"/>
            </a:ln>
          </p:spPr>
        </p:sp>
        <p:sp>
          <p:nvSpPr>
            <p:cNvPr id="13" name="Text 11"/>
            <p:cNvSpPr/>
            <p:nvPr>
              <p:custDataLst>
                <p:tags r:id="rId9"/>
              </p:custDataLst>
            </p:nvPr>
          </p:nvSpPr>
          <p:spPr>
            <a:xfrm>
              <a:off x="7358" y="3182"/>
              <a:ext cx="720" cy="374"/>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02</a:t>
              </a:r>
              <a:endParaRPr lang="en-US" sz="1000" dirty="0"/>
            </a:p>
          </p:txBody>
        </p:sp>
        <p:sp>
          <p:nvSpPr>
            <p:cNvPr id="14" name="Text 12"/>
            <p:cNvSpPr/>
            <p:nvPr>
              <p:custDataLst>
                <p:tags r:id="rId10"/>
              </p:custDataLst>
            </p:nvPr>
          </p:nvSpPr>
          <p:spPr>
            <a:xfrm>
              <a:off x="8295" y="3182"/>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单据理解与自动会计</a:t>
              </a:r>
              <a:endParaRPr lang="en-US" sz="1500" dirty="0"/>
            </a:p>
          </p:txBody>
        </p:sp>
        <p:sp>
          <p:nvSpPr>
            <p:cNvPr id="15" name="Text 13"/>
            <p:cNvSpPr/>
            <p:nvPr>
              <p:custDataLst>
                <p:tags r:id="rId11"/>
              </p:custDataLst>
            </p:nvPr>
          </p:nvSpPr>
          <p:spPr>
            <a:xfrm>
              <a:off x="7358" y="3816"/>
              <a:ext cx="4824" cy="1212"/>
            </a:xfrm>
            <a:prstGeom prst="rect">
              <a:avLst/>
            </a:prstGeom>
            <a:noFill/>
          </p:spPr>
          <p:txBody>
            <a:bodyPr wrap="square" lIns="0" tIns="0" rIns="0" bIns="0" rtlCol="0" anchor="ctr"/>
            <a:lstStyle/>
            <a:p>
              <a:pPr marL="0" indent="0">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系统能够读取合同、发票、报销附件、银行回单等内容，自动识别业务实质并给出会计处理建议。</a:t>
              </a:r>
              <a:endParaRPr lang="en-US" sz="1120" dirty="0"/>
            </a:p>
          </p:txBody>
        </p:sp>
        <p:sp>
          <p:nvSpPr>
            <p:cNvPr id="16" name="Shape 14"/>
            <p:cNvSpPr/>
            <p:nvPr>
              <p:custDataLst>
                <p:tags r:id="rId12"/>
              </p:custDataLst>
            </p:nvPr>
          </p:nvSpPr>
          <p:spPr>
            <a:xfrm>
              <a:off x="13075" y="2736"/>
              <a:ext cx="5400" cy="2477"/>
            </a:xfrm>
            <a:prstGeom prst="roundRect">
              <a:avLst>
                <a:gd name="adj" fmla="val 4651"/>
              </a:avLst>
            </a:prstGeom>
            <a:solidFill>
              <a:srgbClr val="FEFEFF"/>
            </a:solidFill>
            <a:ln w="12700">
              <a:solidFill>
                <a:srgbClr val="E7E9ED"/>
              </a:solidFill>
              <a:prstDash val="solid"/>
            </a:ln>
          </p:spPr>
        </p:sp>
        <p:sp>
          <p:nvSpPr>
            <p:cNvPr id="17" name="Shape 15"/>
            <p:cNvSpPr/>
            <p:nvPr>
              <p:custDataLst>
                <p:tags r:id="rId13"/>
              </p:custDataLst>
            </p:nvPr>
          </p:nvSpPr>
          <p:spPr>
            <a:xfrm>
              <a:off x="13334" y="2995"/>
              <a:ext cx="720" cy="720"/>
            </a:xfrm>
            <a:prstGeom prst="ellipse">
              <a:avLst/>
            </a:prstGeom>
            <a:solidFill>
              <a:srgbClr val="C61F26"/>
            </a:solidFill>
            <a:ln w="12700">
              <a:solidFill>
                <a:srgbClr val="C61F26"/>
              </a:solidFill>
              <a:prstDash val="solid"/>
            </a:ln>
          </p:spPr>
        </p:sp>
        <p:sp>
          <p:nvSpPr>
            <p:cNvPr id="18" name="Text 16"/>
            <p:cNvSpPr/>
            <p:nvPr>
              <p:custDataLst>
                <p:tags r:id="rId14"/>
              </p:custDataLst>
            </p:nvPr>
          </p:nvSpPr>
          <p:spPr>
            <a:xfrm>
              <a:off x="13334" y="3182"/>
              <a:ext cx="720" cy="374"/>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03</a:t>
              </a:r>
              <a:endParaRPr lang="en-US" sz="1000" dirty="0"/>
            </a:p>
          </p:txBody>
        </p:sp>
        <p:sp>
          <p:nvSpPr>
            <p:cNvPr id="19" name="Text 17"/>
            <p:cNvSpPr/>
            <p:nvPr>
              <p:custDataLst>
                <p:tags r:id="rId15"/>
              </p:custDataLst>
            </p:nvPr>
          </p:nvSpPr>
          <p:spPr>
            <a:xfrm>
              <a:off x="14265" y="3182"/>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持续异常检测</a:t>
              </a:r>
              <a:endParaRPr lang="en-US" sz="1500" dirty="0"/>
            </a:p>
          </p:txBody>
        </p:sp>
        <p:sp>
          <p:nvSpPr>
            <p:cNvPr id="20" name="Text 18"/>
            <p:cNvSpPr/>
            <p:nvPr>
              <p:custDataLst>
                <p:tags r:id="rId16"/>
              </p:custDataLst>
            </p:nvPr>
          </p:nvSpPr>
          <p:spPr>
            <a:xfrm>
              <a:off x="13334" y="3816"/>
              <a:ext cx="4824" cy="1080"/>
            </a:xfrm>
            <a:prstGeom prst="rect">
              <a:avLst/>
            </a:prstGeom>
            <a:noFill/>
          </p:spPr>
          <p:txBody>
            <a:bodyPr wrap="square" lIns="0" tIns="0" rIns="0" bIns="0" rtlCol="0" anchor="ctr"/>
            <a:lstStyle/>
            <a:p>
              <a:pPr marL="0" indent="0">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不再依赖月底人工分析，系统对交易、费用、往来、税负、库存、回款进行连续扫描和预警。</a:t>
              </a:r>
              <a:endParaRPr lang="en-US" sz="1120" dirty="0"/>
            </a:p>
          </p:txBody>
        </p:sp>
        <p:sp>
          <p:nvSpPr>
            <p:cNvPr id="21" name="Shape 19"/>
            <p:cNvSpPr/>
            <p:nvPr>
              <p:custDataLst>
                <p:tags r:id="rId17"/>
              </p:custDataLst>
            </p:nvPr>
          </p:nvSpPr>
          <p:spPr>
            <a:xfrm>
              <a:off x="1123" y="5688"/>
              <a:ext cx="5400" cy="2477"/>
            </a:xfrm>
            <a:prstGeom prst="roundRect">
              <a:avLst>
                <a:gd name="adj" fmla="val 4651"/>
              </a:avLst>
            </a:prstGeom>
            <a:solidFill>
              <a:srgbClr val="FEFEFF"/>
            </a:solidFill>
            <a:ln w="12700">
              <a:solidFill>
                <a:srgbClr val="E7E9ED"/>
              </a:solidFill>
              <a:prstDash val="solid"/>
            </a:ln>
          </p:spPr>
        </p:sp>
        <p:sp>
          <p:nvSpPr>
            <p:cNvPr id="22" name="Shape 20"/>
            <p:cNvSpPr/>
            <p:nvPr>
              <p:custDataLst>
                <p:tags r:id="rId18"/>
              </p:custDataLst>
            </p:nvPr>
          </p:nvSpPr>
          <p:spPr>
            <a:xfrm>
              <a:off x="1382" y="5947"/>
              <a:ext cx="720" cy="720"/>
            </a:xfrm>
            <a:prstGeom prst="ellipse">
              <a:avLst/>
            </a:prstGeom>
            <a:solidFill>
              <a:srgbClr val="E25A3B"/>
            </a:solidFill>
            <a:ln w="12700">
              <a:solidFill>
                <a:srgbClr val="E25A3B"/>
              </a:solidFill>
              <a:prstDash val="solid"/>
            </a:ln>
          </p:spPr>
        </p:sp>
        <p:sp>
          <p:nvSpPr>
            <p:cNvPr id="23" name="Text 21"/>
            <p:cNvSpPr/>
            <p:nvPr>
              <p:custDataLst>
                <p:tags r:id="rId19"/>
              </p:custDataLst>
            </p:nvPr>
          </p:nvSpPr>
          <p:spPr>
            <a:xfrm>
              <a:off x="1382" y="6135"/>
              <a:ext cx="720" cy="362"/>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04</a:t>
              </a:r>
              <a:endParaRPr lang="en-US" sz="1000" dirty="0"/>
            </a:p>
          </p:txBody>
        </p:sp>
        <p:sp>
          <p:nvSpPr>
            <p:cNvPr id="24" name="Text 22"/>
            <p:cNvSpPr/>
            <p:nvPr>
              <p:custDataLst>
                <p:tags r:id="rId20"/>
              </p:custDataLst>
            </p:nvPr>
          </p:nvSpPr>
          <p:spPr>
            <a:xfrm>
              <a:off x="2304" y="6134"/>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预测与模拟</a:t>
              </a:r>
              <a:endParaRPr lang="en-US" sz="1500" dirty="0"/>
            </a:p>
          </p:txBody>
        </p:sp>
        <p:sp>
          <p:nvSpPr>
            <p:cNvPr id="25" name="Text 23"/>
            <p:cNvSpPr/>
            <p:nvPr>
              <p:custDataLst>
                <p:tags r:id="rId21"/>
              </p:custDataLst>
            </p:nvPr>
          </p:nvSpPr>
          <p:spPr>
            <a:xfrm>
              <a:off x="1440" y="6769"/>
              <a:ext cx="4824" cy="1080"/>
            </a:xfrm>
            <a:prstGeom prst="rect">
              <a:avLst/>
            </a:prstGeom>
            <a:noFill/>
          </p:spPr>
          <p:txBody>
            <a:bodyPr wrap="square" lIns="0" tIns="0" rIns="0" bIns="0" rtlCol="0" anchor="ctr"/>
            <a:lstStyle/>
            <a:p>
              <a:pPr marL="0" indent="0">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结合历史、预算、订单、现金流和政策约束，对收入、利润、资金、税负进行动态预测和情景模拟。</a:t>
              </a:r>
              <a:endParaRPr lang="en-US" sz="1120" dirty="0"/>
            </a:p>
          </p:txBody>
        </p:sp>
        <p:sp>
          <p:nvSpPr>
            <p:cNvPr id="26" name="Shape 24"/>
            <p:cNvSpPr/>
            <p:nvPr>
              <p:custDataLst>
                <p:tags r:id="rId22"/>
              </p:custDataLst>
            </p:nvPr>
          </p:nvSpPr>
          <p:spPr>
            <a:xfrm>
              <a:off x="7099" y="5688"/>
              <a:ext cx="5400" cy="2477"/>
            </a:xfrm>
            <a:prstGeom prst="roundRect">
              <a:avLst>
                <a:gd name="adj" fmla="val 4651"/>
              </a:avLst>
            </a:prstGeom>
            <a:solidFill>
              <a:srgbClr val="FEFEFF"/>
            </a:solidFill>
            <a:ln w="12700">
              <a:solidFill>
                <a:srgbClr val="E7E9ED"/>
              </a:solidFill>
              <a:prstDash val="solid"/>
            </a:ln>
          </p:spPr>
        </p:sp>
        <p:sp>
          <p:nvSpPr>
            <p:cNvPr id="27" name="Shape 25"/>
            <p:cNvSpPr/>
            <p:nvPr>
              <p:custDataLst>
                <p:tags r:id="rId23"/>
              </p:custDataLst>
            </p:nvPr>
          </p:nvSpPr>
          <p:spPr>
            <a:xfrm>
              <a:off x="7358" y="5947"/>
              <a:ext cx="720" cy="720"/>
            </a:xfrm>
            <a:prstGeom prst="ellipse">
              <a:avLst/>
            </a:prstGeom>
            <a:solidFill>
              <a:srgbClr val="2F3440"/>
            </a:solidFill>
            <a:ln w="12700">
              <a:solidFill>
                <a:srgbClr val="2F3440"/>
              </a:solidFill>
              <a:prstDash val="solid"/>
            </a:ln>
          </p:spPr>
        </p:sp>
        <p:sp>
          <p:nvSpPr>
            <p:cNvPr id="28" name="Text 26"/>
            <p:cNvSpPr/>
            <p:nvPr>
              <p:custDataLst>
                <p:tags r:id="rId24"/>
              </p:custDataLst>
            </p:nvPr>
          </p:nvSpPr>
          <p:spPr>
            <a:xfrm>
              <a:off x="7358" y="6135"/>
              <a:ext cx="720" cy="389"/>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05</a:t>
              </a:r>
              <a:endParaRPr lang="en-US" sz="1000" dirty="0"/>
            </a:p>
          </p:txBody>
        </p:sp>
        <p:sp>
          <p:nvSpPr>
            <p:cNvPr id="29" name="Text 27"/>
            <p:cNvSpPr/>
            <p:nvPr>
              <p:custDataLst>
                <p:tags r:id="rId25"/>
              </p:custDataLst>
            </p:nvPr>
          </p:nvSpPr>
          <p:spPr>
            <a:xfrm>
              <a:off x="8286" y="6134"/>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Agent 化执行</a:t>
              </a:r>
              <a:endParaRPr lang="en-US" sz="1500" dirty="0"/>
            </a:p>
          </p:txBody>
        </p:sp>
        <p:sp>
          <p:nvSpPr>
            <p:cNvPr id="30" name="Text 28"/>
            <p:cNvSpPr/>
            <p:nvPr>
              <p:custDataLst>
                <p:tags r:id="rId26"/>
              </p:custDataLst>
            </p:nvPr>
          </p:nvSpPr>
          <p:spPr>
            <a:xfrm>
              <a:off x="7387" y="6740"/>
              <a:ext cx="4824" cy="1080"/>
            </a:xfrm>
            <a:prstGeom prst="rect">
              <a:avLst/>
            </a:prstGeom>
            <a:noFill/>
          </p:spPr>
          <p:txBody>
            <a:bodyPr wrap="square" lIns="0" tIns="0" rIns="0" bIns="0" rtlCol="0" anchor="ctr"/>
            <a:lstStyle/>
            <a:p>
              <a:pPr marL="0" indent="0">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不仅回答问题，还能代办任务：发起催收、补齐资料、生成分析报告、触发审批与任务流。</a:t>
              </a:r>
              <a:endParaRPr lang="en-US" sz="1120" dirty="0"/>
            </a:p>
          </p:txBody>
        </p:sp>
        <p:sp>
          <p:nvSpPr>
            <p:cNvPr id="31" name="Shape 29"/>
            <p:cNvSpPr/>
            <p:nvPr>
              <p:custDataLst>
                <p:tags r:id="rId27"/>
              </p:custDataLst>
            </p:nvPr>
          </p:nvSpPr>
          <p:spPr>
            <a:xfrm>
              <a:off x="13075" y="5688"/>
              <a:ext cx="5400" cy="2477"/>
            </a:xfrm>
            <a:prstGeom prst="roundRect">
              <a:avLst>
                <a:gd name="adj" fmla="val 4651"/>
              </a:avLst>
            </a:prstGeom>
            <a:solidFill>
              <a:srgbClr val="FEFEFF"/>
            </a:solidFill>
            <a:ln w="12700">
              <a:solidFill>
                <a:srgbClr val="E7E9ED"/>
              </a:solidFill>
              <a:prstDash val="solid"/>
            </a:ln>
          </p:spPr>
        </p:sp>
        <p:sp>
          <p:nvSpPr>
            <p:cNvPr id="32" name="Shape 30"/>
            <p:cNvSpPr/>
            <p:nvPr>
              <p:custDataLst>
                <p:tags r:id="rId28"/>
              </p:custDataLst>
            </p:nvPr>
          </p:nvSpPr>
          <p:spPr>
            <a:xfrm>
              <a:off x="13334" y="5947"/>
              <a:ext cx="720" cy="720"/>
            </a:xfrm>
            <a:prstGeom prst="ellipse">
              <a:avLst/>
            </a:prstGeom>
            <a:solidFill>
              <a:srgbClr val="C61F26"/>
            </a:solidFill>
            <a:ln w="12700">
              <a:solidFill>
                <a:srgbClr val="C61F26"/>
              </a:solidFill>
              <a:prstDash val="solid"/>
            </a:ln>
          </p:spPr>
        </p:sp>
        <p:sp>
          <p:nvSpPr>
            <p:cNvPr id="33" name="Text 31"/>
            <p:cNvSpPr/>
            <p:nvPr>
              <p:custDataLst>
                <p:tags r:id="rId29"/>
              </p:custDataLst>
            </p:nvPr>
          </p:nvSpPr>
          <p:spPr>
            <a:xfrm>
              <a:off x="13334" y="6135"/>
              <a:ext cx="720" cy="370"/>
            </a:xfrm>
            <a:prstGeom prst="rect">
              <a:avLst/>
            </a:prstGeom>
            <a:noFill/>
          </p:spPr>
          <p:txBody>
            <a:bodyPr wrap="square" lIns="0" tIns="0" rIns="0" bIns="0" rtlCol="0" anchor="ctr"/>
            <a:lstStyle/>
            <a:p>
              <a:pPr marL="0" indent="0" algn="ctr">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06</a:t>
              </a:r>
              <a:endParaRPr lang="en-US" sz="1000" dirty="0"/>
            </a:p>
          </p:txBody>
        </p:sp>
        <p:sp>
          <p:nvSpPr>
            <p:cNvPr id="34" name="Text 32"/>
            <p:cNvSpPr/>
            <p:nvPr>
              <p:custDataLst>
                <p:tags r:id="rId30"/>
              </p:custDataLst>
            </p:nvPr>
          </p:nvSpPr>
          <p:spPr>
            <a:xfrm>
              <a:off x="14266" y="6134"/>
              <a:ext cx="3888" cy="374"/>
            </a:xfrm>
            <a:prstGeom prst="rect">
              <a:avLst/>
            </a:prstGeom>
            <a:noFill/>
          </p:spPr>
          <p:txBody>
            <a:bodyPr wrap="square" lIns="0" tIns="0" rIns="0" bIns="0" rtlCol="0" anchor="ctr"/>
            <a:lstStyle/>
            <a:p>
              <a:pPr marL="0" indent="0">
                <a:buNone/>
              </a:pPr>
              <a:r>
                <a:rPr lang="en-US" sz="1500" b="1" dirty="0">
                  <a:solidFill>
                    <a:srgbClr val="2F3440"/>
                  </a:solidFill>
                  <a:latin typeface="微软雅黑" panose="020B0503020204020204" charset="-122"/>
                  <a:ea typeface="微软雅黑" panose="020B0503020204020204" charset="-122"/>
                  <a:cs typeface="微软雅黑" panose="020B0503020204020204" pitchFamily="34" charset="-120"/>
                </a:rPr>
                <a:t>可审计的 AI 治理</a:t>
              </a:r>
              <a:endParaRPr lang="en-US" sz="1500" dirty="0"/>
            </a:p>
          </p:txBody>
        </p:sp>
        <p:sp>
          <p:nvSpPr>
            <p:cNvPr id="35" name="Text 33"/>
            <p:cNvSpPr/>
            <p:nvPr>
              <p:custDataLst>
                <p:tags r:id="rId31"/>
              </p:custDataLst>
            </p:nvPr>
          </p:nvSpPr>
          <p:spPr>
            <a:xfrm>
              <a:off x="13406" y="6740"/>
              <a:ext cx="4824" cy="1080"/>
            </a:xfrm>
            <a:prstGeom prst="rect">
              <a:avLst/>
            </a:prstGeom>
            <a:noFill/>
          </p:spPr>
          <p:txBody>
            <a:bodyPr wrap="square" lIns="0" tIns="0" rIns="0" bIns="0" rtlCol="0" anchor="ctr"/>
            <a:lstStyle/>
            <a:p>
              <a:pPr marL="0" indent="0">
                <a:lnSpc>
                  <a:spcPct val="150000"/>
                </a:lnSpc>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每一次 AI 判断、引用依据、调用数据、触发动作和人工确认都留痕，保证可信与可监管。</a:t>
              </a:r>
              <a:endParaRPr lang="en-US" sz="1120" dirty="0"/>
            </a:p>
          </p:txBody>
        </p:sp>
      </p:grpSp>
      <p:sp>
        <p:nvSpPr>
          <p:cNvPr id="36"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能力一：自然语言财务交互，让系统真正“听得懂业务”</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把财务分析门槛从“会系统、会报表、会 SQL”降到“会提问题”</a:t>
            </a:r>
            <a:endParaRPr lang="en-US" sz="1000" dirty="0"/>
          </a:p>
        </p:txBody>
      </p:sp>
      <p:sp>
        <p:nvSpPr>
          <p:cNvPr id="5" name="Text 3"/>
          <p:cNvSpPr/>
          <p:nvPr/>
        </p:nvSpPr>
        <p:spPr>
          <a:xfrm>
            <a:off x="640207" y="1298702"/>
            <a:ext cx="128016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Copilot</a:t>
            </a:r>
            <a:endParaRPr lang="en-US" sz="1050" dirty="0"/>
          </a:p>
        </p:txBody>
      </p:sp>
      <p:sp>
        <p:nvSpPr>
          <p:cNvPr id="6" name="Shape 4"/>
          <p:cNvSpPr/>
          <p:nvPr/>
        </p:nvSpPr>
        <p:spPr>
          <a:xfrm>
            <a:off x="713105" y="1691640"/>
            <a:ext cx="3840480" cy="4492625"/>
          </a:xfrm>
          <a:prstGeom prst="roundRect">
            <a:avLst>
              <a:gd name="adj" fmla="val 1905"/>
            </a:avLst>
          </a:prstGeom>
          <a:solidFill>
            <a:srgbClr val="0E2238"/>
          </a:solidFill>
          <a:ln w="12700">
            <a:solidFill>
              <a:srgbClr val="0E2238"/>
            </a:solidFill>
            <a:prstDash val="solid"/>
          </a:ln>
        </p:spPr>
      </p:sp>
      <p:sp>
        <p:nvSpPr>
          <p:cNvPr id="7" name="Text 5"/>
          <p:cNvSpPr/>
          <p:nvPr/>
        </p:nvSpPr>
        <p:spPr>
          <a:xfrm>
            <a:off x="960120" y="1901952"/>
            <a:ext cx="1645920" cy="201168"/>
          </a:xfrm>
          <a:prstGeom prst="rect">
            <a:avLst/>
          </a:prstGeom>
          <a:noFill/>
        </p:spPr>
        <p:txBody>
          <a:bodyPr wrap="square" lIns="0" tIns="0" rIns="0" bIns="0" rtlCol="0" anchor="ctr"/>
          <a:lstStyle/>
          <a:p>
            <a:pPr marL="0" indent="0">
              <a:buNone/>
            </a:pPr>
            <a:r>
              <a:rPr lang="en-US" sz="1700" b="1" dirty="0">
                <a:solidFill>
                  <a:srgbClr val="FFFFFF"/>
                </a:solidFill>
                <a:latin typeface="微软雅黑" panose="020B0503020204020204" charset="-122"/>
                <a:ea typeface="微软雅黑" panose="020B0503020204020204" charset="-122"/>
                <a:cs typeface="微软雅黑" panose="020B0503020204020204" pitchFamily="34" charset="-120"/>
              </a:rPr>
              <a:t>示例对话场景</a:t>
            </a:r>
            <a:endParaRPr lang="en-US" sz="1700" dirty="0"/>
          </a:p>
        </p:txBody>
      </p:sp>
      <p:sp>
        <p:nvSpPr>
          <p:cNvPr id="8" name="Shape 6"/>
          <p:cNvSpPr/>
          <p:nvPr/>
        </p:nvSpPr>
        <p:spPr>
          <a:xfrm>
            <a:off x="914400" y="2267712"/>
            <a:ext cx="3108960" cy="438912"/>
          </a:xfrm>
          <a:prstGeom prst="roundRect">
            <a:avLst>
              <a:gd name="adj" fmla="val 12500"/>
            </a:avLst>
          </a:prstGeom>
          <a:solidFill>
            <a:srgbClr val="183553"/>
          </a:solidFill>
          <a:ln w="12700">
            <a:solidFill>
              <a:srgbClr val="183553"/>
            </a:solidFill>
            <a:prstDash val="solid"/>
          </a:ln>
        </p:spPr>
      </p:sp>
      <p:sp>
        <p:nvSpPr>
          <p:cNvPr id="9" name="Text 7"/>
          <p:cNvSpPr/>
          <p:nvPr/>
        </p:nvSpPr>
        <p:spPr>
          <a:xfrm>
            <a:off x="1051560" y="2359152"/>
            <a:ext cx="2788920" cy="347472"/>
          </a:xfrm>
          <a:prstGeom prst="rect">
            <a:avLst/>
          </a:prstGeom>
          <a:noFill/>
        </p:spPr>
        <p:txBody>
          <a:bodyPr wrap="square" lIns="0" tIns="0" rIns="0" bIns="0" rtlCol="0" anchor="ctr"/>
          <a:lstStyle/>
          <a:p>
            <a:pPr marL="0" indent="0">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Q：本月华东区利润率为什么下降？</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nvSpPr>
        <p:spPr>
          <a:xfrm>
            <a:off x="1371600" y="2852928"/>
            <a:ext cx="3108960" cy="576072"/>
          </a:xfrm>
          <a:prstGeom prst="roundRect">
            <a:avLst>
              <a:gd name="adj" fmla="val 9524"/>
            </a:avLst>
          </a:prstGeom>
          <a:solidFill>
            <a:srgbClr val="113B37"/>
          </a:solidFill>
          <a:ln w="12700">
            <a:solidFill>
              <a:srgbClr val="113B37"/>
            </a:solidFill>
            <a:prstDash val="solid"/>
          </a:ln>
        </p:spPr>
      </p:sp>
      <p:sp>
        <p:nvSpPr>
          <p:cNvPr id="11" name="Text 9"/>
          <p:cNvSpPr/>
          <p:nvPr/>
        </p:nvSpPr>
        <p:spPr>
          <a:xfrm>
            <a:off x="1508760" y="2944368"/>
            <a:ext cx="2788920" cy="347472"/>
          </a:xfrm>
          <a:prstGeom prst="rect">
            <a:avLst/>
          </a:prstGeom>
          <a:noFill/>
        </p:spPr>
        <p:txBody>
          <a:bodyPr wrap="square" lIns="0" tIns="0" rIns="0" bIns="0" rtlCol="0" anchor="ctr"/>
          <a:lstStyle/>
          <a:p>
            <a:pPr marL="0" indent="0">
              <a:lnSpc>
                <a:spcPct val="150000"/>
              </a:lnSpc>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A：主要由 3 个因素驱动：价格折让增加、运输费用上升、2 个项目回款推迟导致收入确认延后。</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12" name="Shape 10"/>
          <p:cNvSpPr/>
          <p:nvPr/>
        </p:nvSpPr>
        <p:spPr>
          <a:xfrm>
            <a:off x="914400" y="3566160"/>
            <a:ext cx="3108960" cy="438912"/>
          </a:xfrm>
          <a:prstGeom prst="roundRect">
            <a:avLst>
              <a:gd name="adj" fmla="val 12500"/>
            </a:avLst>
          </a:prstGeom>
          <a:solidFill>
            <a:srgbClr val="183553"/>
          </a:solidFill>
          <a:ln w="12700">
            <a:solidFill>
              <a:srgbClr val="183553"/>
            </a:solidFill>
            <a:prstDash val="solid"/>
          </a:ln>
        </p:spPr>
      </p:sp>
      <p:sp>
        <p:nvSpPr>
          <p:cNvPr id="13" name="Text 11"/>
          <p:cNvSpPr/>
          <p:nvPr/>
        </p:nvSpPr>
        <p:spPr>
          <a:xfrm>
            <a:off x="1051560" y="3657600"/>
            <a:ext cx="2788920" cy="347472"/>
          </a:xfrm>
          <a:prstGeom prst="rect">
            <a:avLst/>
          </a:prstGeom>
          <a:noFill/>
        </p:spPr>
        <p:txBody>
          <a:bodyPr wrap="square" lIns="0" tIns="0" rIns="0" bIns="0" rtlCol="0" anchor="ctr"/>
          <a:lstStyle/>
          <a:p>
            <a:pPr marL="0" indent="0">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Q：哪些项目影响最大？</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nvSpPr>
        <p:spPr>
          <a:xfrm>
            <a:off x="1371600" y="4151376"/>
            <a:ext cx="3108960" cy="576072"/>
          </a:xfrm>
          <a:prstGeom prst="roundRect">
            <a:avLst>
              <a:gd name="adj" fmla="val 9524"/>
            </a:avLst>
          </a:prstGeom>
          <a:solidFill>
            <a:srgbClr val="113B37"/>
          </a:solidFill>
          <a:ln w="12700">
            <a:solidFill>
              <a:srgbClr val="113B37"/>
            </a:solidFill>
            <a:prstDash val="solid"/>
          </a:ln>
        </p:spPr>
      </p:sp>
      <p:sp>
        <p:nvSpPr>
          <p:cNvPr id="15" name="Text 13"/>
          <p:cNvSpPr/>
          <p:nvPr/>
        </p:nvSpPr>
        <p:spPr>
          <a:xfrm>
            <a:off x="1508760" y="4242816"/>
            <a:ext cx="2788920" cy="347472"/>
          </a:xfrm>
          <a:prstGeom prst="rect">
            <a:avLst/>
          </a:prstGeom>
          <a:noFill/>
        </p:spPr>
        <p:txBody>
          <a:bodyPr wrap="square" lIns="0" tIns="0" rIns="0" bIns="0" rtlCol="0" anchor="ctr"/>
          <a:lstStyle/>
          <a:p>
            <a:pPr marL="0" indent="0">
              <a:lnSpc>
                <a:spcPct val="150000"/>
              </a:lnSpc>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A：系统已定位到项目 A/项目 B，并给出对应合同、发票、回款和费用穿透分析。</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16" name="Shape 14"/>
          <p:cNvSpPr/>
          <p:nvPr/>
        </p:nvSpPr>
        <p:spPr>
          <a:xfrm>
            <a:off x="914400" y="4864608"/>
            <a:ext cx="3108960" cy="438912"/>
          </a:xfrm>
          <a:prstGeom prst="roundRect">
            <a:avLst>
              <a:gd name="adj" fmla="val 12500"/>
            </a:avLst>
          </a:prstGeom>
          <a:solidFill>
            <a:srgbClr val="183553"/>
          </a:solidFill>
          <a:ln w="12700">
            <a:solidFill>
              <a:srgbClr val="183553"/>
            </a:solidFill>
            <a:prstDash val="solid"/>
          </a:ln>
        </p:spPr>
      </p:sp>
      <p:sp>
        <p:nvSpPr>
          <p:cNvPr id="17" name="Text 15"/>
          <p:cNvSpPr/>
          <p:nvPr/>
        </p:nvSpPr>
        <p:spPr>
          <a:xfrm>
            <a:off x="1051560" y="4956048"/>
            <a:ext cx="2788920" cy="347472"/>
          </a:xfrm>
          <a:prstGeom prst="rect">
            <a:avLst/>
          </a:prstGeom>
          <a:noFill/>
        </p:spPr>
        <p:txBody>
          <a:bodyPr wrap="square" lIns="0" tIns="0" rIns="0" bIns="0" rtlCol="0" anchor="ctr"/>
          <a:lstStyle/>
          <a:p>
            <a:pPr marL="0" indent="0">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Q：需要我做什么？</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nvSpPr>
        <p:spPr>
          <a:xfrm>
            <a:off x="1371600" y="5449824"/>
            <a:ext cx="3108960" cy="576072"/>
          </a:xfrm>
          <a:prstGeom prst="roundRect">
            <a:avLst>
              <a:gd name="adj" fmla="val 9524"/>
            </a:avLst>
          </a:prstGeom>
          <a:solidFill>
            <a:srgbClr val="113B37"/>
          </a:solidFill>
          <a:ln w="12700">
            <a:solidFill>
              <a:srgbClr val="113B37"/>
            </a:solidFill>
            <a:prstDash val="solid"/>
          </a:ln>
        </p:spPr>
      </p:sp>
      <p:sp>
        <p:nvSpPr>
          <p:cNvPr id="19" name="Text 17"/>
          <p:cNvSpPr/>
          <p:nvPr/>
        </p:nvSpPr>
        <p:spPr>
          <a:xfrm>
            <a:off x="1508760" y="5541264"/>
            <a:ext cx="2788920" cy="347472"/>
          </a:xfrm>
          <a:prstGeom prst="rect">
            <a:avLst/>
          </a:prstGeom>
          <a:noFill/>
        </p:spPr>
        <p:txBody>
          <a:bodyPr wrap="square" lIns="0" tIns="0" rIns="0" bIns="0" rtlCol="0" anchor="ctr"/>
          <a:lstStyle/>
          <a:p>
            <a:pPr marL="0" indent="0">
              <a:lnSpc>
                <a:spcPct val="150000"/>
              </a:lnSpc>
              <a:buNone/>
            </a:pPr>
            <a:r>
              <a:rPr lang="en-US" sz="1000" b="1" dirty="0">
                <a:solidFill>
                  <a:srgbClr val="FFFFFF"/>
                </a:solidFill>
                <a:latin typeface="微软雅黑" panose="020B0503020204020204" charset="-122"/>
                <a:ea typeface="微软雅黑" panose="020B0503020204020204" charset="-122"/>
                <a:cs typeface="微软雅黑" panose="020B0503020204020204" pitchFamily="34" charset="-120"/>
              </a:rPr>
              <a:t>A：已生成销售回款跟进清单，并建议调整项目 A 的费用归集规则。</a:t>
            </a:r>
            <a:endParaRPr lang="en-US" sz="1000" b="1" dirty="0">
              <a:solidFill>
                <a:srgbClr val="FFFFFF"/>
              </a:solidFill>
              <a:latin typeface="微软雅黑" panose="020B0503020204020204" charset="-122"/>
              <a:ea typeface="微软雅黑" panose="020B0503020204020204" charset="-122"/>
              <a:cs typeface="微软雅黑" panose="020B0503020204020204" pitchFamily="34" charset="-120"/>
            </a:endParaRPr>
          </a:p>
        </p:txBody>
      </p:sp>
      <p:grpSp>
        <p:nvGrpSpPr>
          <p:cNvPr id="33" name="组合 32"/>
          <p:cNvGrpSpPr/>
          <p:nvPr/>
        </p:nvGrpSpPr>
        <p:grpSpPr>
          <a:xfrm>
            <a:off x="4800600" y="1737360"/>
            <a:ext cx="6635115" cy="4445582"/>
            <a:chOff x="7560" y="2736"/>
            <a:chExt cx="10109" cy="6457"/>
          </a:xfrm>
        </p:grpSpPr>
        <p:sp>
          <p:nvSpPr>
            <p:cNvPr id="20" name="Shape 18"/>
            <p:cNvSpPr/>
            <p:nvPr/>
          </p:nvSpPr>
          <p:spPr>
            <a:xfrm>
              <a:off x="7560" y="2736"/>
              <a:ext cx="4824" cy="2447"/>
            </a:xfrm>
            <a:prstGeom prst="roundRect">
              <a:avLst>
                <a:gd name="adj" fmla="val 7742"/>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21" name="Text 19"/>
            <p:cNvSpPr/>
            <p:nvPr/>
          </p:nvSpPr>
          <p:spPr>
            <a:xfrm>
              <a:off x="7841" y="3053"/>
              <a:ext cx="4190"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传统方式</a:t>
              </a:r>
              <a:endParaRPr lang="en-US" sz="1460" dirty="0"/>
            </a:p>
          </p:txBody>
        </p:sp>
        <p:sp>
          <p:nvSpPr>
            <p:cNvPr id="22" name="Shape 20"/>
            <p:cNvSpPr/>
            <p:nvPr/>
          </p:nvSpPr>
          <p:spPr>
            <a:xfrm>
              <a:off x="7877" y="3528"/>
              <a:ext cx="259" cy="58"/>
            </a:xfrm>
            <a:prstGeom prst="rect">
              <a:avLst/>
            </a:prstGeom>
            <a:solidFill>
              <a:srgbClr val="E25A3B"/>
            </a:solidFill>
            <a:ln w="12700">
              <a:solidFill>
                <a:srgbClr val="E25A3B"/>
              </a:solidFill>
              <a:prstDash val="solid"/>
            </a:ln>
          </p:spPr>
        </p:sp>
        <p:sp>
          <p:nvSpPr>
            <p:cNvPr id="23" name="Text 21"/>
            <p:cNvSpPr/>
            <p:nvPr/>
          </p:nvSpPr>
          <p:spPr>
            <a:xfrm>
              <a:off x="7840" y="3785"/>
              <a:ext cx="4293" cy="1342"/>
            </a:xfrm>
            <a:prstGeom prst="rect">
              <a:avLst/>
            </a:prstGeom>
            <a:noFill/>
          </p:spPr>
          <p:txBody>
            <a:bodyPr wrap="square" lIns="0" tIns="0" rIns="0" bIns="0" rtlCol="0" anchor="t">
              <a:no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需要财务人员先导报表、再手工分析、再找业务核对；问题定位慢，跨系统追溯难。</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24" name="Shape 22"/>
            <p:cNvSpPr/>
            <p:nvPr/>
          </p:nvSpPr>
          <p:spPr>
            <a:xfrm>
              <a:off x="12701" y="2736"/>
              <a:ext cx="4968" cy="2447"/>
            </a:xfrm>
            <a:prstGeom prst="roundRect">
              <a:avLst>
                <a:gd name="adj" fmla="val 7742"/>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25" name="Text 23"/>
            <p:cNvSpPr/>
            <p:nvPr/>
          </p:nvSpPr>
          <p:spPr>
            <a:xfrm>
              <a:off x="13018" y="3053"/>
              <a:ext cx="4334"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AI 原生方式</a:t>
              </a:r>
              <a:endParaRPr lang="en-US" sz="1460" dirty="0"/>
            </a:p>
          </p:txBody>
        </p:sp>
        <p:sp>
          <p:nvSpPr>
            <p:cNvPr id="26" name="Shape 24"/>
            <p:cNvSpPr/>
            <p:nvPr/>
          </p:nvSpPr>
          <p:spPr>
            <a:xfrm>
              <a:off x="13018" y="3528"/>
              <a:ext cx="259" cy="58"/>
            </a:xfrm>
            <a:prstGeom prst="rect">
              <a:avLst/>
            </a:prstGeom>
            <a:solidFill>
              <a:srgbClr val="2F6BFF"/>
            </a:solidFill>
            <a:ln w="12700">
              <a:solidFill>
                <a:srgbClr val="2F6BFF"/>
              </a:solidFill>
              <a:prstDash val="solid"/>
            </a:ln>
          </p:spPr>
        </p:sp>
        <p:sp>
          <p:nvSpPr>
            <p:cNvPr id="27" name="Text 25"/>
            <p:cNvSpPr/>
            <p:nvPr/>
          </p:nvSpPr>
          <p:spPr>
            <a:xfrm>
              <a:off x="13003" y="3600"/>
              <a:ext cx="4334" cy="1358"/>
            </a:xfrm>
            <a:prstGeom prst="rect">
              <a:avLst/>
            </a:prstGeom>
            <a:noFill/>
          </p:spPr>
          <p:txBody>
            <a:bodyPr wrap="square" lIns="0" tIns="0" rIns="0" bIns="0" rtlCol="0" anchor="t"/>
            <a:lstStyle/>
            <a:p>
              <a:pPr marL="0" indent="0" algn="just">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系统可直接把经营问题翻译成数据查询、知识检索和流程动作，形成“问答 + 分析 + 执行”一体化体验。</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28" name="Shape 26"/>
            <p:cNvSpPr/>
            <p:nvPr/>
          </p:nvSpPr>
          <p:spPr>
            <a:xfrm>
              <a:off x="7560" y="5398"/>
              <a:ext cx="10109" cy="3795"/>
            </a:xfrm>
            <a:prstGeom prst="roundRect">
              <a:avLst>
                <a:gd name="adj" fmla="val 4364"/>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29" name="Text 27"/>
            <p:cNvSpPr/>
            <p:nvPr/>
          </p:nvSpPr>
          <p:spPr>
            <a:xfrm>
              <a:off x="7877" y="5717"/>
              <a:ext cx="9475"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带来的变化</a:t>
              </a:r>
              <a:endParaRPr lang="en-US" sz="1460" dirty="0"/>
            </a:p>
          </p:txBody>
        </p:sp>
        <p:sp>
          <p:nvSpPr>
            <p:cNvPr id="30" name="Shape 28"/>
            <p:cNvSpPr/>
            <p:nvPr/>
          </p:nvSpPr>
          <p:spPr>
            <a:xfrm>
              <a:off x="7877" y="6192"/>
              <a:ext cx="259" cy="58"/>
            </a:xfrm>
            <a:prstGeom prst="rect">
              <a:avLst/>
            </a:prstGeom>
            <a:solidFill>
              <a:srgbClr val="3B82F6"/>
            </a:solidFill>
            <a:ln w="12700">
              <a:solidFill>
                <a:srgbClr val="3B82F6"/>
              </a:solidFill>
              <a:prstDash val="solid"/>
            </a:ln>
          </p:spPr>
        </p:sp>
        <p:sp>
          <p:nvSpPr>
            <p:cNvPr id="31" name="Text 29"/>
            <p:cNvSpPr/>
            <p:nvPr/>
          </p:nvSpPr>
          <p:spPr>
            <a:xfrm>
              <a:off x="7883" y="6610"/>
              <a:ext cx="9475" cy="2104"/>
            </a:xfrm>
            <a:prstGeom prst="rect">
              <a:avLst/>
            </a:prstGeom>
            <a:noFill/>
          </p:spPr>
          <p:txBody>
            <a:bodyPr wrap="square" lIns="0" tIns="0" rIns="0" bIns="0" rtlCol="0" anchor="t">
              <a:normAutofit lnSpcReduction="10000"/>
            </a:bodyPr>
            <a:lstStyle/>
            <a:p>
              <a:pPr marL="0" indent="0">
                <a:lnSpc>
                  <a:spcPct val="20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财务分析从少数专家能力，变成可复制的组织能力</a:t>
              </a:r>
              <a:endParaRPr lang="en-US" sz="1200" dirty="0"/>
            </a:p>
            <a:p>
              <a:pPr marL="0" indent="0">
                <a:lnSpc>
                  <a:spcPct val="20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管理层可直接获取可解释的经营回答，而不是等待二次加工报表</a:t>
              </a:r>
              <a:endParaRPr lang="en-US" sz="1200" dirty="0"/>
            </a:p>
            <a:p>
              <a:pPr marL="0" indent="0">
                <a:lnSpc>
                  <a:spcPct val="20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一线业务可以通过自然语言获取财务约束、利润影响与回款风险提示</a:t>
              </a:r>
              <a:endParaRPr lang="en-US" sz="1200" dirty="0"/>
            </a:p>
            <a:p>
              <a:pPr marL="0" indent="0">
                <a:lnSpc>
                  <a:spcPct val="20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财务团队有更多时间转向经营支持、制度设计和风险治理</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sp>
        <p:nvSpPr>
          <p:cNvPr id="32"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能力二：单据理解、自动会计与流程自动化</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把原来只能靠经验完成的“看单据、找依据、做判断”交给系统协同完成</a:t>
            </a:r>
            <a:endParaRPr lang="en-US" sz="1000" dirty="0"/>
          </a:p>
        </p:txBody>
      </p:sp>
      <p:sp>
        <p:nvSpPr>
          <p:cNvPr id="5" name="Text 3"/>
          <p:cNvSpPr/>
          <p:nvPr/>
        </p:nvSpPr>
        <p:spPr>
          <a:xfrm>
            <a:off x="640207" y="1296797"/>
            <a:ext cx="141732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Automation</a:t>
            </a:r>
            <a:endParaRPr lang="en-US" sz="1050" dirty="0"/>
          </a:p>
        </p:txBody>
      </p:sp>
      <p:grpSp>
        <p:nvGrpSpPr>
          <p:cNvPr id="36" name="组合 35"/>
          <p:cNvGrpSpPr/>
          <p:nvPr/>
        </p:nvGrpSpPr>
        <p:grpSpPr>
          <a:xfrm>
            <a:off x="654685" y="1513205"/>
            <a:ext cx="10692765" cy="3611880"/>
            <a:chOff x="1123" y="2698"/>
            <a:chExt cx="16839" cy="5688"/>
          </a:xfrm>
        </p:grpSpPr>
        <p:sp>
          <p:nvSpPr>
            <p:cNvPr id="6" name="Shape 4"/>
            <p:cNvSpPr/>
            <p:nvPr/>
          </p:nvSpPr>
          <p:spPr>
            <a:xfrm>
              <a:off x="1123" y="2698"/>
              <a:ext cx="2719" cy="5688"/>
            </a:xfrm>
            <a:prstGeom prst="roundRect">
              <a:avLst>
                <a:gd name="adj" fmla="val 5106"/>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nvSpPr>
          <p:spPr>
            <a:xfrm>
              <a:off x="1440" y="3053"/>
              <a:ext cx="2750" cy="461"/>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输入</a:t>
              </a:r>
              <a:endParaRPr lang="en-US" sz="1460" dirty="0"/>
            </a:p>
          </p:txBody>
        </p:sp>
        <p:sp>
          <p:nvSpPr>
            <p:cNvPr id="8" name="Shape 6"/>
            <p:cNvSpPr/>
            <p:nvPr/>
          </p:nvSpPr>
          <p:spPr>
            <a:xfrm>
              <a:off x="1440" y="3528"/>
              <a:ext cx="259" cy="58"/>
            </a:xfrm>
            <a:prstGeom prst="rect">
              <a:avLst/>
            </a:prstGeom>
            <a:solidFill>
              <a:srgbClr val="C61F26"/>
            </a:solidFill>
            <a:ln w="12700">
              <a:solidFill>
                <a:srgbClr val="C61F26"/>
              </a:solidFill>
              <a:prstDash val="solid"/>
            </a:ln>
          </p:spPr>
        </p:sp>
        <p:sp>
          <p:nvSpPr>
            <p:cNvPr id="9" name="Text 7"/>
            <p:cNvSpPr/>
            <p:nvPr/>
          </p:nvSpPr>
          <p:spPr>
            <a:xfrm>
              <a:off x="1440" y="3749"/>
              <a:ext cx="2750" cy="4306"/>
            </a:xfrm>
            <a:prstGeom prst="rect">
              <a:avLst/>
            </a:prstGeom>
            <a:noFill/>
          </p:spPr>
          <p:txBody>
            <a:bodyPr wrap="square" lIns="0" tIns="0" rIns="0" bIns="0" rtlCol="0" anchor="t">
              <a:normAutofit/>
            </a:bodyPr>
            <a:lstStyle/>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合同</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发票</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报销附件</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银行回单</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采购订单</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销售订单</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制度文件</a:t>
              </a:r>
              <a:endParaRPr lang="en-US" sz="1400" dirty="0">
                <a:effectLst/>
                <a:latin typeface="微软雅黑" panose="020B0503020204020204" charset="-122"/>
                <a:ea typeface="微软雅黑" panose="020B0503020204020204" charset="-122"/>
              </a:endParaRPr>
            </a:p>
            <a:p>
              <a:pPr marL="0" indent="0">
                <a:lnSpc>
                  <a:spcPct val="150000"/>
                </a:lnSpc>
                <a:buNone/>
              </a:pPr>
              <a:r>
                <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rPr>
                <a:t>历史凭证</a:t>
              </a:r>
              <a:endParaRPr lang="en-US" sz="1400" dirty="0">
                <a:solidFill>
                  <a:srgbClr val="4B4F56"/>
                </a:solidFill>
                <a:effectLst/>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nvSpPr>
          <p:spPr>
            <a:xfrm>
              <a:off x="4042" y="4968"/>
              <a:ext cx="605" cy="691"/>
            </a:xfrm>
            <a:prstGeom prst="chevron">
              <a:avLst/>
            </a:prstGeom>
            <a:solidFill>
              <a:srgbClr val="C9D9FF"/>
            </a:solidFill>
            <a:ln w="12700">
              <a:solidFill>
                <a:srgbClr val="C9D9FF"/>
              </a:solidFill>
              <a:prstDash val="solid"/>
            </a:ln>
          </p:spPr>
          <p:txBody>
            <a:bodyPr/>
            <a:p>
              <a:endParaRPr lang="zh-CN" altLang="en-US"/>
            </a:p>
          </p:txBody>
        </p:sp>
        <p:sp>
          <p:nvSpPr>
            <p:cNvPr id="11" name="Shape 9"/>
            <p:cNvSpPr/>
            <p:nvPr/>
          </p:nvSpPr>
          <p:spPr>
            <a:xfrm>
              <a:off x="4847" y="2698"/>
              <a:ext cx="4536" cy="5688"/>
            </a:xfrm>
            <a:prstGeom prst="roundRect">
              <a:avLst>
                <a:gd name="adj" fmla="val 3810"/>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2" name="Text 10"/>
            <p:cNvSpPr/>
            <p:nvPr/>
          </p:nvSpPr>
          <p:spPr>
            <a:xfrm>
              <a:off x="5492" y="3053"/>
              <a:ext cx="3902"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AI 处理</a:t>
              </a:r>
              <a:endParaRPr lang="en-US" sz="1460" dirty="0"/>
            </a:p>
          </p:txBody>
        </p:sp>
        <p:sp>
          <p:nvSpPr>
            <p:cNvPr id="13" name="Shape 11"/>
            <p:cNvSpPr/>
            <p:nvPr/>
          </p:nvSpPr>
          <p:spPr>
            <a:xfrm>
              <a:off x="5530" y="3528"/>
              <a:ext cx="259" cy="58"/>
            </a:xfrm>
            <a:prstGeom prst="rect">
              <a:avLst/>
            </a:prstGeom>
            <a:solidFill>
              <a:srgbClr val="2F6BFF"/>
            </a:solidFill>
            <a:ln w="12700">
              <a:solidFill>
                <a:srgbClr val="2F6BFF"/>
              </a:solidFill>
              <a:prstDash val="solid"/>
            </a:ln>
          </p:spPr>
        </p:sp>
        <p:sp>
          <p:nvSpPr>
            <p:cNvPr id="14" name="Text 12"/>
            <p:cNvSpPr/>
            <p:nvPr/>
          </p:nvSpPr>
          <p:spPr>
            <a:xfrm>
              <a:off x="5230" y="3749"/>
              <a:ext cx="3902" cy="4306"/>
            </a:xfrm>
            <a:prstGeom prst="rect">
              <a:avLst/>
            </a:prstGeom>
            <a:noFill/>
          </p:spPr>
          <p:txBody>
            <a:bodyPr wrap="square" lIns="0" tIns="0" rIns="0" bIns="0" rtlCol="0" anchor="t">
              <a:normAutofit/>
            </a:bodyPr>
            <a:lstStyle/>
            <a:p>
              <a:pPr marL="0" indent="0" algn="l">
                <a:lnSpc>
                  <a:spcPct val="150000"/>
                </a:lnSpc>
                <a:buNone/>
              </a:pPr>
              <a:r>
                <a:rPr lang="zh-CN" altLang="en-US" sz="1400" dirty="0">
                  <a:solidFill>
                    <a:srgbClr val="4B4F56"/>
                  </a:solidFill>
                  <a:latin typeface="微软雅黑" panose="020B0503020204020204" charset="-122"/>
                  <a:ea typeface="微软雅黑" panose="020B0503020204020204" charset="-122"/>
                  <a:cs typeface="微软雅黑" panose="020B0503020204020204" charset="-122"/>
                </a:rPr>
                <a:t>（</a:t>
              </a:r>
              <a:r>
                <a:rPr lang="en-US" sz="1400" dirty="0">
                  <a:solidFill>
                    <a:srgbClr val="4B4F56"/>
                  </a:solidFill>
                  <a:latin typeface="微软雅黑" panose="020B0503020204020204" charset="-122"/>
                  <a:ea typeface="微软雅黑" panose="020B0503020204020204" charset="-122"/>
                  <a:cs typeface="微软雅黑" panose="020B0503020204020204" charset="-122"/>
                </a:rPr>
                <a:t>1) OCR / 文档解析</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zh-CN" altLang="en-US" sz="1400" dirty="0">
                  <a:solidFill>
                    <a:srgbClr val="4B4F56"/>
                  </a:solidFill>
                  <a:latin typeface="微软雅黑" panose="020B0503020204020204" charset="-122"/>
                  <a:ea typeface="微软雅黑" panose="020B0503020204020204" charset="-122"/>
                  <a:cs typeface="微软雅黑" panose="020B0503020204020204" charset="-122"/>
                </a:rPr>
                <a:t>（</a:t>
              </a:r>
              <a:r>
                <a:rPr lang="en-US" sz="1400" dirty="0">
                  <a:solidFill>
                    <a:srgbClr val="4B4F56"/>
                  </a:solidFill>
                  <a:latin typeface="微软雅黑" panose="020B0503020204020204" charset="-122"/>
                  <a:ea typeface="微软雅黑" panose="020B0503020204020204" charset="-122"/>
                  <a:cs typeface="微软雅黑" panose="020B0503020204020204" charset="-122"/>
                </a:rPr>
                <a:t>2) 业务语义理解</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zh-CN" altLang="en-US" sz="1400" dirty="0">
                  <a:solidFill>
                    <a:srgbClr val="4B4F56"/>
                  </a:solidFill>
                  <a:latin typeface="微软雅黑" panose="020B0503020204020204" charset="-122"/>
                  <a:ea typeface="微软雅黑" panose="020B0503020204020204" charset="-122"/>
                  <a:cs typeface="微软雅黑" panose="020B0503020204020204" charset="-122"/>
                  <a:sym typeface="+mn-ea"/>
                </a:rPr>
                <a:t>（</a:t>
              </a:r>
              <a:r>
                <a:rPr lang="en-US" sz="1400" dirty="0">
                  <a:solidFill>
                    <a:srgbClr val="4B4F56"/>
                  </a:solidFill>
                  <a:latin typeface="微软雅黑" panose="020B0503020204020204" charset="-122"/>
                  <a:ea typeface="微软雅黑" panose="020B0503020204020204" charset="-122"/>
                  <a:cs typeface="微软雅黑" panose="020B0503020204020204" charset="-122"/>
                </a:rPr>
                <a:t>3) 会计与税务规则匹配</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zh-CN" altLang="en-US" sz="1400" dirty="0">
                  <a:solidFill>
                    <a:srgbClr val="4B4F56"/>
                  </a:solidFill>
                  <a:latin typeface="微软雅黑" panose="020B0503020204020204" charset="-122"/>
                  <a:ea typeface="微软雅黑" panose="020B0503020204020204" charset="-122"/>
                  <a:cs typeface="微软雅黑" panose="020B0503020204020204" charset="-122"/>
                  <a:sym typeface="+mn-ea"/>
                </a:rPr>
                <a:t>（</a:t>
              </a:r>
              <a:r>
                <a:rPr lang="en-US" sz="1400" dirty="0">
                  <a:solidFill>
                    <a:srgbClr val="4B4F56"/>
                  </a:solidFill>
                  <a:latin typeface="微软雅黑" panose="020B0503020204020204" charset="-122"/>
                  <a:ea typeface="微软雅黑" panose="020B0503020204020204" charset="-122"/>
                  <a:cs typeface="微软雅黑" panose="020B0503020204020204" charset="-122"/>
                </a:rPr>
                <a:t>4) 例外情况识别</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zh-CN" altLang="en-US" sz="1400" dirty="0">
                  <a:solidFill>
                    <a:srgbClr val="4B4F56"/>
                  </a:solidFill>
                  <a:latin typeface="微软雅黑" panose="020B0503020204020204" charset="-122"/>
                  <a:ea typeface="微软雅黑" panose="020B0503020204020204" charset="-122"/>
                  <a:cs typeface="微软雅黑" panose="020B0503020204020204" charset="-122"/>
                  <a:sym typeface="+mn-ea"/>
                </a:rPr>
                <a:t>（</a:t>
              </a:r>
              <a:r>
                <a:rPr lang="en-US" sz="1400" dirty="0">
                  <a:solidFill>
                    <a:srgbClr val="4B4F56"/>
                  </a:solidFill>
                  <a:latin typeface="微软雅黑" panose="020B0503020204020204" charset="-122"/>
                  <a:ea typeface="微软雅黑" panose="020B0503020204020204" charset="-122"/>
                  <a:cs typeface="微软雅黑" panose="020B0503020204020204" charset="-122"/>
                </a:rPr>
                <a:t>5) 输出建议分录 / 审批建议 / 补件清单</a:t>
              </a:r>
              <a:endParaRPr lang="en-US" sz="1400" dirty="0">
                <a:solidFill>
                  <a:srgbClr val="4B4F56"/>
                </a:solidFill>
                <a:latin typeface="微软雅黑" panose="020B0503020204020204" charset="-122"/>
                <a:ea typeface="微软雅黑" panose="020B0503020204020204" charset="-122"/>
                <a:cs typeface="微软雅黑" panose="020B0503020204020204" charset="-122"/>
              </a:endParaRPr>
            </a:p>
          </p:txBody>
        </p:sp>
        <p:sp>
          <p:nvSpPr>
            <p:cNvPr id="15" name="Shape 13"/>
            <p:cNvSpPr/>
            <p:nvPr/>
          </p:nvSpPr>
          <p:spPr>
            <a:xfrm>
              <a:off x="9583" y="4939"/>
              <a:ext cx="605" cy="691"/>
            </a:xfrm>
            <a:prstGeom prst="chevron">
              <a:avLst/>
            </a:prstGeom>
            <a:solidFill>
              <a:srgbClr val="BDEFEA"/>
            </a:solidFill>
            <a:ln w="12700">
              <a:solidFill>
                <a:srgbClr val="BDEFEA"/>
              </a:solidFill>
              <a:prstDash val="solid"/>
            </a:ln>
          </p:spPr>
        </p:sp>
        <p:sp>
          <p:nvSpPr>
            <p:cNvPr id="16" name="Shape 14"/>
            <p:cNvSpPr/>
            <p:nvPr/>
          </p:nvSpPr>
          <p:spPr>
            <a:xfrm>
              <a:off x="10267" y="2698"/>
              <a:ext cx="3672" cy="5688"/>
            </a:xfrm>
            <a:prstGeom prst="roundRect">
              <a:avLst>
                <a:gd name="adj" fmla="val 4706"/>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7" name="Text 15"/>
            <p:cNvSpPr/>
            <p:nvPr/>
          </p:nvSpPr>
          <p:spPr>
            <a:xfrm>
              <a:off x="10858" y="3053"/>
              <a:ext cx="3038"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系统动作</a:t>
              </a:r>
              <a:endParaRPr lang="en-US" sz="1460" dirty="0"/>
            </a:p>
          </p:txBody>
        </p:sp>
        <p:sp>
          <p:nvSpPr>
            <p:cNvPr id="18" name="Shape 16"/>
            <p:cNvSpPr/>
            <p:nvPr/>
          </p:nvSpPr>
          <p:spPr>
            <a:xfrm>
              <a:off x="10858" y="3528"/>
              <a:ext cx="259" cy="58"/>
            </a:xfrm>
            <a:prstGeom prst="rect">
              <a:avLst/>
            </a:prstGeom>
            <a:solidFill>
              <a:srgbClr val="C61F26"/>
            </a:solidFill>
            <a:ln w="12700">
              <a:solidFill>
                <a:srgbClr val="C61F26"/>
              </a:solidFill>
              <a:prstDash val="solid"/>
            </a:ln>
          </p:spPr>
        </p:sp>
        <p:sp>
          <p:nvSpPr>
            <p:cNvPr id="19" name="Text 17"/>
            <p:cNvSpPr/>
            <p:nvPr/>
          </p:nvSpPr>
          <p:spPr>
            <a:xfrm>
              <a:off x="10739" y="3748"/>
              <a:ext cx="3038" cy="3069"/>
            </a:xfrm>
            <a:prstGeom prst="rect">
              <a:avLst/>
            </a:prstGeom>
            <a:noFill/>
          </p:spPr>
          <p:txBody>
            <a:bodyPr wrap="square" lIns="0" tIns="0" rIns="0" bIns="0" rtlCol="0" anchor="t">
              <a:normAutofit/>
            </a:bodyPr>
            <a:lstStyle/>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自动生成凭证草稿</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自动匹配科目/税码</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自动触发审批</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自动提示风险点</a:t>
              </a:r>
              <a:endParaRPr lang="en-US" sz="1400" dirty="0">
                <a:latin typeface="微软雅黑" panose="020B0503020204020204" charset="-122"/>
                <a:ea typeface="微软雅黑" panose="020B0503020204020204" charset="-122"/>
                <a:cs typeface="微软雅黑" panose="020B0503020204020204" charset="-122"/>
              </a:endParaRPr>
            </a:p>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自动沉淀知识案例</a:t>
              </a:r>
              <a:endParaRPr lang="en-US" sz="1400" dirty="0">
                <a:solidFill>
                  <a:srgbClr val="4B4F56"/>
                </a:solidFill>
                <a:latin typeface="微软雅黑" panose="020B0503020204020204" charset="-122"/>
                <a:ea typeface="微软雅黑" panose="020B0503020204020204" charset="-122"/>
                <a:cs typeface="微软雅黑" panose="020B0503020204020204" charset="-122"/>
              </a:endParaRPr>
            </a:p>
          </p:txBody>
        </p:sp>
        <p:sp>
          <p:nvSpPr>
            <p:cNvPr id="20" name="Shape 18"/>
            <p:cNvSpPr/>
            <p:nvPr/>
          </p:nvSpPr>
          <p:spPr>
            <a:xfrm>
              <a:off x="14138" y="4937"/>
              <a:ext cx="605" cy="691"/>
            </a:xfrm>
            <a:prstGeom prst="chevron">
              <a:avLst/>
            </a:prstGeom>
            <a:solidFill>
              <a:srgbClr val="FDE1A3"/>
            </a:solidFill>
            <a:ln w="12700">
              <a:solidFill>
                <a:srgbClr val="FDE1A3"/>
              </a:solidFill>
              <a:prstDash val="solid"/>
            </a:ln>
          </p:spPr>
        </p:sp>
        <p:sp>
          <p:nvSpPr>
            <p:cNvPr id="21" name="Shape 19"/>
            <p:cNvSpPr/>
            <p:nvPr/>
          </p:nvSpPr>
          <p:spPr>
            <a:xfrm>
              <a:off x="14823" y="2698"/>
              <a:ext cx="3139" cy="5688"/>
            </a:xfrm>
            <a:prstGeom prst="roundRect">
              <a:avLst>
                <a:gd name="adj" fmla="val 5505"/>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22" name="Text 20"/>
            <p:cNvSpPr/>
            <p:nvPr/>
          </p:nvSpPr>
          <p:spPr>
            <a:xfrm>
              <a:off x="15322" y="3053"/>
              <a:ext cx="2506"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人工确认</a:t>
              </a:r>
              <a:endParaRPr lang="en-US" sz="1460" dirty="0"/>
            </a:p>
          </p:txBody>
        </p:sp>
        <p:sp>
          <p:nvSpPr>
            <p:cNvPr id="23" name="Shape 21"/>
            <p:cNvSpPr/>
            <p:nvPr/>
          </p:nvSpPr>
          <p:spPr>
            <a:xfrm>
              <a:off x="15322" y="3528"/>
              <a:ext cx="259" cy="58"/>
            </a:xfrm>
            <a:prstGeom prst="rect">
              <a:avLst/>
            </a:prstGeom>
            <a:solidFill>
              <a:srgbClr val="E25A3B"/>
            </a:solidFill>
            <a:ln w="12700">
              <a:solidFill>
                <a:srgbClr val="E25A3B"/>
              </a:solidFill>
              <a:prstDash val="solid"/>
            </a:ln>
          </p:spPr>
        </p:sp>
        <p:sp>
          <p:nvSpPr>
            <p:cNvPr id="24" name="Text 22"/>
            <p:cNvSpPr/>
            <p:nvPr/>
          </p:nvSpPr>
          <p:spPr>
            <a:xfrm>
              <a:off x="15265" y="3773"/>
              <a:ext cx="2506" cy="4306"/>
            </a:xfrm>
            <a:prstGeom prst="rect">
              <a:avLst/>
            </a:prstGeom>
            <a:noFill/>
          </p:spPr>
          <p:txBody>
            <a:bodyPr wrap="square" lIns="0" tIns="0" rIns="0" bIns="0" rtlCol="0" anchor="t">
              <a:normAutofit/>
            </a:bodyPr>
            <a:lstStyle/>
            <a:p>
              <a:pPr marL="0" indent="0" algn="l">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pitchFamily="34" charset="-120"/>
                </a:rPr>
                <a:t>仅对高风险、低置信度、超权限事项要求财务或管理者确认，实现“机器做大部分，人把关键关”。</a:t>
              </a:r>
              <a:endParaRPr lang="en-US" sz="14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35" name="组合 34"/>
          <p:cNvGrpSpPr/>
          <p:nvPr/>
        </p:nvGrpSpPr>
        <p:grpSpPr>
          <a:xfrm>
            <a:off x="678815" y="5339715"/>
            <a:ext cx="10714355" cy="870585"/>
            <a:chOff x="1123" y="8651"/>
            <a:chExt cx="16705" cy="1296"/>
          </a:xfrm>
        </p:grpSpPr>
        <p:sp>
          <p:nvSpPr>
            <p:cNvPr id="25" name="Shape 23"/>
            <p:cNvSpPr/>
            <p:nvPr/>
          </p:nvSpPr>
          <p:spPr>
            <a:xfrm>
              <a:off x="1123" y="8651"/>
              <a:ext cx="4897" cy="1296"/>
            </a:xfrm>
            <a:prstGeom prst="roundRect">
              <a:avLst>
                <a:gd name="adj" fmla="val 13333"/>
              </a:avLst>
            </a:prstGeom>
            <a:solidFill>
              <a:srgbClr val="EAF1FF"/>
            </a:solidFill>
            <a:ln w="12700">
              <a:solidFill>
                <a:srgbClr val="E7E9ED"/>
              </a:solidFill>
              <a:prstDash val="solid"/>
            </a:ln>
          </p:spPr>
        </p:sp>
        <p:sp>
          <p:nvSpPr>
            <p:cNvPr id="26" name="Text 24"/>
            <p:cNvSpPr/>
            <p:nvPr/>
          </p:nvSpPr>
          <p:spPr>
            <a:xfrm>
              <a:off x="1325" y="8928"/>
              <a:ext cx="4464" cy="490"/>
            </a:xfrm>
            <a:prstGeom prst="rect">
              <a:avLst/>
            </a:prstGeom>
            <a:noFill/>
          </p:spPr>
          <p:txBody>
            <a:bodyPr wrap="square" lIns="0" tIns="0" rIns="0" bIns="0" rtlCol="0" anchor="ctr"/>
            <a:lstStyle/>
            <a:p>
              <a:pPr marL="0" indent="0" algn="ctr">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自动识别 → 建议分录 → 审批留痕</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7" name="Text 25"/>
            <p:cNvSpPr/>
            <p:nvPr/>
          </p:nvSpPr>
          <p:spPr>
            <a:xfrm>
              <a:off x="1470" y="9386"/>
              <a:ext cx="4234"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从“录入驱动”变为“理解驱动”</a:t>
              </a:r>
              <a:endParaRPr lang="en-US" sz="1020" dirty="0"/>
            </a:p>
          </p:txBody>
        </p:sp>
        <p:sp>
          <p:nvSpPr>
            <p:cNvPr id="28" name="Shape 26"/>
            <p:cNvSpPr/>
            <p:nvPr/>
          </p:nvSpPr>
          <p:spPr>
            <a:xfrm>
              <a:off x="6466" y="8651"/>
              <a:ext cx="6048" cy="1296"/>
            </a:xfrm>
            <a:prstGeom prst="roundRect">
              <a:avLst>
                <a:gd name="adj" fmla="val 13333"/>
              </a:avLst>
            </a:prstGeom>
            <a:solidFill>
              <a:srgbClr val="DFF6F4"/>
            </a:solidFill>
            <a:ln w="12700">
              <a:solidFill>
                <a:srgbClr val="E7E9ED"/>
              </a:solidFill>
              <a:prstDash val="solid"/>
            </a:ln>
          </p:spPr>
        </p:sp>
        <p:sp>
          <p:nvSpPr>
            <p:cNvPr id="29" name="Text 27"/>
            <p:cNvSpPr/>
            <p:nvPr/>
          </p:nvSpPr>
          <p:spPr>
            <a:xfrm>
              <a:off x="6293" y="8896"/>
              <a:ext cx="6048" cy="490"/>
            </a:xfrm>
            <a:prstGeom prst="rect">
              <a:avLst/>
            </a:prstGeom>
            <a:noFill/>
          </p:spPr>
          <p:txBody>
            <a:bodyPr wrap="square" lIns="0" tIns="0" rIns="0" bIns="0" rtlCol="0" anchor="ctr"/>
            <a:lstStyle/>
            <a:p>
              <a:pPr marL="0" indent="0" algn="ctr">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规则 + 知识 + 上下文 + 置信度</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30" name="Text 28"/>
            <p:cNvSpPr/>
            <p:nvPr/>
          </p:nvSpPr>
          <p:spPr>
            <a:xfrm>
              <a:off x="6581" y="9331"/>
              <a:ext cx="5818"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从“死规则自动化”变为“认知型自动化”</a:t>
              </a:r>
              <a:endParaRPr lang="en-US" sz="1020" dirty="0"/>
            </a:p>
          </p:txBody>
        </p:sp>
        <p:sp>
          <p:nvSpPr>
            <p:cNvPr id="31" name="Shape 29"/>
            <p:cNvSpPr/>
            <p:nvPr/>
          </p:nvSpPr>
          <p:spPr>
            <a:xfrm>
              <a:off x="12960" y="8651"/>
              <a:ext cx="4868" cy="1296"/>
            </a:xfrm>
            <a:prstGeom prst="roundRect">
              <a:avLst>
                <a:gd name="adj" fmla="val 13333"/>
              </a:avLst>
            </a:prstGeom>
            <a:solidFill>
              <a:srgbClr val="FFF4D6"/>
            </a:solidFill>
            <a:ln w="12700">
              <a:solidFill>
                <a:srgbClr val="E7E9ED"/>
              </a:solidFill>
              <a:prstDash val="solid"/>
            </a:ln>
          </p:spPr>
        </p:sp>
        <p:sp>
          <p:nvSpPr>
            <p:cNvPr id="32" name="Text 30"/>
            <p:cNvSpPr/>
            <p:nvPr/>
          </p:nvSpPr>
          <p:spPr>
            <a:xfrm>
              <a:off x="12972" y="8896"/>
              <a:ext cx="4464" cy="490"/>
            </a:xfrm>
            <a:prstGeom prst="rect">
              <a:avLst/>
            </a:prstGeom>
            <a:noFill/>
          </p:spPr>
          <p:txBody>
            <a:bodyPr wrap="square" lIns="0" tIns="0" rIns="0" bIns="0" rtlCol="0" anchor="ctr"/>
            <a:lstStyle/>
            <a:p>
              <a:pPr marL="0" indent="0" algn="ctr">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例外分流与升级</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33" name="Text 31"/>
            <p:cNvSpPr/>
            <p:nvPr/>
          </p:nvSpPr>
          <p:spPr>
            <a:xfrm>
              <a:off x="13334" y="9328"/>
              <a:ext cx="4234"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把复杂性保留给真正需要人判断的环节</a:t>
              </a:r>
              <a:endParaRPr lang="en-US" sz="1020" dirty="0"/>
            </a:p>
          </p:txBody>
        </p:sp>
      </p:grpSp>
      <p:sp>
        <p:nvSpPr>
          <p:cNvPr id="34"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能力三：持续异常检测、风险预警与审计增强</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让系统从“记录历史”进化为“持续盯盘”</a:t>
            </a:r>
            <a:endParaRPr lang="en-US" sz="1000" dirty="0"/>
          </a:p>
        </p:txBody>
      </p:sp>
      <p:sp>
        <p:nvSpPr>
          <p:cNvPr id="5" name="Text 3"/>
          <p:cNvSpPr/>
          <p:nvPr/>
        </p:nvSpPr>
        <p:spPr>
          <a:xfrm>
            <a:off x="658622" y="1300607"/>
            <a:ext cx="146304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Risk Control</a:t>
            </a:r>
            <a:endParaRPr lang="en-US" sz="1050" dirty="0"/>
          </a:p>
        </p:txBody>
      </p:sp>
      <p:grpSp>
        <p:nvGrpSpPr>
          <p:cNvPr id="32" name="组合 31"/>
          <p:cNvGrpSpPr/>
          <p:nvPr>
            <p:custDataLst>
              <p:tags r:id="rId1"/>
            </p:custDataLst>
          </p:nvPr>
        </p:nvGrpSpPr>
        <p:grpSpPr>
          <a:xfrm>
            <a:off x="658495" y="1701165"/>
            <a:ext cx="10817860" cy="3693160"/>
            <a:chOff x="1152" y="2736"/>
            <a:chExt cx="16876" cy="5816"/>
          </a:xfrm>
        </p:grpSpPr>
        <p:sp>
          <p:nvSpPr>
            <p:cNvPr id="6" name="Shape 4"/>
            <p:cNvSpPr/>
            <p:nvPr>
              <p:custDataLst>
                <p:tags r:id="rId2"/>
              </p:custDataLst>
            </p:nvPr>
          </p:nvSpPr>
          <p:spPr>
            <a:xfrm>
              <a:off x="1152" y="2736"/>
              <a:ext cx="8093" cy="1555"/>
            </a:xfrm>
            <a:prstGeom prst="roundRect">
              <a:avLst>
                <a:gd name="adj" fmla="val 4630"/>
              </a:avLst>
            </a:prstGeom>
            <a:solidFill>
              <a:srgbClr val="FEFEFF"/>
            </a:solidFill>
            <a:ln w="12700">
              <a:solidFill>
                <a:srgbClr val="E7E9ED"/>
              </a:solidFill>
              <a:prstDash val="solid"/>
            </a:ln>
          </p:spPr>
        </p:sp>
        <p:sp>
          <p:nvSpPr>
            <p:cNvPr id="7" name="Shape 5"/>
            <p:cNvSpPr/>
            <p:nvPr>
              <p:custDataLst>
                <p:tags r:id="rId3"/>
              </p:custDataLst>
            </p:nvPr>
          </p:nvSpPr>
          <p:spPr>
            <a:xfrm>
              <a:off x="1152" y="2736"/>
              <a:ext cx="173" cy="1555"/>
            </a:xfrm>
            <a:prstGeom prst="rect">
              <a:avLst/>
            </a:prstGeom>
            <a:solidFill>
              <a:srgbClr val="E25A3B"/>
            </a:solidFill>
            <a:ln w="12700">
              <a:solidFill>
                <a:srgbClr val="E25A3B"/>
              </a:solidFill>
              <a:prstDash val="solid"/>
            </a:ln>
          </p:spPr>
        </p:sp>
        <p:sp>
          <p:nvSpPr>
            <p:cNvPr id="8" name="Text 6"/>
            <p:cNvSpPr/>
            <p:nvPr>
              <p:custDataLst>
                <p:tags r:id="rId4"/>
              </p:custDataLst>
            </p:nvPr>
          </p:nvSpPr>
          <p:spPr>
            <a:xfrm>
              <a:off x="1593" y="2981"/>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费用异常</a:t>
              </a:r>
              <a:endParaRPr lang="en-US" sz="1450" dirty="0"/>
            </a:p>
          </p:txBody>
        </p:sp>
        <p:sp>
          <p:nvSpPr>
            <p:cNvPr id="9" name="Text 7"/>
            <p:cNvSpPr/>
            <p:nvPr>
              <p:custDataLst>
                <p:tags r:id="rId5"/>
              </p:custDataLst>
            </p:nvPr>
          </p:nvSpPr>
          <p:spPr>
            <a:xfrm>
              <a:off x="1593" y="3398"/>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同类费用异常增长、拆单报销、超标准报销、重复报销</a:t>
              </a:r>
              <a:endParaRPr lang="en-US" sz="1120" dirty="0"/>
            </a:p>
          </p:txBody>
        </p:sp>
        <p:sp>
          <p:nvSpPr>
            <p:cNvPr id="10" name="Shape 8"/>
            <p:cNvSpPr/>
            <p:nvPr>
              <p:custDataLst>
                <p:tags r:id="rId6"/>
              </p:custDataLst>
            </p:nvPr>
          </p:nvSpPr>
          <p:spPr>
            <a:xfrm>
              <a:off x="9936" y="2736"/>
              <a:ext cx="8093" cy="1555"/>
            </a:xfrm>
            <a:prstGeom prst="roundRect">
              <a:avLst>
                <a:gd name="adj" fmla="val 4630"/>
              </a:avLst>
            </a:prstGeom>
            <a:solidFill>
              <a:srgbClr val="FEFEFF"/>
            </a:solidFill>
            <a:ln w="12700">
              <a:solidFill>
                <a:srgbClr val="E7E9ED"/>
              </a:solidFill>
              <a:prstDash val="solid"/>
            </a:ln>
          </p:spPr>
        </p:sp>
        <p:sp>
          <p:nvSpPr>
            <p:cNvPr id="11" name="Shape 9"/>
            <p:cNvSpPr/>
            <p:nvPr>
              <p:custDataLst>
                <p:tags r:id="rId7"/>
              </p:custDataLst>
            </p:nvPr>
          </p:nvSpPr>
          <p:spPr>
            <a:xfrm>
              <a:off x="9936" y="2736"/>
              <a:ext cx="173" cy="1555"/>
            </a:xfrm>
            <a:prstGeom prst="rect">
              <a:avLst/>
            </a:prstGeom>
            <a:solidFill>
              <a:srgbClr val="3B82F6"/>
            </a:solidFill>
            <a:ln w="12700">
              <a:solidFill>
                <a:srgbClr val="3B82F6"/>
              </a:solidFill>
              <a:prstDash val="solid"/>
            </a:ln>
          </p:spPr>
        </p:sp>
        <p:sp>
          <p:nvSpPr>
            <p:cNvPr id="12" name="Text 10"/>
            <p:cNvSpPr/>
            <p:nvPr>
              <p:custDataLst>
                <p:tags r:id="rId8"/>
              </p:custDataLst>
            </p:nvPr>
          </p:nvSpPr>
          <p:spPr>
            <a:xfrm>
              <a:off x="10405" y="2981"/>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收入与回款</a:t>
              </a:r>
              <a:endParaRPr lang="en-US" sz="1450" dirty="0"/>
            </a:p>
          </p:txBody>
        </p:sp>
        <p:sp>
          <p:nvSpPr>
            <p:cNvPr id="13" name="Text 11"/>
            <p:cNvSpPr/>
            <p:nvPr>
              <p:custDataLst>
                <p:tags r:id="rId9"/>
              </p:custDataLst>
            </p:nvPr>
          </p:nvSpPr>
          <p:spPr>
            <a:xfrm>
              <a:off x="10405" y="3398"/>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收入确认与回款节奏偏离、账龄异常、重点客户回款恶化</a:t>
              </a:r>
              <a:endParaRPr lang="en-US" sz="1120" dirty="0"/>
            </a:p>
          </p:txBody>
        </p:sp>
        <p:sp>
          <p:nvSpPr>
            <p:cNvPr id="14" name="Shape 12"/>
            <p:cNvSpPr/>
            <p:nvPr>
              <p:custDataLst>
                <p:tags r:id="rId10"/>
              </p:custDataLst>
            </p:nvPr>
          </p:nvSpPr>
          <p:spPr>
            <a:xfrm>
              <a:off x="1152" y="4867"/>
              <a:ext cx="8093" cy="1555"/>
            </a:xfrm>
            <a:prstGeom prst="roundRect">
              <a:avLst>
                <a:gd name="adj" fmla="val 4630"/>
              </a:avLst>
            </a:prstGeom>
            <a:solidFill>
              <a:srgbClr val="FEFEFF"/>
            </a:solidFill>
            <a:ln w="12700">
              <a:solidFill>
                <a:srgbClr val="E7E9ED"/>
              </a:solidFill>
              <a:prstDash val="solid"/>
            </a:ln>
          </p:spPr>
        </p:sp>
        <p:sp>
          <p:nvSpPr>
            <p:cNvPr id="15" name="Shape 13"/>
            <p:cNvSpPr/>
            <p:nvPr>
              <p:custDataLst>
                <p:tags r:id="rId11"/>
              </p:custDataLst>
            </p:nvPr>
          </p:nvSpPr>
          <p:spPr>
            <a:xfrm>
              <a:off x="1152" y="4867"/>
              <a:ext cx="173" cy="1555"/>
            </a:xfrm>
            <a:prstGeom prst="rect">
              <a:avLst/>
            </a:prstGeom>
            <a:solidFill>
              <a:srgbClr val="C61F26"/>
            </a:solidFill>
            <a:ln w="12700">
              <a:solidFill>
                <a:srgbClr val="C61F26"/>
              </a:solidFill>
              <a:prstDash val="solid"/>
            </a:ln>
          </p:spPr>
        </p:sp>
        <p:sp>
          <p:nvSpPr>
            <p:cNvPr id="16" name="Text 14"/>
            <p:cNvSpPr/>
            <p:nvPr>
              <p:custDataLst>
                <p:tags r:id="rId12"/>
              </p:custDataLst>
            </p:nvPr>
          </p:nvSpPr>
          <p:spPr>
            <a:xfrm>
              <a:off x="1593" y="5112"/>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税务风险</a:t>
              </a:r>
              <a:endParaRPr lang="en-US" sz="1450" dirty="0"/>
            </a:p>
          </p:txBody>
        </p:sp>
        <p:sp>
          <p:nvSpPr>
            <p:cNvPr id="17" name="Text 15"/>
            <p:cNvSpPr/>
            <p:nvPr>
              <p:custDataLst>
                <p:tags r:id="rId13"/>
              </p:custDataLst>
            </p:nvPr>
          </p:nvSpPr>
          <p:spPr>
            <a:xfrm>
              <a:off x="1593" y="5530"/>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税负异常波动、票据不一致、进销项结构失衡、政策口径冲突</a:t>
              </a:r>
              <a:endParaRPr lang="en-US" sz="1120" dirty="0"/>
            </a:p>
          </p:txBody>
        </p:sp>
        <p:sp>
          <p:nvSpPr>
            <p:cNvPr id="18" name="Shape 16"/>
            <p:cNvSpPr/>
            <p:nvPr>
              <p:custDataLst>
                <p:tags r:id="rId14"/>
              </p:custDataLst>
            </p:nvPr>
          </p:nvSpPr>
          <p:spPr>
            <a:xfrm>
              <a:off x="9936" y="4867"/>
              <a:ext cx="8093" cy="1555"/>
            </a:xfrm>
            <a:prstGeom prst="roundRect">
              <a:avLst>
                <a:gd name="adj" fmla="val 4630"/>
              </a:avLst>
            </a:prstGeom>
            <a:solidFill>
              <a:srgbClr val="FEFEFF"/>
            </a:solidFill>
            <a:ln w="12700">
              <a:solidFill>
                <a:srgbClr val="E7E9ED"/>
              </a:solidFill>
              <a:prstDash val="solid"/>
            </a:ln>
          </p:spPr>
        </p:sp>
        <p:sp>
          <p:nvSpPr>
            <p:cNvPr id="19" name="Shape 17"/>
            <p:cNvSpPr/>
            <p:nvPr>
              <p:custDataLst>
                <p:tags r:id="rId15"/>
              </p:custDataLst>
            </p:nvPr>
          </p:nvSpPr>
          <p:spPr>
            <a:xfrm>
              <a:off x="9936" y="4867"/>
              <a:ext cx="173" cy="1555"/>
            </a:xfrm>
            <a:prstGeom prst="rect">
              <a:avLst/>
            </a:prstGeom>
            <a:solidFill>
              <a:srgbClr val="2F6BFF"/>
            </a:solidFill>
            <a:ln w="12700">
              <a:solidFill>
                <a:srgbClr val="2F6BFF"/>
              </a:solidFill>
              <a:prstDash val="solid"/>
            </a:ln>
          </p:spPr>
        </p:sp>
        <p:sp>
          <p:nvSpPr>
            <p:cNvPr id="20" name="Text 18"/>
            <p:cNvSpPr/>
            <p:nvPr>
              <p:custDataLst>
                <p:tags r:id="rId16"/>
              </p:custDataLst>
            </p:nvPr>
          </p:nvSpPr>
          <p:spPr>
            <a:xfrm>
              <a:off x="10405" y="5112"/>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供应链与库存</a:t>
              </a:r>
              <a:endParaRPr lang="en-US" sz="1450" dirty="0"/>
            </a:p>
          </p:txBody>
        </p:sp>
        <p:sp>
          <p:nvSpPr>
            <p:cNvPr id="21" name="Text 19"/>
            <p:cNvSpPr/>
            <p:nvPr>
              <p:custDataLst>
                <p:tags r:id="rId17"/>
              </p:custDataLst>
            </p:nvPr>
          </p:nvSpPr>
          <p:spPr>
            <a:xfrm>
              <a:off x="10405" y="5515"/>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采购价格异常、库存呆滞、跨期入库、发票与收货不匹配</a:t>
              </a:r>
              <a:endParaRPr lang="en-US" sz="1120" dirty="0"/>
            </a:p>
          </p:txBody>
        </p:sp>
        <p:sp>
          <p:nvSpPr>
            <p:cNvPr id="22" name="Shape 20"/>
            <p:cNvSpPr/>
            <p:nvPr>
              <p:custDataLst>
                <p:tags r:id="rId18"/>
              </p:custDataLst>
            </p:nvPr>
          </p:nvSpPr>
          <p:spPr>
            <a:xfrm>
              <a:off x="1152" y="6998"/>
              <a:ext cx="8093" cy="1555"/>
            </a:xfrm>
            <a:prstGeom prst="roundRect">
              <a:avLst>
                <a:gd name="adj" fmla="val 4630"/>
              </a:avLst>
            </a:prstGeom>
            <a:solidFill>
              <a:srgbClr val="FEFEFF"/>
            </a:solidFill>
            <a:ln w="12700">
              <a:solidFill>
                <a:srgbClr val="E7E9ED"/>
              </a:solidFill>
              <a:prstDash val="solid"/>
            </a:ln>
          </p:spPr>
        </p:sp>
        <p:sp>
          <p:nvSpPr>
            <p:cNvPr id="23" name="Shape 21"/>
            <p:cNvSpPr/>
            <p:nvPr>
              <p:custDataLst>
                <p:tags r:id="rId19"/>
              </p:custDataLst>
            </p:nvPr>
          </p:nvSpPr>
          <p:spPr>
            <a:xfrm>
              <a:off x="1152" y="6998"/>
              <a:ext cx="173" cy="1555"/>
            </a:xfrm>
            <a:prstGeom prst="rect">
              <a:avLst/>
            </a:prstGeom>
            <a:solidFill>
              <a:srgbClr val="2F3440"/>
            </a:solidFill>
            <a:ln w="12700">
              <a:solidFill>
                <a:srgbClr val="2F3440"/>
              </a:solidFill>
              <a:prstDash val="solid"/>
            </a:ln>
          </p:spPr>
        </p:sp>
        <p:sp>
          <p:nvSpPr>
            <p:cNvPr id="24" name="Text 22"/>
            <p:cNvSpPr/>
            <p:nvPr>
              <p:custDataLst>
                <p:tags r:id="rId20"/>
              </p:custDataLst>
            </p:nvPr>
          </p:nvSpPr>
          <p:spPr>
            <a:xfrm>
              <a:off x="1593" y="7272"/>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总账与往来</a:t>
              </a:r>
              <a:endParaRPr lang="en-US" sz="1450" dirty="0"/>
            </a:p>
          </p:txBody>
        </p:sp>
        <p:sp>
          <p:nvSpPr>
            <p:cNvPr id="25" name="Text 23"/>
            <p:cNvSpPr/>
            <p:nvPr>
              <p:custDataLst>
                <p:tags r:id="rId21"/>
              </p:custDataLst>
            </p:nvPr>
          </p:nvSpPr>
          <p:spPr>
            <a:xfrm>
              <a:off x="1593" y="7661"/>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科目使用异常、关联方往来异常、跨公司挂账不清</a:t>
              </a:r>
              <a:endParaRPr lang="en-US" sz="1120" dirty="0"/>
            </a:p>
          </p:txBody>
        </p:sp>
        <p:sp>
          <p:nvSpPr>
            <p:cNvPr id="26" name="Shape 24"/>
            <p:cNvSpPr/>
            <p:nvPr>
              <p:custDataLst>
                <p:tags r:id="rId22"/>
              </p:custDataLst>
            </p:nvPr>
          </p:nvSpPr>
          <p:spPr>
            <a:xfrm>
              <a:off x="9936" y="6998"/>
              <a:ext cx="8093" cy="1555"/>
            </a:xfrm>
            <a:prstGeom prst="roundRect">
              <a:avLst>
                <a:gd name="adj" fmla="val 4630"/>
              </a:avLst>
            </a:prstGeom>
            <a:solidFill>
              <a:srgbClr val="FEFEFF"/>
            </a:solidFill>
            <a:ln w="12700">
              <a:solidFill>
                <a:srgbClr val="E7E9ED"/>
              </a:solidFill>
              <a:prstDash val="solid"/>
            </a:ln>
          </p:spPr>
        </p:sp>
        <p:sp>
          <p:nvSpPr>
            <p:cNvPr id="27" name="Shape 25"/>
            <p:cNvSpPr/>
            <p:nvPr>
              <p:custDataLst>
                <p:tags r:id="rId23"/>
              </p:custDataLst>
            </p:nvPr>
          </p:nvSpPr>
          <p:spPr>
            <a:xfrm>
              <a:off x="9936" y="6998"/>
              <a:ext cx="173" cy="1555"/>
            </a:xfrm>
            <a:prstGeom prst="rect">
              <a:avLst/>
            </a:prstGeom>
            <a:solidFill>
              <a:srgbClr val="C61F26"/>
            </a:solidFill>
            <a:ln w="12700">
              <a:solidFill>
                <a:srgbClr val="C61F26"/>
              </a:solidFill>
              <a:prstDash val="solid"/>
            </a:ln>
          </p:spPr>
        </p:sp>
        <p:sp>
          <p:nvSpPr>
            <p:cNvPr id="28" name="Text 26"/>
            <p:cNvSpPr/>
            <p:nvPr>
              <p:custDataLst>
                <p:tags r:id="rId24"/>
              </p:custDataLst>
            </p:nvPr>
          </p:nvSpPr>
          <p:spPr>
            <a:xfrm>
              <a:off x="10405" y="7243"/>
              <a:ext cx="2304" cy="288"/>
            </a:xfrm>
            <a:prstGeom prst="rect">
              <a:avLst/>
            </a:prstGeom>
            <a:noFill/>
          </p:spPr>
          <p:txBody>
            <a:bodyPr wrap="square" lIns="0" tIns="0" rIns="0" bIns="0" rtlCol="0" anchor="ctr"/>
            <a:lstStyle/>
            <a:p>
              <a:pPr marL="0" indent="0">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审计支持</a:t>
              </a:r>
              <a:endParaRPr lang="en-US" sz="1450" dirty="0"/>
            </a:p>
          </p:txBody>
        </p:sp>
        <p:sp>
          <p:nvSpPr>
            <p:cNvPr id="29" name="Text 27"/>
            <p:cNvSpPr/>
            <p:nvPr>
              <p:custDataLst>
                <p:tags r:id="rId25"/>
              </p:custDataLst>
            </p:nvPr>
          </p:nvSpPr>
          <p:spPr>
            <a:xfrm>
              <a:off x="10405" y="7631"/>
              <a:ext cx="7344" cy="605"/>
            </a:xfrm>
            <a:prstGeom prst="rect">
              <a:avLst/>
            </a:prstGeom>
            <a:noFill/>
          </p:spPr>
          <p:txBody>
            <a:bodyPr wrap="square" lIns="0" tIns="0" rIns="0" bIns="0" rtlCol="0" anchor="ctr"/>
            <a:lstStyle/>
            <a:p>
              <a:pPr marL="0" indent="0">
                <a:buNone/>
              </a:pPr>
              <a:r>
                <a:rPr lang="en-US" sz="1120" dirty="0">
                  <a:solidFill>
                    <a:srgbClr val="4B4F56"/>
                  </a:solidFill>
                  <a:latin typeface="微软雅黑" panose="020B0503020204020204" charset="-122"/>
                  <a:ea typeface="微软雅黑" panose="020B0503020204020204" charset="-122"/>
                  <a:cs typeface="微软雅黑" panose="020B0503020204020204" pitchFamily="34" charset="-120"/>
                </a:rPr>
                <a:t>自动形成证据链、异常解释、抽样建议和复核清单</a:t>
              </a:r>
              <a:endParaRPr lang="en-US" sz="1120" dirty="0"/>
            </a:p>
          </p:txBody>
        </p:sp>
      </p:grpSp>
      <p:sp>
        <p:nvSpPr>
          <p:cNvPr id="30" name="Text 28"/>
          <p:cNvSpPr/>
          <p:nvPr/>
        </p:nvSpPr>
        <p:spPr>
          <a:xfrm>
            <a:off x="201295" y="5631180"/>
            <a:ext cx="10607040" cy="256032"/>
          </a:xfrm>
          <a:prstGeom prst="rect">
            <a:avLst/>
          </a:prstGeom>
          <a:noFill/>
        </p:spPr>
        <p:txBody>
          <a:bodyPr wrap="square" lIns="0" tIns="0" rIns="0" bIns="0" rtlCol="0" anchor="ctr"/>
          <a:lstStyle/>
          <a:p>
            <a:pPr marL="0" indent="0" algn="ctr">
              <a:buNone/>
            </a:pPr>
            <a:r>
              <a:rPr lang="en-US" sz="1550" b="1" dirty="0">
                <a:solidFill>
                  <a:srgbClr val="2F3440"/>
                </a:solidFill>
                <a:latin typeface="微软雅黑" panose="020B0503020204020204" charset="-122"/>
                <a:ea typeface="微软雅黑" panose="020B0503020204020204" charset="-122"/>
                <a:cs typeface="微软雅黑" panose="020B0503020204020204" pitchFamily="34" charset="-120"/>
              </a:rPr>
              <a:t>关键区别：传统系统只能“查出已知规则问题”；AI 原生系统还能识别“模式异常、组合异常、上下文异常”</a:t>
            </a:r>
            <a:endParaRPr lang="en-US" sz="1550" dirty="0"/>
          </a:p>
        </p:txBody>
      </p:sp>
      <p:sp>
        <p:nvSpPr>
          <p:cNvPr id="31"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能力四：预测、模拟与经营决策支持</a:t>
            </a:r>
            <a:endParaRPr lang="en-US" sz="2250" dirty="0"/>
          </a:p>
        </p:txBody>
      </p:sp>
      <p:sp>
        <p:nvSpPr>
          <p:cNvPr id="4" name="Text 2"/>
          <p:cNvSpPr/>
          <p:nvPr/>
        </p:nvSpPr>
        <p:spPr>
          <a:xfrm>
            <a:off x="639953" y="1076071"/>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让财务系统不只解释过去，更能辅助判断未来</a:t>
            </a:r>
            <a:endParaRPr lang="en-US" sz="1000" dirty="0"/>
          </a:p>
        </p:txBody>
      </p:sp>
      <p:sp>
        <p:nvSpPr>
          <p:cNvPr id="5" name="Text 3"/>
          <p:cNvSpPr/>
          <p:nvPr/>
        </p:nvSpPr>
        <p:spPr>
          <a:xfrm>
            <a:off x="640207" y="1316482"/>
            <a:ext cx="141732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Forecasting</a:t>
            </a:r>
            <a:endParaRPr lang="en-US" sz="1050" dirty="0"/>
          </a:p>
        </p:txBody>
      </p:sp>
      <p:grpSp>
        <p:nvGrpSpPr>
          <p:cNvPr id="33" name="组合 32"/>
          <p:cNvGrpSpPr/>
          <p:nvPr/>
        </p:nvGrpSpPr>
        <p:grpSpPr>
          <a:xfrm>
            <a:off x="658495" y="1610995"/>
            <a:ext cx="2743200" cy="3515360"/>
            <a:chOff x="1123" y="2575"/>
            <a:chExt cx="4320" cy="5536"/>
          </a:xfrm>
        </p:grpSpPr>
        <p:sp>
          <p:nvSpPr>
            <p:cNvPr id="6" name="Shape 4"/>
            <p:cNvSpPr/>
            <p:nvPr/>
          </p:nvSpPr>
          <p:spPr>
            <a:xfrm>
              <a:off x="1123" y="2575"/>
              <a:ext cx="4320" cy="5536"/>
            </a:xfrm>
            <a:prstGeom prst="roundRect">
              <a:avLst>
                <a:gd name="adj" fmla="val 40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nvSpPr>
          <p:spPr>
            <a:xfrm>
              <a:off x="1397" y="2880"/>
              <a:ext cx="3686" cy="461"/>
            </a:xfrm>
            <a:prstGeom prst="rect">
              <a:avLst/>
            </a:prstGeom>
            <a:noFill/>
          </p:spPr>
          <p:txBody>
            <a:bodyPr wrap="square" lIns="0" tIns="0" rIns="0" bIns="0" rtlCol="0" anchor="ctr">
              <a:normAutofit/>
            </a:bodyPr>
            <a:lstStyle/>
            <a:p>
              <a:pPr marL="0" indent="0">
                <a:buNone/>
              </a:pPr>
              <a:r>
                <a:rPr lang="en-US" sz="1400" b="1" dirty="0">
                  <a:solidFill>
                    <a:srgbClr val="C61F26"/>
                  </a:solidFill>
                  <a:latin typeface="微软雅黑" panose="020B0503020204020204" charset="-122"/>
                  <a:ea typeface="微软雅黑" panose="020B0503020204020204" charset="-122"/>
                  <a:cs typeface="微软雅黑" panose="020B0503020204020204" pitchFamily="34" charset="-120"/>
                </a:rPr>
                <a:t>可支持的典型场景</a:t>
              </a:r>
              <a:endParaRPr lang="en-US" sz="1400" b="1" dirty="0">
                <a:solidFill>
                  <a:srgbClr val="C61F26"/>
                </a:solidFill>
                <a:latin typeface="微软雅黑" panose="020B0503020204020204" charset="-122"/>
                <a:ea typeface="微软雅黑" panose="020B0503020204020204" charset="-122"/>
                <a:cs typeface="微软雅黑" panose="020B0503020204020204" pitchFamily="34" charset="-120"/>
              </a:endParaRPr>
            </a:p>
          </p:txBody>
        </p:sp>
        <p:sp>
          <p:nvSpPr>
            <p:cNvPr id="8" name="Shape 6"/>
            <p:cNvSpPr/>
            <p:nvPr/>
          </p:nvSpPr>
          <p:spPr>
            <a:xfrm>
              <a:off x="1440" y="3528"/>
              <a:ext cx="259" cy="58"/>
            </a:xfrm>
            <a:prstGeom prst="rect">
              <a:avLst/>
            </a:prstGeom>
            <a:solidFill>
              <a:srgbClr val="C61F26"/>
            </a:solidFill>
            <a:ln w="12700">
              <a:solidFill>
                <a:srgbClr val="C61F26"/>
              </a:solidFill>
              <a:prstDash val="solid"/>
            </a:ln>
          </p:spPr>
        </p:sp>
        <p:sp>
          <p:nvSpPr>
            <p:cNvPr id="9" name="Text 7"/>
            <p:cNvSpPr/>
            <p:nvPr/>
          </p:nvSpPr>
          <p:spPr>
            <a:xfrm>
              <a:off x="1440" y="3773"/>
              <a:ext cx="3686" cy="4306"/>
            </a:xfrm>
            <a:prstGeom prst="rect">
              <a:avLst/>
            </a:prstGeom>
            <a:noFill/>
          </p:spPr>
          <p:txBody>
            <a:bodyPr wrap="square" lIns="0" tIns="0" rIns="0" bIns="0" rtlCol="0" anchor="t">
              <a:normAutofit/>
            </a:bodyPr>
            <a:lstStyle/>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现金流预测与缺口预警</a:t>
              </a:r>
              <a:endParaRPr lang="en-US" sz="1400"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利润与毛利率波动分析</a:t>
              </a:r>
              <a:endParaRPr lang="en-US" sz="1400"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预算执行偏差解释</a:t>
              </a:r>
              <a:endParaRPr lang="en-US" sz="1400"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价格策略对利润影响模拟</a:t>
              </a:r>
              <a:endParaRPr lang="en-US" sz="1400"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回款节奏变化对资金计划影响</a:t>
              </a:r>
              <a:endParaRPr lang="en-US" sz="1400" dirty="0">
                <a:latin typeface="微软雅黑" panose="020B0503020204020204" charset="-122"/>
                <a:ea typeface="微软雅黑" panose="020B0503020204020204" charset="-122"/>
                <a:cs typeface="微软雅黑" panose="020B0503020204020204" charset="-122"/>
              </a:endParaRPr>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charset="-122"/>
                </a:rPr>
                <a:t>• 税务政策变化对成本和税负影响</a:t>
              </a:r>
              <a:endParaRPr lang="en-US" sz="1400" dirty="0">
                <a:solidFill>
                  <a:srgbClr val="4B4F56"/>
                </a:solidFill>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p:nvPr/>
        </p:nvGrpSpPr>
        <p:grpSpPr>
          <a:xfrm>
            <a:off x="3636645" y="1635125"/>
            <a:ext cx="3840480" cy="3490595"/>
            <a:chOff x="5810" y="2609"/>
            <a:chExt cx="6048" cy="5497"/>
          </a:xfrm>
        </p:grpSpPr>
        <p:sp>
          <p:nvSpPr>
            <p:cNvPr id="10" name="Shape 8"/>
            <p:cNvSpPr/>
            <p:nvPr/>
          </p:nvSpPr>
          <p:spPr>
            <a:xfrm>
              <a:off x="5810" y="2609"/>
              <a:ext cx="6048" cy="5497"/>
            </a:xfrm>
            <a:prstGeom prst="roundRect">
              <a:avLst>
                <a:gd name="adj" fmla="val 2025"/>
              </a:avLst>
            </a:prstGeom>
            <a:solidFill>
              <a:srgbClr val="FDFEFE"/>
            </a:solidFill>
            <a:ln w="12700">
              <a:solidFill>
                <a:srgbClr val="E7E9ED"/>
              </a:solidFill>
              <a:prstDash val="solid"/>
            </a:ln>
          </p:spPr>
        </p:sp>
        <p:sp>
          <p:nvSpPr>
            <p:cNvPr id="11" name="Text 9"/>
            <p:cNvSpPr/>
            <p:nvPr/>
          </p:nvSpPr>
          <p:spPr>
            <a:xfrm>
              <a:off x="7704" y="2949"/>
              <a:ext cx="2592" cy="317"/>
            </a:xfrm>
            <a:prstGeom prst="rect">
              <a:avLst/>
            </a:prstGeom>
            <a:noFill/>
          </p:spPr>
          <p:txBody>
            <a:bodyPr wrap="square" lIns="0" tIns="0" rIns="0" bIns="0" rtlCol="0" anchor="ctr"/>
            <a:lstStyle/>
            <a:p>
              <a:pPr marL="0" indent="0">
                <a:buNone/>
              </a:pPr>
              <a:r>
                <a:rPr lang="en-US" b="1" dirty="0">
                  <a:solidFill>
                    <a:srgbClr val="2F3440"/>
                  </a:solidFill>
                  <a:latin typeface="微软雅黑" panose="020B0503020204020204" charset="-122"/>
                  <a:ea typeface="微软雅黑" panose="020B0503020204020204" charset="-122"/>
                  <a:cs typeface="微软雅黑" panose="020B0503020204020204" pitchFamily="34" charset="-120"/>
                </a:rPr>
                <a:t>决策模拟逻辑</a:t>
              </a:r>
              <a:endParaRPr lang="en-US"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2" name="Text 10"/>
            <p:cNvSpPr/>
            <p:nvPr/>
          </p:nvSpPr>
          <p:spPr>
            <a:xfrm>
              <a:off x="6163" y="3744"/>
              <a:ext cx="5328" cy="576"/>
            </a:xfrm>
            <a:prstGeom prst="rect">
              <a:avLst/>
            </a:prstGeom>
            <a:noFill/>
          </p:spPr>
          <p:txBody>
            <a:bodyPr wrap="square" lIns="0" tIns="0" rIns="0" bIns="0" rtlCol="0" anchor="ct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历史交易 + 当前订单 + 预算 + 合同 + 资金计划 + 政策约束</a:t>
              </a:r>
              <a:endParaRPr lang="en-US" sz="1200" dirty="0"/>
            </a:p>
          </p:txBody>
        </p:sp>
        <p:sp>
          <p:nvSpPr>
            <p:cNvPr id="13" name="Shape 11"/>
            <p:cNvSpPr/>
            <p:nvPr/>
          </p:nvSpPr>
          <p:spPr>
            <a:xfrm rot="5400000">
              <a:off x="8443" y="4626"/>
              <a:ext cx="682" cy="605"/>
            </a:xfrm>
            <a:prstGeom prst="chevron">
              <a:avLst/>
            </a:prstGeom>
            <a:solidFill>
              <a:srgbClr val="BDEFEA"/>
            </a:solidFill>
            <a:ln w="12700">
              <a:solidFill>
                <a:srgbClr val="BDEFEA"/>
              </a:solidFill>
              <a:prstDash val="solid"/>
            </a:ln>
          </p:spPr>
          <p:txBody>
            <a:bodyPr/>
            <a:p>
              <a:endParaRPr lang="zh-CN" altLang="en-US"/>
            </a:p>
          </p:txBody>
        </p:sp>
        <p:sp>
          <p:nvSpPr>
            <p:cNvPr id="14" name="Text 12"/>
            <p:cNvSpPr/>
            <p:nvPr/>
          </p:nvSpPr>
          <p:spPr>
            <a:xfrm>
              <a:off x="6573" y="5270"/>
              <a:ext cx="4608" cy="792"/>
            </a:xfrm>
            <a:prstGeom prst="rect">
              <a:avLst/>
            </a:prstGeom>
            <a:noFill/>
          </p:spPr>
          <p:txBody>
            <a:bodyPr wrap="square" lIns="0" tIns="0" rIns="0" bIns="0" rtlCol="0" anchor="ctr"/>
            <a:lstStyle/>
            <a:p>
              <a:pPr marL="0" indent="0" algn="ctr">
                <a:buNone/>
              </a:pPr>
              <a:r>
                <a:rPr lang="en-US" sz="1300" b="1" dirty="0">
                  <a:solidFill>
                    <a:srgbClr val="2F3440"/>
                  </a:solidFill>
                  <a:latin typeface="微软雅黑" panose="020B0503020204020204" charset="-122"/>
                  <a:ea typeface="微软雅黑" panose="020B0503020204020204" charset="-122"/>
                  <a:cs typeface="微软雅黑" panose="020B0503020204020204" pitchFamily="34" charset="-120"/>
                </a:rPr>
                <a:t>AI 进行归因、预测、情景比较</a:t>
              </a:r>
              <a:endParaRPr lang="en-US" sz="1300" dirty="0"/>
            </a:p>
            <a:p>
              <a:pPr marL="0" indent="0" algn="ctr">
                <a:buNone/>
              </a:pPr>
              <a:r>
                <a:rPr lang="en-US" sz="1300" b="1" dirty="0">
                  <a:solidFill>
                    <a:srgbClr val="2F3440"/>
                  </a:solidFill>
                  <a:latin typeface="微软雅黑" panose="020B0503020204020204" charset="-122"/>
                  <a:ea typeface="微软雅黑" panose="020B0503020204020204" charset="-122"/>
                  <a:cs typeface="微软雅黑" panose="020B0503020204020204" pitchFamily="34" charset="-120"/>
                </a:rPr>
                <a:t>并输出建议动作与影响说明</a:t>
              </a:r>
              <a:endParaRPr lang="en-US" sz="1300" dirty="0"/>
            </a:p>
          </p:txBody>
        </p:sp>
        <p:sp>
          <p:nvSpPr>
            <p:cNvPr id="15" name="Shape 13"/>
            <p:cNvSpPr/>
            <p:nvPr/>
          </p:nvSpPr>
          <p:spPr>
            <a:xfrm rot="5400000">
              <a:off x="8441" y="6234"/>
              <a:ext cx="687" cy="605"/>
            </a:xfrm>
            <a:prstGeom prst="chevron">
              <a:avLst/>
            </a:prstGeom>
            <a:solidFill>
              <a:srgbClr val="FDE1A3"/>
            </a:solidFill>
            <a:ln w="12700">
              <a:solidFill>
                <a:srgbClr val="FDE1A3"/>
              </a:solidFill>
              <a:prstDash val="solid"/>
            </a:ln>
          </p:spPr>
        </p:sp>
        <p:sp>
          <p:nvSpPr>
            <p:cNvPr id="16" name="Text 14"/>
            <p:cNvSpPr/>
            <p:nvPr/>
          </p:nvSpPr>
          <p:spPr>
            <a:xfrm>
              <a:off x="6286" y="7012"/>
              <a:ext cx="5184" cy="403"/>
            </a:xfrm>
            <a:prstGeom prst="rect">
              <a:avLst/>
            </a:prstGeom>
            <a:noFill/>
          </p:spPr>
          <p:txBody>
            <a:bodyPr wrap="square" lIns="0" tIns="0" rIns="0" bIns="0" rtlCol="0" anchor="ctr"/>
            <a:lstStyle/>
            <a:p>
              <a:pPr marL="0" indent="0" algn="ctr">
                <a:buNone/>
              </a:pPr>
              <a:r>
                <a:rPr lang="en-US" sz="1250" dirty="0">
                  <a:solidFill>
                    <a:srgbClr val="4B4F56"/>
                  </a:solidFill>
                  <a:latin typeface="微软雅黑" panose="020B0503020204020204" charset="-122"/>
                  <a:ea typeface="微软雅黑" panose="020B0503020204020204" charset="-122"/>
                  <a:cs typeface="微软雅黑" panose="020B0503020204020204" pitchFamily="34" charset="-120"/>
                </a:rPr>
                <a:t>输出：更接近业务真实语境的经营建议</a:t>
              </a:r>
              <a:endParaRPr lang="en-US" sz="1250" dirty="0"/>
            </a:p>
          </p:txBody>
        </p:sp>
      </p:grpSp>
      <p:grpSp>
        <p:nvGrpSpPr>
          <p:cNvPr id="35" name="组合 34"/>
          <p:cNvGrpSpPr/>
          <p:nvPr/>
        </p:nvGrpSpPr>
        <p:grpSpPr>
          <a:xfrm>
            <a:off x="7790180" y="1607820"/>
            <a:ext cx="3657600" cy="3519170"/>
            <a:chOff x="12312" y="2575"/>
            <a:chExt cx="5760" cy="5504"/>
          </a:xfrm>
        </p:grpSpPr>
        <p:sp>
          <p:nvSpPr>
            <p:cNvPr id="17" name="Shape 15"/>
            <p:cNvSpPr/>
            <p:nvPr/>
          </p:nvSpPr>
          <p:spPr>
            <a:xfrm>
              <a:off x="12312" y="2585"/>
              <a:ext cx="5760" cy="5489"/>
            </a:xfrm>
            <a:prstGeom prst="roundRect">
              <a:avLst>
                <a:gd name="adj" fmla="val 3038"/>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8" name="Text 16"/>
            <p:cNvSpPr/>
            <p:nvPr/>
          </p:nvSpPr>
          <p:spPr>
            <a:xfrm>
              <a:off x="12506" y="2575"/>
              <a:ext cx="5334" cy="1148"/>
            </a:xfrm>
            <a:prstGeom prst="rect">
              <a:avLst/>
            </a:prstGeom>
            <a:noFill/>
          </p:spPr>
          <p:txBody>
            <a:bodyPr wrap="square" lIns="0" tIns="0" rIns="0" bIns="0" rtlCol="0" anchor="ctr"/>
            <a:lstStyle/>
            <a:p>
              <a:pPr marL="0" indent="0">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管理层真正需要的不是“更多报表”而是“可执行判断”</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9" name="Shape 17"/>
            <p:cNvSpPr/>
            <p:nvPr/>
          </p:nvSpPr>
          <p:spPr>
            <a:xfrm>
              <a:off x="12629" y="3528"/>
              <a:ext cx="259" cy="58"/>
            </a:xfrm>
            <a:prstGeom prst="rect">
              <a:avLst/>
            </a:prstGeom>
            <a:solidFill>
              <a:srgbClr val="E25A3B"/>
            </a:solidFill>
            <a:ln w="12700">
              <a:solidFill>
                <a:srgbClr val="E25A3B"/>
              </a:solidFill>
              <a:prstDash val="solid"/>
            </a:ln>
          </p:spPr>
        </p:sp>
        <p:sp>
          <p:nvSpPr>
            <p:cNvPr id="20" name="Text 18"/>
            <p:cNvSpPr/>
            <p:nvPr/>
          </p:nvSpPr>
          <p:spPr>
            <a:xfrm>
              <a:off x="12629" y="3773"/>
              <a:ext cx="5126" cy="4306"/>
            </a:xfrm>
            <a:prstGeom prst="rect">
              <a:avLst/>
            </a:prstGeom>
            <a:noFill/>
          </p:spPr>
          <p:txBody>
            <a:bodyPr wrap="square" lIns="0" tIns="0" rIns="0" bIns="0" rtlCol="0" anchor="t">
              <a:normAutofit/>
            </a:bodyPr>
            <a:lstStyle/>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pitchFamily="34" charset="-120"/>
                </a:rPr>
                <a:t>例如：</a:t>
              </a:r>
              <a:endParaRPr lang="en-US" sz="1400" dirty="0"/>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pitchFamily="34" charset="-120"/>
                </a:rPr>
                <a:t>1) 如果把客户 A 的账期延长 15 天，现金流缺口会扩大多少？</a:t>
              </a:r>
              <a:endParaRPr lang="en-US" sz="1400" dirty="0"/>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pitchFamily="34" charset="-120"/>
                </a:rPr>
                <a:t>2) 如果项目 B 延迟验收，利润确认与税负将如何变化？</a:t>
              </a:r>
              <a:endParaRPr lang="en-US" sz="1400" dirty="0"/>
            </a:p>
            <a:p>
              <a:pPr marL="0" indent="0">
                <a:lnSpc>
                  <a:spcPct val="150000"/>
                </a:lnSpc>
                <a:buNone/>
              </a:pPr>
              <a:r>
                <a:rPr lang="en-US" sz="1400" dirty="0">
                  <a:solidFill>
                    <a:srgbClr val="4B4F56"/>
                  </a:solidFill>
                  <a:latin typeface="微软雅黑" panose="020B0503020204020204" charset="-122"/>
                  <a:ea typeface="微软雅黑" panose="020B0503020204020204" charset="-122"/>
                  <a:cs typeface="微软雅黑" panose="020B0503020204020204" pitchFamily="34" charset="-120"/>
                </a:rPr>
                <a:t>3) 当前促销策略带来的收入增长，是否值得毛利率下降？</a:t>
              </a:r>
              <a:endParaRPr lang="en-US" sz="14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36" name="组合 35"/>
          <p:cNvGrpSpPr/>
          <p:nvPr/>
        </p:nvGrpSpPr>
        <p:grpSpPr>
          <a:xfrm>
            <a:off x="658495" y="5257165"/>
            <a:ext cx="2941320" cy="668655"/>
            <a:chOff x="1278" y="8365"/>
            <a:chExt cx="4632" cy="1266"/>
          </a:xfrm>
        </p:grpSpPr>
        <p:sp>
          <p:nvSpPr>
            <p:cNvPr id="21" name="Shape 19"/>
            <p:cNvSpPr/>
            <p:nvPr/>
          </p:nvSpPr>
          <p:spPr>
            <a:xfrm>
              <a:off x="1278" y="8365"/>
              <a:ext cx="4633" cy="1267"/>
            </a:xfrm>
            <a:prstGeom prst="roundRect">
              <a:avLst>
                <a:gd name="adj" fmla="val 13636"/>
              </a:avLst>
            </a:prstGeom>
            <a:solidFill>
              <a:srgbClr val="FFE5D9"/>
            </a:solidFill>
            <a:ln w="12700">
              <a:solidFill>
                <a:srgbClr val="E7E9ED"/>
              </a:solidFill>
              <a:prstDash val="solid"/>
            </a:ln>
          </p:spPr>
          <p:txBody>
            <a:bodyPr/>
            <a:p>
              <a:endParaRPr lang="zh-CN" altLang="en-US"/>
            </a:p>
          </p:txBody>
        </p:sp>
        <p:sp>
          <p:nvSpPr>
            <p:cNvPr id="22" name="Text 20"/>
            <p:cNvSpPr/>
            <p:nvPr/>
          </p:nvSpPr>
          <p:spPr>
            <a:xfrm>
              <a:off x="1278" y="8509"/>
              <a:ext cx="4633"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解释过去</a:t>
              </a:r>
              <a:endParaRPr lang="en-US" sz="2000" dirty="0"/>
            </a:p>
          </p:txBody>
        </p:sp>
        <p:sp>
          <p:nvSpPr>
            <p:cNvPr id="23" name="Text 21"/>
            <p:cNvSpPr/>
            <p:nvPr/>
          </p:nvSpPr>
          <p:spPr>
            <a:xfrm>
              <a:off x="1421" y="9085"/>
              <a:ext cx="4348"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传统财务系统强项</a:t>
              </a:r>
              <a:endParaRPr lang="en-US" sz="1020" dirty="0"/>
            </a:p>
          </p:txBody>
        </p:sp>
      </p:grpSp>
      <p:grpSp>
        <p:nvGrpSpPr>
          <p:cNvPr id="37" name="组合 36"/>
          <p:cNvGrpSpPr/>
          <p:nvPr/>
        </p:nvGrpSpPr>
        <p:grpSpPr>
          <a:xfrm>
            <a:off x="4490085" y="5257165"/>
            <a:ext cx="2941320" cy="666750"/>
            <a:chOff x="7247" y="8365"/>
            <a:chExt cx="4632" cy="1252"/>
          </a:xfrm>
        </p:grpSpPr>
        <p:sp>
          <p:nvSpPr>
            <p:cNvPr id="24" name="Shape 22"/>
            <p:cNvSpPr/>
            <p:nvPr/>
          </p:nvSpPr>
          <p:spPr>
            <a:xfrm>
              <a:off x="7247" y="8365"/>
              <a:ext cx="4633" cy="1253"/>
            </a:xfrm>
            <a:prstGeom prst="roundRect">
              <a:avLst>
                <a:gd name="adj" fmla="val 13636"/>
              </a:avLst>
            </a:prstGeom>
            <a:solidFill>
              <a:srgbClr val="EAF1FF"/>
            </a:solidFill>
            <a:ln w="12700">
              <a:solidFill>
                <a:srgbClr val="E7E9ED"/>
              </a:solidFill>
              <a:prstDash val="solid"/>
            </a:ln>
          </p:spPr>
        </p:sp>
        <p:sp>
          <p:nvSpPr>
            <p:cNvPr id="25" name="Text 23"/>
            <p:cNvSpPr/>
            <p:nvPr/>
          </p:nvSpPr>
          <p:spPr>
            <a:xfrm>
              <a:off x="7247" y="8595"/>
              <a:ext cx="4633" cy="485"/>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预判未来</a:t>
              </a:r>
              <a:endParaRPr lang="en-US" sz="2000" dirty="0"/>
            </a:p>
          </p:txBody>
        </p:sp>
        <p:sp>
          <p:nvSpPr>
            <p:cNvPr id="26" name="Text 24"/>
            <p:cNvSpPr/>
            <p:nvPr/>
          </p:nvSpPr>
          <p:spPr>
            <a:xfrm>
              <a:off x="7390" y="9085"/>
              <a:ext cx="4348" cy="342"/>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AI 原生系统新增能力</a:t>
              </a:r>
              <a:endParaRPr lang="en-US" sz="1020" dirty="0"/>
            </a:p>
          </p:txBody>
        </p:sp>
      </p:grpSp>
      <p:grpSp>
        <p:nvGrpSpPr>
          <p:cNvPr id="38" name="组合 37"/>
          <p:cNvGrpSpPr/>
          <p:nvPr/>
        </p:nvGrpSpPr>
        <p:grpSpPr>
          <a:xfrm>
            <a:off x="8595995" y="5209540"/>
            <a:ext cx="2941320" cy="665480"/>
            <a:chOff x="13216" y="8365"/>
            <a:chExt cx="4632" cy="1266"/>
          </a:xfrm>
        </p:grpSpPr>
        <p:sp>
          <p:nvSpPr>
            <p:cNvPr id="27" name="Shape 25"/>
            <p:cNvSpPr/>
            <p:nvPr/>
          </p:nvSpPr>
          <p:spPr>
            <a:xfrm>
              <a:off x="13216" y="8365"/>
              <a:ext cx="4633" cy="1267"/>
            </a:xfrm>
            <a:prstGeom prst="roundRect">
              <a:avLst>
                <a:gd name="adj" fmla="val 13636"/>
              </a:avLst>
            </a:prstGeom>
            <a:solidFill>
              <a:srgbClr val="DFF6F4"/>
            </a:solidFill>
            <a:ln w="12700">
              <a:solidFill>
                <a:srgbClr val="E7E9ED"/>
              </a:solidFill>
              <a:prstDash val="solid"/>
            </a:ln>
          </p:spPr>
        </p:sp>
        <p:sp>
          <p:nvSpPr>
            <p:cNvPr id="28" name="Text 26"/>
            <p:cNvSpPr/>
            <p:nvPr/>
          </p:nvSpPr>
          <p:spPr>
            <a:xfrm>
              <a:off x="13216" y="8594"/>
              <a:ext cx="4633"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建议动作</a:t>
              </a:r>
              <a:endParaRPr lang="en-US" sz="2000" dirty="0"/>
            </a:p>
          </p:txBody>
        </p:sp>
        <p:sp>
          <p:nvSpPr>
            <p:cNvPr id="29" name="Text 27"/>
            <p:cNvSpPr/>
            <p:nvPr/>
          </p:nvSpPr>
          <p:spPr>
            <a:xfrm>
              <a:off x="13359" y="9085"/>
              <a:ext cx="4348"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原生 AI 的关键价值</a:t>
              </a:r>
              <a:endParaRPr lang="en-US" sz="1020" dirty="0"/>
            </a:p>
          </p:txBody>
        </p:sp>
      </p:grpSp>
      <p:sp>
        <p:nvSpPr>
          <p:cNvPr id="30"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
        <p:nvSpPr>
          <p:cNvPr id="40" name="Shape 11"/>
          <p:cNvSpPr/>
          <p:nvPr/>
        </p:nvSpPr>
        <p:spPr>
          <a:xfrm>
            <a:off x="3783965" y="5379085"/>
            <a:ext cx="433070" cy="384175"/>
          </a:xfrm>
          <a:prstGeom prst="chevron">
            <a:avLst/>
          </a:prstGeom>
          <a:solidFill>
            <a:srgbClr val="BDEFEA"/>
          </a:solidFill>
          <a:ln w="12700">
            <a:solidFill>
              <a:srgbClr val="BDEFEA"/>
            </a:solidFill>
            <a:prstDash val="solid"/>
          </a:ln>
        </p:spPr>
        <p:txBody>
          <a:bodyPr/>
          <a:p>
            <a:endParaRPr lang="zh-CN" altLang="en-US"/>
          </a:p>
        </p:txBody>
      </p:sp>
      <p:sp>
        <p:nvSpPr>
          <p:cNvPr id="41" name="Shape 13"/>
          <p:cNvSpPr/>
          <p:nvPr/>
        </p:nvSpPr>
        <p:spPr>
          <a:xfrm>
            <a:off x="7764145" y="5379085"/>
            <a:ext cx="436245" cy="384175"/>
          </a:xfrm>
          <a:prstGeom prst="chevron">
            <a:avLst/>
          </a:prstGeom>
          <a:solidFill>
            <a:srgbClr val="FDE1A3"/>
          </a:solidFill>
          <a:ln w="12700">
            <a:solidFill>
              <a:srgbClr val="FDE1A3"/>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AI 原生财务系统能解决哪些传统系统解决不了的问题</a:t>
            </a:r>
            <a:endParaRPr lang="en-US" sz="2250" dirty="0"/>
          </a:p>
        </p:txBody>
      </p:sp>
      <p:sp>
        <p:nvSpPr>
          <p:cNvPr id="4" name="Text 2"/>
          <p:cNvSpPr/>
          <p:nvPr/>
        </p:nvSpPr>
        <p:spPr>
          <a:xfrm>
            <a:off x="668528" y="1078611"/>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差异不在于“有没有 AI”，而在于系统是否具备原生的认知与执行能力</a:t>
            </a:r>
            <a:endParaRPr lang="en-US" sz="1000" dirty="0"/>
          </a:p>
        </p:txBody>
      </p:sp>
      <p:sp>
        <p:nvSpPr>
          <p:cNvPr id="5" name="Text 3"/>
          <p:cNvSpPr/>
          <p:nvPr/>
        </p:nvSpPr>
        <p:spPr>
          <a:xfrm>
            <a:off x="658622" y="1298702"/>
            <a:ext cx="137160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Comparison</a:t>
            </a:r>
            <a:endParaRPr lang="en-US" sz="1050" dirty="0"/>
          </a:p>
        </p:txBody>
      </p:sp>
      <p:graphicFrame>
        <p:nvGraphicFramePr>
          <p:cNvPr id="12" name="Table 0"/>
          <p:cNvGraphicFramePr>
            <a:graphicFrameLocks noGrp="1"/>
          </p:cNvGraphicFramePr>
          <p:nvPr>
            <p:custDataLst>
              <p:tags r:id="rId1"/>
            </p:custDataLst>
          </p:nvPr>
        </p:nvGraphicFramePr>
        <p:xfrm>
          <a:off x="668655" y="1627505"/>
          <a:ext cx="10825480" cy="4643120"/>
        </p:xfrm>
        <a:graphic>
          <a:graphicData uri="http://schemas.openxmlformats.org/drawingml/2006/table">
            <a:tbl>
              <a:tblPr/>
              <a:tblGrid>
                <a:gridCol w="1842770"/>
                <a:gridCol w="4007485"/>
                <a:gridCol w="4975225"/>
              </a:tblGrid>
              <a:tr h="459105">
                <a:tc>
                  <a:txBody>
                    <a:bodyPr/>
                    <a:lstStyle/>
                    <a:p>
                      <a:pPr marL="0" indent="0" algn="ctr">
                        <a:lnSpc>
                          <a:spcPct val="150000"/>
                        </a:lnSpc>
                        <a:buNone/>
                      </a:pPr>
                      <a:r>
                        <a:rPr lang="en-US" sz="1400" b="1" dirty="0">
                          <a:solidFill>
                            <a:srgbClr val="FFFFFF"/>
                          </a:solidFill>
                          <a:latin typeface="微软雅黑" panose="020B0503020204020204" charset="-122"/>
                          <a:ea typeface="微软雅黑" panose="020B0503020204020204" charset="-122"/>
                          <a:cs typeface="微软雅黑" panose="020B0503020204020204" pitchFamily="34" charset="-120"/>
                        </a:rPr>
                        <a:t>能力维度</a:t>
                      </a:r>
                      <a:endParaRPr lang="en-US" sz="14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400" b="1" dirty="0">
                          <a:solidFill>
                            <a:srgbClr val="FFFFFF"/>
                          </a:solidFill>
                          <a:latin typeface="微软雅黑" panose="020B0503020204020204" charset="-122"/>
                          <a:ea typeface="微软雅黑" panose="020B0503020204020204" charset="-122"/>
                          <a:cs typeface="微软雅黑" panose="020B0503020204020204" pitchFamily="34" charset="-120"/>
                        </a:rPr>
                        <a:t>传统财务系统</a:t>
                      </a:r>
                      <a:endParaRPr lang="en-US" sz="14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400" b="1" dirty="0">
                          <a:solidFill>
                            <a:srgbClr val="FFFFFF"/>
                          </a:solidFill>
                          <a:latin typeface="微软雅黑" panose="020B0503020204020204" charset="-122"/>
                          <a:ea typeface="微软雅黑" panose="020B0503020204020204" charset="-122"/>
                          <a:cs typeface="微软雅黑" panose="020B0503020204020204" pitchFamily="34" charset="-120"/>
                        </a:rPr>
                        <a:t>AI-Native 财务系统</a:t>
                      </a:r>
                      <a:endParaRPr lang="en-US" sz="1400" b="1" dirty="0">
                        <a:solidFill>
                          <a:srgbClr val="FFFFFF"/>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73914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数据处理对象</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结构化字段、表单、凭证、固定报表</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结构化 + 非结构化 + 多模态资料</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（合同、附件、政策、邮件、对话）</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88975">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问题发现方式</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人工查报表、人工抽样、规则命中</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连续监控、异常模式识别、上下文推理、事件触发</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896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知识使用方式</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依赖人员经验和系统外文档</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制度/政策/SOP/案例沉淀为可检索、可引用、可解释的知识层</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87705">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工作执行方式</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人操作系统完成流程</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AI 先完成大部分动作，人只处理例外和授权节点</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896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输出结果</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报表、台账、流程状态</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回答、建议、风险、行动清单、审批动作、追踪闭环</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88975">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组织价值</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提升交易处理效率</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同时提升效率、洞察力、风险治理和经营决策质量</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3. 原生 AI 财务系统对客户的核心价值</a:t>
            </a:r>
            <a:endParaRPr lang="en-US" sz="2250" dirty="0"/>
          </a:p>
        </p:txBody>
      </p:sp>
      <p:sp>
        <p:nvSpPr>
          <p:cNvPr id="4" name="Text 2"/>
          <p:cNvSpPr/>
          <p:nvPr/>
        </p:nvSpPr>
        <p:spPr>
          <a:xfrm>
            <a:off x="658368" y="104241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价值不只体现在“省人”，更体现在“提效、增智、控险、促经营”</a:t>
            </a:r>
            <a:endParaRPr lang="en-US" sz="1000" dirty="0"/>
          </a:p>
        </p:txBody>
      </p:sp>
      <p:sp>
        <p:nvSpPr>
          <p:cNvPr id="5" name="Text 3"/>
          <p:cNvSpPr/>
          <p:nvPr/>
        </p:nvSpPr>
        <p:spPr>
          <a:xfrm>
            <a:off x="658622" y="1353947"/>
            <a:ext cx="1664208"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Customer Value</a:t>
            </a:r>
            <a:endParaRPr lang="en-US" sz="1050" dirty="0"/>
          </a:p>
        </p:txBody>
      </p:sp>
      <p:grpSp>
        <p:nvGrpSpPr>
          <p:cNvPr id="38" name="组合 37"/>
          <p:cNvGrpSpPr/>
          <p:nvPr/>
        </p:nvGrpSpPr>
        <p:grpSpPr>
          <a:xfrm>
            <a:off x="701675" y="1664335"/>
            <a:ext cx="10695305" cy="3374390"/>
            <a:chOff x="1105" y="2549"/>
            <a:chExt cx="16843" cy="5314"/>
          </a:xfrm>
        </p:grpSpPr>
        <p:sp>
          <p:nvSpPr>
            <p:cNvPr id="6" name="Shape 4"/>
            <p:cNvSpPr/>
            <p:nvPr/>
          </p:nvSpPr>
          <p:spPr>
            <a:xfrm>
              <a:off x="1105" y="2549"/>
              <a:ext cx="4104" cy="4190"/>
            </a:xfrm>
            <a:prstGeom prst="roundRect">
              <a:avLst>
                <a:gd name="adj" fmla="val 4211"/>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nvSpPr>
          <p:spPr>
            <a:xfrm>
              <a:off x="1441" y="2977"/>
              <a:ext cx="3470" cy="461"/>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价值一：效率提升</a:t>
              </a:r>
              <a:endParaRPr lang="en-US" sz="1460" dirty="0"/>
            </a:p>
          </p:txBody>
        </p:sp>
        <p:sp>
          <p:nvSpPr>
            <p:cNvPr id="8" name="Shape 6"/>
            <p:cNvSpPr/>
            <p:nvPr/>
          </p:nvSpPr>
          <p:spPr>
            <a:xfrm>
              <a:off x="1469" y="3528"/>
              <a:ext cx="259" cy="58"/>
            </a:xfrm>
            <a:prstGeom prst="rect">
              <a:avLst/>
            </a:prstGeom>
            <a:solidFill>
              <a:srgbClr val="C61F26"/>
            </a:solidFill>
            <a:ln w="12700">
              <a:solidFill>
                <a:srgbClr val="C61F26"/>
              </a:solidFill>
              <a:prstDash val="solid"/>
            </a:ln>
          </p:spPr>
        </p:sp>
        <p:sp>
          <p:nvSpPr>
            <p:cNvPr id="9" name="Text 7"/>
            <p:cNvSpPr/>
            <p:nvPr/>
          </p:nvSpPr>
          <p:spPr>
            <a:xfrm>
              <a:off x="1555" y="3772"/>
              <a:ext cx="3210" cy="4090"/>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减少重复录入、人工核对、人工催办和资料归集工作，加快关账、对账、报销、开票、回款分析等高频场景的处理速度。</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nvSpPr>
          <p:spPr>
            <a:xfrm>
              <a:off x="5592" y="2549"/>
              <a:ext cx="4104" cy="4190"/>
            </a:xfrm>
            <a:prstGeom prst="roundRect">
              <a:avLst>
                <a:gd name="adj" fmla="val 4211"/>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nvSpPr>
          <p:spPr>
            <a:xfrm>
              <a:off x="5933" y="2977"/>
              <a:ext cx="3470"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价值二：管理增智</a:t>
              </a:r>
              <a:endParaRPr lang="en-US" sz="1460" dirty="0"/>
            </a:p>
          </p:txBody>
        </p:sp>
        <p:sp>
          <p:nvSpPr>
            <p:cNvPr id="12" name="Shape 10"/>
            <p:cNvSpPr/>
            <p:nvPr/>
          </p:nvSpPr>
          <p:spPr>
            <a:xfrm>
              <a:off x="5933" y="3528"/>
              <a:ext cx="259" cy="58"/>
            </a:xfrm>
            <a:prstGeom prst="rect">
              <a:avLst/>
            </a:prstGeom>
            <a:solidFill>
              <a:srgbClr val="2F6BFF"/>
            </a:solidFill>
            <a:ln w="12700">
              <a:solidFill>
                <a:srgbClr val="2F6BFF"/>
              </a:solidFill>
              <a:prstDash val="solid"/>
            </a:ln>
          </p:spPr>
        </p:sp>
        <p:sp>
          <p:nvSpPr>
            <p:cNvPr id="13" name="Text 11"/>
            <p:cNvSpPr/>
            <p:nvPr/>
          </p:nvSpPr>
          <p:spPr>
            <a:xfrm>
              <a:off x="6053" y="3773"/>
              <a:ext cx="3230" cy="4090"/>
            </a:xfrm>
            <a:prstGeom prst="rect">
              <a:avLst/>
            </a:prstGeom>
            <a:noFill/>
          </p:spPr>
          <p:txBody>
            <a:bodyPr wrap="square" lIns="0" tIns="0" rIns="0" bIns="0" rtlCol="0" anchor="t">
              <a:normAutofit/>
            </a:bodyPr>
            <a:lstStyle/>
            <a:p>
              <a:pPr marL="0" indent="0" algn="l">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把业务、财务、合同、税务和制度知识连接起来，帮助管理层更快理解利润、现金流、费用和风险变化背后的真实原因。</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nvSpPr>
          <p:spPr>
            <a:xfrm>
              <a:off x="10079" y="2549"/>
              <a:ext cx="4104" cy="4190"/>
            </a:xfrm>
            <a:prstGeom prst="roundRect">
              <a:avLst>
                <a:gd name="adj" fmla="val 4211"/>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nvSpPr>
          <p:spPr>
            <a:xfrm>
              <a:off x="10397" y="2977"/>
              <a:ext cx="3470"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价值三：风险前移</a:t>
              </a:r>
              <a:endParaRPr lang="en-US" sz="1460" dirty="0"/>
            </a:p>
          </p:txBody>
        </p:sp>
        <p:sp>
          <p:nvSpPr>
            <p:cNvPr id="16" name="Shape 14"/>
            <p:cNvSpPr/>
            <p:nvPr/>
          </p:nvSpPr>
          <p:spPr>
            <a:xfrm>
              <a:off x="10397" y="3528"/>
              <a:ext cx="259" cy="58"/>
            </a:xfrm>
            <a:prstGeom prst="rect">
              <a:avLst/>
            </a:prstGeom>
            <a:solidFill>
              <a:srgbClr val="C61F26"/>
            </a:solidFill>
            <a:ln w="12700">
              <a:solidFill>
                <a:srgbClr val="C61F26"/>
              </a:solidFill>
              <a:prstDash val="solid"/>
            </a:ln>
          </p:spPr>
        </p:sp>
        <p:sp>
          <p:nvSpPr>
            <p:cNvPr id="17" name="Text 15"/>
            <p:cNvSpPr/>
            <p:nvPr/>
          </p:nvSpPr>
          <p:spPr>
            <a:xfrm>
              <a:off x="10463" y="3772"/>
              <a:ext cx="3271" cy="4090"/>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通过连续监控和异常识别，把很多问题从“事后纠偏”前移为“事中预警”，提高内控和审计穿透力。</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nvSpPr>
          <p:spPr>
            <a:xfrm>
              <a:off x="14420" y="2549"/>
              <a:ext cx="3528" cy="4190"/>
            </a:xfrm>
            <a:prstGeom prst="roundRect">
              <a:avLst>
                <a:gd name="adj" fmla="val 4898"/>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9" name="Text 17"/>
            <p:cNvSpPr/>
            <p:nvPr/>
          </p:nvSpPr>
          <p:spPr>
            <a:xfrm>
              <a:off x="14861" y="2977"/>
              <a:ext cx="2894"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价值四：组织复制</a:t>
              </a:r>
              <a:endParaRPr lang="en-US" sz="1460" dirty="0"/>
            </a:p>
          </p:txBody>
        </p:sp>
        <p:sp>
          <p:nvSpPr>
            <p:cNvPr id="20" name="Shape 18"/>
            <p:cNvSpPr/>
            <p:nvPr/>
          </p:nvSpPr>
          <p:spPr>
            <a:xfrm>
              <a:off x="14861" y="3528"/>
              <a:ext cx="259" cy="58"/>
            </a:xfrm>
            <a:prstGeom prst="rect">
              <a:avLst/>
            </a:prstGeom>
            <a:solidFill>
              <a:srgbClr val="E25A3B"/>
            </a:solidFill>
            <a:ln w="12700">
              <a:solidFill>
                <a:srgbClr val="E25A3B"/>
              </a:solidFill>
              <a:prstDash val="solid"/>
            </a:ln>
          </p:spPr>
        </p:sp>
        <p:sp>
          <p:nvSpPr>
            <p:cNvPr id="21" name="Text 19"/>
            <p:cNvSpPr/>
            <p:nvPr/>
          </p:nvSpPr>
          <p:spPr>
            <a:xfrm>
              <a:off x="14915" y="3773"/>
              <a:ext cx="2780" cy="4090"/>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把优秀财务团队的经验沉淀成可复用的系统能力，降低对少数关键人员的依赖。</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39" name="组合 38"/>
          <p:cNvGrpSpPr/>
          <p:nvPr/>
        </p:nvGrpSpPr>
        <p:grpSpPr>
          <a:xfrm>
            <a:off x="713740" y="4690745"/>
            <a:ext cx="10683240" cy="786130"/>
            <a:chOff x="1441" y="8784"/>
            <a:chExt cx="16343" cy="1238"/>
          </a:xfrm>
        </p:grpSpPr>
        <p:sp>
          <p:nvSpPr>
            <p:cNvPr id="22" name="Shape 20"/>
            <p:cNvSpPr/>
            <p:nvPr/>
          </p:nvSpPr>
          <p:spPr>
            <a:xfrm>
              <a:off x="1441" y="8784"/>
              <a:ext cx="3239" cy="1238"/>
            </a:xfrm>
            <a:prstGeom prst="roundRect">
              <a:avLst>
                <a:gd name="adj" fmla="val 13953"/>
              </a:avLst>
            </a:prstGeom>
            <a:solidFill>
              <a:srgbClr val="EAF1FF"/>
            </a:solidFill>
            <a:ln w="12700">
              <a:solidFill>
                <a:srgbClr val="E7E9ED"/>
              </a:solidFill>
              <a:prstDash val="solid"/>
            </a:ln>
          </p:spPr>
        </p:sp>
        <p:sp>
          <p:nvSpPr>
            <p:cNvPr id="23" name="Text 21"/>
            <p:cNvSpPr/>
            <p:nvPr/>
          </p:nvSpPr>
          <p:spPr>
            <a:xfrm>
              <a:off x="1441" y="8928"/>
              <a:ext cx="3239"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更快</a:t>
              </a:r>
              <a:endParaRPr lang="en-US" sz="2000" dirty="0"/>
            </a:p>
          </p:txBody>
        </p:sp>
        <p:sp>
          <p:nvSpPr>
            <p:cNvPr id="24" name="Text 22"/>
            <p:cNvSpPr/>
            <p:nvPr/>
          </p:nvSpPr>
          <p:spPr>
            <a:xfrm>
              <a:off x="1555" y="9504"/>
              <a:ext cx="3010"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交易处理与协同响应</a:t>
              </a:r>
              <a:endParaRPr lang="en-US" sz="1020" dirty="0"/>
            </a:p>
          </p:txBody>
        </p:sp>
        <p:sp>
          <p:nvSpPr>
            <p:cNvPr id="25" name="Shape 23"/>
            <p:cNvSpPr/>
            <p:nvPr/>
          </p:nvSpPr>
          <p:spPr>
            <a:xfrm>
              <a:off x="5113" y="8784"/>
              <a:ext cx="3239" cy="1238"/>
            </a:xfrm>
            <a:prstGeom prst="roundRect">
              <a:avLst>
                <a:gd name="adj" fmla="val 13953"/>
              </a:avLst>
            </a:prstGeom>
            <a:solidFill>
              <a:srgbClr val="DFF6F4"/>
            </a:solidFill>
            <a:ln w="12700">
              <a:solidFill>
                <a:srgbClr val="E7E9ED"/>
              </a:solidFill>
              <a:prstDash val="solid"/>
            </a:ln>
          </p:spPr>
        </p:sp>
        <p:sp>
          <p:nvSpPr>
            <p:cNvPr id="26" name="Text 24"/>
            <p:cNvSpPr/>
            <p:nvPr/>
          </p:nvSpPr>
          <p:spPr>
            <a:xfrm>
              <a:off x="5113" y="8928"/>
              <a:ext cx="3239"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更准</a:t>
              </a:r>
              <a:endParaRPr lang="en-US" sz="2000" dirty="0"/>
            </a:p>
          </p:txBody>
        </p:sp>
        <p:sp>
          <p:nvSpPr>
            <p:cNvPr id="27" name="Text 25"/>
            <p:cNvSpPr/>
            <p:nvPr/>
          </p:nvSpPr>
          <p:spPr>
            <a:xfrm>
              <a:off x="5227" y="9504"/>
              <a:ext cx="3010"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会计口径与风险识别</a:t>
              </a:r>
              <a:endParaRPr lang="en-US" sz="1020" dirty="0"/>
            </a:p>
          </p:txBody>
        </p:sp>
        <p:sp>
          <p:nvSpPr>
            <p:cNvPr id="28" name="Shape 26"/>
            <p:cNvSpPr/>
            <p:nvPr/>
          </p:nvSpPr>
          <p:spPr>
            <a:xfrm>
              <a:off x="8785" y="8784"/>
              <a:ext cx="3239" cy="1238"/>
            </a:xfrm>
            <a:prstGeom prst="roundRect">
              <a:avLst>
                <a:gd name="adj" fmla="val 13953"/>
              </a:avLst>
            </a:prstGeom>
            <a:solidFill>
              <a:srgbClr val="FFF4D6"/>
            </a:solidFill>
            <a:ln w="12700">
              <a:solidFill>
                <a:srgbClr val="E7E9ED"/>
              </a:solidFill>
              <a:prstDash val="solid"/>
            </a:ln>
          </p:spPr>
        </p:sp>
        <p:sp>
          <p:nvSpPr>
            <p:cNvPr id="29" name="Text 27"/>
            <p:cNvSpPr/>
            <p:nvPr/>
          </p:nvSpPr>
          <p:spPr>
            <a:xfrm>
              <a:off x="8785" y="8928"/>
              <a:ext cx="3239"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更透</a:t>
              </a:r>
              <a:endParaRPr lang="en-US" sz="2000" dirty="0"/>
            </a:p>
          </p:txBody>
        </p:sp>
        <p:sp>
          <p:nvSpPr>
            <p:cNvPr id="30" name="Text 28"/>
            <p:cNvSpPr/>
            <p:nvPr/>
          </p:nvSpPr>
          <p:spPr>
            <a:xfrm>
              <a:off x="8899" y="9504"/>
              <a:ext cx="3010"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经营归因与分析穿透</a:t>
              </a:r>
              <a:endParaRPr lang="en-US" sz="1020" dirty="0"/>
            </a:p>
          </p:txBody>
        </p:sp>
        <p:sp>
          <p:nvSpPr>
            <p:cNvPr id="31" name="Shape 29"/>
            <p:cNvSpPr/>
            <p:nvPr/>
          </p:nvSpPr>
          <p:spPr>
            <a:xfrm>
              <a:off x="12457" y="8784"/>
              <a:ext cx="3239" cy="1238"/>
            </a:xfrm>
            <a:prstGeom prst="roundRect">
              <a:avLst>
                <a:gd name="adj" fmla="val 13953"/>
              </a:avLst>
            </a:prstGeom>
            <a:solidFill>
              <a:srgbClr val="FFE5D9"/>
            </a:solidFill>
            <a:ln w="12700">
              <a:solidFill>
                <a:srgbClr val="E7E9ED"/>
              </a:solidFill>
              <a:prstDash val="solid"/>
            </a:ln>
          </p:spPr>
        </p:sp>
        <p:sp>
          <p:nvSpPr>
            <p:cNvPr id="32" name="Text 30"/>
            <p:cNvSpPr/>
            <p:nvPr/>
          </p:nvSpPr>
          <p:spPr>
            <a:xfrm>
              <a:off x="12457" y="8928"/>
              <a:ext cx="3239"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更稳</a:t>
              </a:r>
              <a:endParaRPr lang="en-US" sz="2000" dirty="0"/>
            </a:p>
          </p:txBody>
        </p:sp>
        <p:sp>
          <p:nvSpPr>
            <p:cNvPr id="33" name="Text 31"/>
            <p:cNvSpPr/>
            <p:nvPr/>
          </p:nvSpPr>
          <p:spPr>
            <a:xfrm>
              <a:off x="12571" y="9504"/>
              <a:ext cx="3010"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合规治理与审计留痕</a:t>
              </a:r>
              <a:endParaRPr lang="en-US" sz="1020" dirty="0"/>
            </a:p>
          </p:txBody>
        </p:sp>
        <p:sp>
          <p:nvSpPr>
            <p:cNvPr id="34" name="Shape 32"/>
            <p:cNvSpPr/>
            <p:nvPr/>
          </p:nvSpPr>
          <p:spPr>
            <a:xfrm>
              <a:off x="16128" y="8784"/>
              <a:ext cx="1656" cy="1238"/>
            </a:xfrm>
            <a:prstGeom prst="roundRect">
              <a:avLst>
                <a:gd name="adj" fmla="val 13953"/>
              </a:avLst>
            </a:prstGeom>
            <a:solidFill>
              <a:srgbClr val="E8F5E9"/>
            </a:solidFill>
            <a:ln w="12700">
              <a:solidFill>
                <a:srgbClr val="E7E9ED"/>
              </a:solidFill>
              <a:prstDash val="solid"/>
            </a:ln>
          </p:spPr>
        </p:sp>
        <p:sp>
          <p:nvSpPr>
            <p:cNvPr id="35" name="Text 33"/>
            <p:cNvSpPr/>
            <p:nvPr/>
          </p:nvSpPr>
          <p:spPr>
            <a:xfrm>
              <a:off x="16128" y="8928"/>
              <a:ext cx="1656" cy="490"/>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更强</a:t>
              </a:r>
              <a:endParaRPr lang="en-US" sz="2000" dirty="0"/>
            </a:p>
          </p:txBody>
        </p:sp>
        <p:sp>
          <p:nvSpPr>
            <p:cNvPr id="36" name="Text 34"/>
            <p:cNvSpPr/>
            <p:nvPr/>
          </p:nvSpPr>
          <p:spPr>
            <a:xfrm>
              <a:off x="16243" y="9504"/>
              <a:ext cx="1426" cy="346"/>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决策支持</a:t>
              </a:r>
              <a:endParaRPr lang="en-US" sz="1020" dirty="0"/>
            </a:p>
          </p:txBody>
        </p:sp>
      </p:grpSp>
      <p:sp>
        <p:nvSpPr>
          <p:cNvPr id="37" name="Slide Number Placeholder 0"/>
          <p:cNvSpPr>
            <a:spLocks noGrp="1"/>
          </p:cNvSpPr>
          <p:nvPr>
            <p:ph type="sldNum" sz="quarter" idx="4294967295"/>
          </p:nvPr>
        </p:nvSpPr>
        <p:spPr>
          <a:xfrm>
            <a:off x="11475720" y="6419215"/>
            <a:ext cx="320040" cy="164465"/>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67665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客户价值如何落地：建议的实施路径与 ROI 视角</a:t>
            </a:r>
            <a:endParaRPr lang="en-US" sz="2250" dirty="0"/>
          </a:p>
        </p:txBody>
      </p:sp>
      <p:sp>
        <p:nvSpPr>
          <p:cNvPr id="4" name="Text 2"/>
          <p:cNvSpPr/>
          <p:nvPr/>
        </p:nvSpPr>
        <p:spPr>
          <a:xfrm>
            <a:off x="658368" y="1109091"/>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先做高频高价值场景，再逐步走向智能运营闭环</a:t>
            </a:r>
            <a:endParaRPr lang="en-US" sz="1000" dirty="0"/>
          </a:p>
        </p:txBody>
      </p:sp>
      <p:sp>
        <p:nvSpPr>
          <p:cNvPr id="5" name="Text 3"/>
          <p:cNvSpPr/>
          <p:nvPr/>
        </p:nvSpPr>
        <p:spPr>
          <a:xfrm>
            <a:off x="658622" y="1371092"/>
            <a:ext cx="1508760"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Landing Path</a:t>
            </a:r>
            <a:endParaRPr lang="en-US" sz="1050" dirty="0"/>
          </a:p>
        </p:txBody>
      </p:sp>
      <p:grpSp>
        <p:nvGrpSpPr>
          <p:cNvPr id="28" name="组合 27"/>
          <p:cNvGrpSpPr/>
          <p:nvPr>
            <p:custDataLst>
              <p:tags r:id="rId1"/>
            </p:custDataLst>
          </p:nvPr>
        </p:nvGrpSpPr>
        <p:grpSpPr>
          <a:xfrm>
            <a:off x="686914" y="1676735"/>
            <a:ext cx="10588594" cy="1069029"/>
            <a:chOff x="1009" y="2746"/>
            <a:chExt cx="15726" cy="1675"/>
          </a:xfrm>
        </p:grpSpPr>
        <p:sp>
          <p:nvSpPr>
            <p:cNvPr id="6" name="Shape 4"/>
            <p:cNvSpPr/>
            <p:nvPr>
              <p:custDataLst>
                <p:tags r:id="rId2"/>
              </p:custDataLst>
            </p:nvPr>
          </p:nvSpPr>
          <p:spPr>
            <a:xfrm>
              <a:off x="1009" y="2746"/>
              <a:ext cx="15726" cy="1675"/>
            </a:xfrm>
            <a:prstGeom prst="roundRect">
              <a:avLst>
                <a:gd name="adj" fmla="val 5455"/>
              </a:avLst>
            </a:prstGeom>
            <a:solidFill>
              <a:srgbClr val="FDFEFE"/>
            </a:solidFill>
            <a:ln w="12700">
              <a:solidFill>
                <a:srgbClr val="E7E9ED"/>
              </a:solidFill>
              <a:prstDash val="solid"/>
            </a:ln>
          </p:spPr>
          <p:txBody>
            <a:bodyPr/>
            <a:p>
              <a:endParaRPr lang="zh-CN" altLang="en-US"/>
            </a:p>
          </p:txBody>
        </p:sp>
        <p:sp>
          <p:nvSpPr>
            <p:cNvPr id="7" name="Text 5"/>
            <p:cNvSpPr/>
            <p:nvPr>
              <p:custDataLst>
                <p:tags r:id="rId3"/>
              </p:custDataLst>
            </p:nvPr>
          </p:nvSpPr>
          <p:spPr>
            <a:xfrm>
              <a:off x="1584" y="3019"/>
              <a:ext cx="2592" cy="317"/>
            </a:xfrm>
            <a:prstGeom prst="rect">
              <a:avLst/>
            </a:prstGeom>
            <a:noFill/>
          </p:spPr>
          <p:txBody>
            <a:bodyPr wrap="square" lIns="0" tIns="0" rIns="0" bIns="0" rtlCol="0" anchor="ctr"/>
            <a:lstStyle/>
            <a:p>
              <a:pPr marL="0" indent="0">
                <a:buNone/>
              </a:pPr>
              <a:r>
                <a:rPr lang="en-US" sz="16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rPr>
                <a:t>阶段 1：流程提效</a:t>
              </a:r>
              <a:endParaRPr lang="en-US" sz="16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endParaRPr>
            </a:p>
          </p:txBody>
        </p:sp>
        <p:sp>
          <p:nvSpPr>
            <p:cNvPr id="8" name="Text 6"/>
            <p:cNvSpPr/>
            <p:nvPr>
              <p:custDataLst>
                <p:tags r:id="rId4"/>
              </p:custDataLst>
            </p:nvPr>
          </p:nvSpPr>
          <p:spPr>
            <a:xfrm>
              <a:off x="1555" y="3390"/>
              <a:ext cx="4608" cy="762"/>
            </a:xfrm>
            <a:prstGeom prst="rect">
              <a:avLst/>
            </a:prstGeom>
            <a:noFill/>
          </p:spPr>
          <p:txBody>
            <a:bodyPr wrap="square" lIns="0" tIns="0" rIns="0" bIns="0" rtlCol="0" anchor="ct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报销审核、发票识别、凭证草拟、回款跟进、资料补齐等高频场景</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9" name="Text 7"/>
            <p:cNvSpPr/>
            <p:nvPr>
              <p:custDataLst>
                <p:tags r:id="rId5"/>
              </p:custDataLst>
            </p:nvPr>
          </p:nvSpPr>
          <p:spPr>
            <a:xfrm>
              <a:off x="7132" y="3019"/>
              <a:ext cx="2592" cy="317"/>
            </a:xfrm>
            <a:prstGeom prst="rect">
              <a:avLst/>
            </a:prstGeom>
            <a:noFill/>
          </p:spPr>
          <p:txBody>
            <a:bodyPr wrap="square" lIns="0" tIns="0" rIns="0" bIns="0" rtlCol="0" anchor="ctr"/>
            <a:lstStyle/>
            <a:p>
              <a:pPr marL="0" indent="0">
                <a:buNone/>
              </a:pPr>
              <a:r>
                <a:rPr lang="en-US" sz="16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rPr>
                <a:t>阶段 2：风险前移</a:t>
              </a:r>
              <a:endParaRPr lang="en-US" sz="16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endParaRPr>
            </a:p>
          </p:txBody>
        </p:sp>
        <p:sp>
          <p:nvSpPr>
            <p:cNvPr id="10" name="Text 8"/>
            <p:cNvSpPr/>
            <p:nvPr>
              <p:custDataLst>
                <p:tags r:id="rId6"/>
              </p:custDataLst>
            </p:nvPr>
          </p:nvSpPr>
          <p:spPr>
            <a:xfrm>
              <a:off x="7132" y="3371"/>
              <a:ext cx="4032" cy="799"/>
            </a:xfrm>
            <a:prstGeom prst="rect">
              <a:avLst/>
            </a:prstGeom>
            <a:noFill/>
          </p:spPr>
          <p:txBody>
            <a:bodyPr wrap="square" lIns="0" tIns="0" rIns="0" bIns="0" rtlCol="0" anchor="ct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异常预警、费用稽核、税务口径校验、往来与账龄监控</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1" name="Text 9"/>
            <p:cNvSpPr/>
            <p:nvPr>
              <p:custDataLst>
                <p:tags r:id="rId7"/>
              </p:custDataLst>
            </p:nvPr>
          </p:nvSpPr>
          <p:spPr>
            <a:xfrm>
              <a:off x="12680" y="3019"/>
              <a:ext cx="3506" cy="317"/>
            </a:xfrm>
            <a:prstGeom prst="rect">
              <a:avLst/>
            </a:prstGeom>
            <a:noFill/>
          </p:spPr>
          <p:txBody>
            <a:bodyPr wrap="square" lIns="0" tIns="0" rIns="0" bIns="0" rtlCol="0" anchor="ctr"/>
            <a:lstStyle/>
            <a:p>
              <a:pPr marL="0" indent="0">
                <a:buNone/>
              </a:pPr>
              <a:r>
                <a:rPr lang="en-US" sz="1600" b="1" dirty="0">
                  <a:solidFill>
                    <a:srgbClr val="C61F26"/>
                  </a:solidFill>
                  <a:latin typeface="微软雅黑" panose="020B0503020204020204" charset="-122"/>
                  <a:ea typeface="微软雅黑" panose="020B0503020204020204" charset="-122"/>
                  <a:cs typeface="微软雅黑" panose="020B0503020204020204" pitchFamily="34" charset="-120"/>
                </a:rPr>
                <a:t>阶段 3：经营赋能</a:t>
              </a:r>
              <a:endParaRPr lang="en-US" sz="1600" dirty="0"/>
            </a:p>
          </p:txBody>
        </p:sp>
        <p:sp>
          <p:nvSpPr>
            <p:cNvPr id="12" name="Text 10"/>
            <p:cNvSpPr/>
            <p:nvPr>
              <p:custDataLst>
                <p:tags r:id="rId8"/>
              </p:custDataLst>
            </p:nvPr>
          </p:nvSpPr>
          <p:spPr>
            <a:xfrm>
              <a:off x="12640" y="3396"/>
              <a:ext cx="3547" cy="738"/>
            </a:xfrm>
            <a:prstGeom prst="rect">
              <a:avLst/>
            </a:prstGeom>
            <a:noFill/>
          </p:spPr>
          <p:txBody>
            <a:bodyPr wrap="square" lIns="0" tIns="0" rIns="0" bIns="0" rtlCol="0" anchor="ct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预测模拟、经营问答、管理驾驶舱与决策建议</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grpSp>
        <p:nvGrpSpPr>
          <p:cNvPr id="27" name="组合 26"/>
          <p:cNvGrpSpPr/>
          <p:nvPr>
            <p:custDataLst>
              <p:tags r:id="rId9"/>
            </p:custDataLst>
          </p:nvPr>
        </p:nvGrpSpPr>
        <p:grpSpPr>
          <a:xfrm>
            <a:off x="686914" y="3073754"/>
            <a:ext cx="10584491" cy="2042441"/>
            <a:chOff x="1368" y="5079"/>
            <a:chExt cx="15667" cy="3201"/>
          </a:xfrm>
        </p:grpSpPr>
        <p:sp>
          <p:nvSpPr>
            <p:cNvPr id="13" name="Shape 11"/>
            <p:cNvSpPr/>
            <p:nvPr>
              <p:custDataLst>
                <p:tags r:id="rId10"/>
              </p:custDataLst>
            </p:nvPr>
          </p:nvSpPr>
          <p:spPr>
            <a:xfrm>
              <a:off x="1368" y="5112"/>
              <a:ext cx="4794" cy="3168"/>
            </a:xfrm>
            <a:prstGeom prst="roundRect">
              <a:avLst>
                <a:gd name="adj" fmla="val 5455"/>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14" name="Text 12"/>
            <p:cNvSpPr/>
            <p:nvPr>
              <p:custDataLst>
                <p:tags r:id="rId11"/>
              </p:custDataLst>
            </p:nvPr>
          </p:nvSpPr>
          <p:spPr>
            <a:xfrm>
              <a:off x="1685" y="5429"/>
              <a:ext cx="4478" cy="461"/>
            </a:xfrm>
            <a:prstGeom prst="rect">
              <a:avLst/>
            </a:prstGeom>
            <a:noFill/>
          </p:spPr>
          <p:txBody>
            <a:bodyPr wrap="square" lIns="0" tIns="0" rIns="0" bIns="0" rtlCol="0" anchor="ctr">
              <a:normAutofit/>
            </a:bodyPr>
            <a:lstStyle/>
            <a:p>
              <a:pPr marL="0" indent="0">
                <a:buNone/>
              </a:pPr>
              <a:r>
                <a:rPr lang="en-US" sz="1460" b="1" dirty="0">
                  <a:solidFill>
                    <a:srgbClr val="C61F26"/>
                  </a:solidFill>
                  <a:latin typeface="微软雅黑" panose="020B0503020204020204" charset="-122"/>
                  <a:ea typeface="微软雅黑" panose="020B0503020204020204" charset="-122"/>
                  <a:cs typeface="微软雅黑" panose="020B0503020204020204" pitchFamily="34" charset="-120"/>
                </a:rPr>
                <a:t>ROI 观察维度：效率</a:t>
              </a:r>
              <a:endParaRPr lang="en-US" sz="1460" dirty="0"/>
            </a:p>
          </p:txBody>
        </p:sp>
        <p:sp>
          <p:nvSpPr>
            <p:cNvPr id="15" name="Shape 13"/>
            <p:cNvSpPr/>
            <p:nvPr>
              <p:custDataLst>
                <p:tags r:id="rId12"/>
              </p:custDataLst>
            </p:nvPr>
          </p:nvSpPr>
          <p:spPr>
            <a:xfrm>
              <a:off x="1685" y="5904"/>
              <a:ext cx="259" cy="58"/>
            </a:xfrm>
            <a:prstGeom prst="rect">
              <a:avLst/>
            </a:prstGeom>
            <a:solidFill>
              <a:srgbClr val="C61F26"/>
            </a:solidFill>
            <a:ln w="12700">
              <a:solidFill>
                <a:srgbClr val="C61F26"/>
              </a:solidFill>
              <a:prstDash val="solid"/>
            </a:ln>
          </p:spPr>
        </p:sp>
        <p:sp>
          <p:nvSpPr>
            <p:cNvPr id="16" name="Text 14"/>
            <p:cNvSpPr/>
            <p:nvPr>
              <p:custDataLst>
                <p:tags r:id="rId13"/>
              </p:custDataLst>
            </p:nvPr>
          </p:nvSpPr>
          <p:spPr>
            <a:xfrm>
              <a:off x="1789" y="6149"/>
              <a:ext cx="3767" cy="1786"/>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财务共享中心作业量下降</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单据处理时长缩短</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关账周期缩短</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分析报告生成效率提升</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7" name="Shape 15"/>
            <p:cNvSpPr/>
            <p:nvPr>
              <p:custDataLst>
                <p:tags r:id="rId14"/>
              </p:custDataLst>
            </p:nvPr>
          </p:nvSpPr>
          <p:spPr>
            <a:xfrm>
              <a:off x="6780" y="5112"/>
              <a:ext cx="4835" cy="3141"/>
            </a:xfrm>
            <a:prstGeom prst="roundRect">
              <a:avLst>
                <a:gd name="adj" fmla="val 5455"/>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8" name="Text 16"/>
            <p:cNvSpPr/>
            <p:nvPr>
              <p:custDataLst>
                <p:tags r:id="rId15"/>
              </p:custDataLst>
            </p:nvPr>
          </p:nvSpPr>
          <p:spPr>
            <a:xfrm>
              <a:off x="7373" y="5429"/>
              <a:ext cx="4478"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ROI 观察维度：风险</a:t>
              </a:r>
              <a:endParaRPr lang="en-US" sz="1460" dirty="0"/>
            </a:p>
          </p:txBody>
        </p:sp>
        <p:sp>
          <p:nvSpPr>
            <p:cNvPr id="19" name="Shape 17"/>
            <p:cNvSpPr/>
            <p:nvPr>
              <p:custDataLst>
                <p:tags r:id="rId16"/>
              </p:custDataLst>
            </p:nvPr>
          </p:nvSpPr>
          <p:spPr>
            <a:xfrm>
              <a:off x="7373" y="5904"/>
              <a:ext cx="259" cy="58"/>
            </a:xfrm>
            <a:prstGeom prst="rect">
              <a:avLst/>
            </a:prstGeom>
            <a:solidFill>
              <a:srgbClr val="2F6BFF"/>
            </a:solidFill>
            <a:ln w="12700">
              <a:solidFill>
                <a:srgbClr val="2F6BFF"/>
              </a:solidFill>
              <a:prstDash val="solid"/>
            </a:ln>
          </p:spPr>
        </p:sp>
        <p:sp>
          <p:nvSpPr>
            <p:cNvPr id="20" name="Text 18"/>
            <p:cNvSpPr/>
            <p:nvPr>
              <p:custDataLst>
                <p:tags r:id="rId17"/>
              </p:custDataLst>
            </p:nvPr>
          </p:nvSpPr>
          <p:spPr>
            <a:xfrm>
              <a:off x="7373" y="6149"/>
              <a:ext cx="4478" cy="1786"/>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异常发现更早</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审计抽样更精准</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税务与合规问题暴露更及时</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关键流程依赖人工经验程度下降</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21" name="Shape 19"/>
            <p:cNvSpPr/>
            <p:nvPr>
              <p:custDataLst>
                <p:tags r:id="rId18"/>
              </p:custDataLst>
            </p:nvPr>
          </p:nvSpPr>
          <p:spPr>
            <a:xfrm>
              <a:off x="12232" y="5079"/>
              <a:ext cx="4803" cy="3168"/>
            </a:xfrm>
            <a:prstGeom prst="roundRect">
              <a:avLst>
                <a:gd name="adj" fmla="val 5455"/>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22" name="Text 20"/>
            <p:cNvSpPr/>
            <p:nvPr>
              <p:custDataLst>
                <p:tags r:id="rId19"/>
              </p:custDataLst>
            </p:nvPr>
          </p:nvSpPr>
          <p:spPr>
            <a:xfrm>
              <a:off x="13004" y="5417"/>
              <a:ext cx="3686" cy="461"/>
            </a:xfrm>
            <a:prstGeom prst="rect">
              <a:avLst/>
            </a:prstGeom>
            <a:noFill/>
          </p:spPr>
          <p:txBody>
            <a:bodyPr wrap="square" lIns="0" tIns="0" rIns="0" bIns="0" rtlCol="0" anchor="ctr">
              <a:normAutofit/>
            </a:bodyPr>
            <a:lstStyle/>
            <a:p>
              <a:pPr marL="0" indent="0">
                <a:buNone/>
              </a:pPr>
              <a:r>
                <a:rPr lang="en-US" sz="1460" b="1" dirty="0">
                  <a:solidFill>
                    <a:srgbClr val="2F3440"/>
                  </a:solidFill>
                  <a:latin typeface="微软雅黑" panose="020B0503020204020204" charset="-122"/>
                  <a:ea typeface="微软雅黑" panose="020B0503020204020204" charset="-122"/>
                  <a:cs typeface="微软雅黑" panose="020B0503020204020204" pitchFamily="34" charset="-120"/>
                </a:rPr>
                <a:t>ROI 观察维度：经营</a:t>
              </a:r>
              <a:endParaRPr lang="en-US" sz="1460" dirty="0"/>
            </a:p>
          </p:txBody>
        </p:sp>
        <p:sp>
          <p:nvSpPr>
            <p:cNvPr id="23" name="Shape 21"/>
            <p:cNvSpPr/>
            <p:nvPr>
              <p:custDataLst>
                <p:tags r:id="rId20"/>
              </p:custDataLst>
            </p:nvPr>
          </p:nvSpPr>
          <p:spPr>
            <a:xfrm>
              <a:off x="13061" y="5904"/>
              <a:ext cx="259" cy="58"/>
            </a:xfrm>
            <a:prstGeom prst="rect">
              <a:avLst/>
            </a:prstGeom>
            <a:solidFill>
              <a:srgbClr val="C61F26"/>
            </a:solidFill>
            <a:ln w="12700">
              <a:solidFill>
                <a:srgbClr val="C61F26"/>
              </a:solidFill>
              <a:prstDash val="solid"/>
            </a:ln>
          </p:spPr>
          <p:txBody>
            <a:bodyPr/>
            <a:p>
              <a:endParaRPr lang="zh-CN" altLang="en-US"/>
            </a:p>
          </p:txBody>
        </p:sp>
        <p:sp>
          <p:nvSpPr>
            <p:cNvPr id="24" name="Text 22"/>
            <p:cNvSpPr/>
            <p:nvPr>
              <p:custDataLst>
                <p:tags r:id="rId21"/>
              </p:custDataLst>
            </p:nvPr>
          </p:nvSpPr>
          <p:spPr>
            <a:xfrm>
              <a:off x="12890" y="6148"/>
              <a:ext cx="3686" cy="1786"/>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管理层获得更快决策支持</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资金计划更稳</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回款和利润波动解释更及时</a:t>
              </a:r>
              <a:endParaRPr lang="en-US" sz="1200" dirty="0"/>
            </a:p>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 财务对业务的支撑能力增强</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grpSp>
      <p:sp>
        <p:nvSpPr>
          <p:cNvPr id="25" name="Text 23"/>
          <p:cNvSpPr/>
          <p:nvPr/>
        </p:nvSpPr>
        <p:spPr>
          <a:xfrm>
            <a:off x="398780" y="5352415"/>
            <a:ext cx="9760585" cy="274320"/>
          </a:xfrm>
          <a:prstGeom prst="rect">
            <a:avLst/>
          </a:prstGeom>
          <a:noFill/>
        </p:spPr>
        <p:txBody>
          <a:bodyPr wrap="square" lIns="0" tIns="0" rIns="0" bIns="0" rtlCol="0" anchor="ctr"/>
          <a:lstStyle/>
          <a:p>
            <a:pPr marL="0" indent="0" algn="ctr">
              <a:buNone/>
            </a:pPr>
            <a:r>
              <a:rPr lang="en-US" sz="1450" b="1" dirty="0">
                <a:solidFill>
                  <a:srgbClr val="2F3440"/>
                </a:solidFill>
                <a:latin typeface="微软雅黑" panose="020B0503020204020204" charset="-122"/>
                <a:ea typeface="微软雅黑" panose="020B0503020204020204" charset="-122"/>
                <a:cs typeface="微软雅黑" panose="020B0503020204020204" pitchFamily="34" charset="-120"/>
              </a:rPr>
              <a:t>建议原则：以可量化的业务场景切入，用 3-6 个月建立示范价值，再逐步扩展到全财务域与跨部门协同场景。</a:t>
            </a:r>
            <a:endParaRPr lang="en-US" sz="1450" dirty="0"/>
          </a:p>
        </p:txBody>
      </p:sp>
      <p:sp>
        <p:nvSpPr>
          <p:cNvPr id="26"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12064"/>
            <a:ext cx="256032" cy="45720"/>
          </a:xfrm>
          <a:prstGeom prst="rect">
            <a:avLst/>
          </a:prstGeom>
          <a:solidFill>
            <a:srgbClr val="C61F26"/>
          </a:solidFill>
          <a:ln w="12700">
            <a:solidFill>
              <a:srgbClr val="C61F26"/>
            </a:solidFill>
            <a:prstDash val="solid"/>
          </a:ln>
        </p:spPr>
      </p:sp>
      <p:sp>
        <p:nvSpPr>
          <p:cNvPr id="3" name="Text 1"/>
          <p:cNvSpPr/>
          <p:nvPr/>
        </p:nvSpPr>
        <p:spPr>
          <a:xfrm>
            <a:off x="640080" y="703326"/>
            <a:ext cx="8961120" cy="457200"/>
          </a:xfrm>
          <a:prstGeom prst="rect">
            <a:avLst/>
          </a:prstGeom>
          <a:noFill/>
        </p:spPr>
        <p:txBody>
          <a:bodyPr wrap="square" lIns="0" tIns="0" rIns="0" bIns="0" rtlCol="0" anchor="ctr">
            <a:normAutofit/>
          </a:bodyPr>
          <a:lstStyle/>
          <a:p>
            <a:pPr marL="0" indent="0">
              <a:buNone/>
            </a:pPr>
            <a:r>
              <a:rPr lang="en-US" sz="2250" b="1" dirty="0">
                <a:solidFill>
                  <a:srgbClr val="2F3440"/>
                </a:solidFill>
                <a:latin typeface="微软雅黑" panose="020B0503020204020204" charset="-122"/>
                <a:ea typeface="微软雅黑" panose="020B0503020204020204" charset="-122"/>
                <a:cs typeface="微软雅黑" panose="020B0503020204020204" pitchFamily="34" charset="-120"/>
              </a:rPr>
              <a:t>4. 原生 AI 财务系统的数据安全如何保证</a:t>
            </a:r>
            <a:endParaRPr lang="en-US" sz="2250" dirty="0"/>
          </a:p>
        </p:txBody>
      </p:sp>
      <p:sp>
        <p:nvSpPr>
          <p:cNvPr id="4" name="Text 2"/>
          <p:cNvSpPr/>
          <p:nvPr/>
        </p:nvSpPr>
        <p:spPr>
          <a:xfrm>
            <a:off x="639953" y="1160526"/>
            <a:ext cx="9692640" cy="256032"/>
          </a:xfrm>
          <a:prstGeom prst="rect">
            <a:avLst/>
          </a:prstGeom>
          <a:noFill/>
        </p:spPr>
        <p:txBody>
          <a:bodyPr wrap="square" lIns="0" tIns="0" rIns="0" bIns="0" rtlCol="0" anchor="ctr">
            <a:normAutofit/>
          </a:bodyPr>
          <a:lstStyle/>
          <a:p>
            <a:pPr marL="0" indent="0">
              <a:buNone/>
            </a:pPr>
            <a:r>
              <a:rPr lang="en-US" sz="1000" dirty="0">
                <a:solidFill>
                  <a:srgbClr val="7C828B"/>
                </a:solidFill>
                <a:latin typeface="微软雅黑" panose="020B0503020204020204" charset="-122"/>
                <a:ea typeface="微软雅黑" panose="020B0503020204020204" charset="-122"/>
                <a:cs typeface="微软雅黑" panose="020B0503020204020204" pitchFamily="34" charset="-120"/>
              </a:rPr>
              <a:t>AI 必须建立在企业级安全、权限、审计和合规治理之上</a:t>
            </a:r>
            <a:endParaRPr lang="en-US" sz="1000" dirty="0"/>
          </a:p>
        </p:txBody>
      </p:sp>
      <p:sp>
        <p:nvSpPr>
          <p:cNvPr id="5" name="Text 3"/>
          <p:cNvSpPr/>
          <p:nvPr/>
        </p:nvSpPr>
        <p:spPr>
          <a:xfrm>
            <a:off x="640207" y="1494282"/>
            <a:ext cx="1170432" cy="164592"/>
          </a:xfrm>
          <a:prstGeom prst="rect">
            <a:avLst/>
          </a:prstGeom>
          <a:noFill/>
        </p:spPr>
        <p:txBody>
          <a:bodyPr wrap="square" lIns="0" tIns="0" rIns="0" bIns="0" rtlCol="0" anchor="ctr"/>
          <a:lstStyle/>
          <a:p>
            <a:pPr marL="0" indent="0">
              <a:buNone/>
            </a:pPr>
            <a:r>
              <a:rPr lang="en-US" sz="1050" b="1" i="1" dirty="0">
                <a:solidFill>
                  <a:srgbClr val="C61F26"/>
                </a:solidFill>
                <a:latin typeface="微软雅黑" panose="020B0503020204020204" charset="-122"/>
                <a:ea typeface="微软雅黑" panose="020B0503020204020204" charset="-122"/>
                <a:cs typeface="微软雅黑" panose="020B0503020204020204" pitchFamily="34" charset="-120"/>
              </a:rPr>
              <a:t>Security</a:t>
            </a:r>
            <a:endParaRPr lang="en-US" sz="1050" dirty="0"/>
          </a:p>
        </p:txBody>
      </p:sp>
      <p:sp>
        <p:nvSpPr>
          <p:cNvPr id="6" name="Shape 4"/>
          <p:cNvSpPr/>
          <p:nvPr>
            <p:custDataLst>
              <p:tags r:id="rId1"/>
            </p:custDataLst>
          </p:nvPr>
        </p:nvSpPr>
        <p:spPr>
          <a:xfrm>
            <a:off x="610330" y="1857393"/>
            <a:ext cx="2772469" cy="2499073"/>
          </a:xfrm>
          <a:prstGeom prst="roundRect">
            <a:avLst>
              <a:gd name="adj" fmla="val 4000"/>
            </a:avLst>
          </a:prstGeom>
          <a:solidFill>
            <a:srgbClr val="FFFFFF"/>
          </a:solidFill>
          <a:ln w="12700">
            <a:solidFill>
              <a:srgbClr val="E7E9ED"/>
            </a:solidFill>
            <a:prstDash val="solid"/>
          </a:ln>
          <a:effectLst>
            <a:outerShdw blurRad="25400" dist="50800" dir="2700000" algn="bl" rotWithShape="0">
              <a:srgbClr val="D9DDE3">
                <a:alpha val="12000"/>
              </a:srgbClr>
            </a:outerShdw>
          </a:effectLst>
        </p:spPr>
      </p:sp>
      <p:sp>
        <p:nvSpPr>
          <p:cNvPr id="7" name="Text 5"/>
          <p:cNvSpPr/>
          <p:nvPr>
            <p:custDataLst>
              <p:tags r:id="rId2"/>
            </p:custDataLst>
          </p:nvPr>
        </p:nvSpPr>
        <p:spPr>
          <a:xfrm>
            <a:off x="795161" y="2056215"/>
            <a:ext cx="2365840" cy="295730"/>
          </a:xfrm>
          <a:prstGeom prst="rect">
            <a:avLst/>
          </a:prstGeom>
          <a:noFill/>
        </p:spPr>
        <p:txBody>
          <a:bodyPr wrap="square" lIns="0" tIns="0" rIns="0" bIns="0" rtlCol="0" anchor="ctr">
            <a:normAutofit/>
          </a:bodyPr>
          <a:lstStyle/>
          <a:p>
            <a:pPr marL="0" indent="0">
              <a:buNone/>
            </a:pPr>
            <a:r>
              <a:rPr lang="en-US" sz="1400" b="1" dirty="0">
                <a:solidFill>
                  <a:srgbClr val="C61F26"/>
                </a:solidFill>
                <a:latin typeface="微软雅黑" panose="020B0503020204020204" charset="-122"/>
                <a:ea typeface="微软雅黑" panose="020B0503020204020204" charset="-122"/>
                <a:cs typeface="微软雅黑" panose="020B0503020204020204" pitchFamily="34" charset="-120"/>
              </a:rPr>
              <a:t>原则一：数据分级与最小权限</a:t>
            </a:r>
            <a:endParaRPr lang="en-US" sz="1400" b="1" dirty="0">
              <a:solidFill>
                <a:srgbClr val="C61F26"/>
              </a:solidFill>
              <a:latin typeface="微软雅黑" panose="020B0503020204020204" charset="-122"/>
              <a:ea typeface="微软雅黑" panose="020B0503020204020204" charset="-122"/>
              <a:cs typeface="微软雅黑" panose="020B0503020204020204" pitchFamily="34" charset="-120"/>
            </a:endParaRPr>
          </a:p>
        </p:txBody>
      </p:sp>
      <p:sp>
        <p:nvSpPr>
          <p:cNvPr id="8" name="Shape 6"/>
          <p:cNvSpPr/>
          <p:nvPr>
            <p:custDataLst>
              <p:tags r:id="rId3"/>
            </p:custDataLst>
          </p:nvPr>
        </p:nvSpPr>
        <p:spPr>
          <a:xfrm>
            <a:off x="813773" y="2517780"/>
            <a:ext cx="166348" cy="36966"/>
          </a:xfrm>
          <a:prstGeom prst="rect">
            <a:avLst/>
          </a:prstGeom>
          <a:solidFill>
            <a:srgbClr val="C61F26"/>
          </a:solidFill>
          <a:ln w="12700">
            <a:solidFill>
              <a:srgbClr val="C61F26"/>
            </a:solidFill>
            <a:prstDash val="solid"/>
          </a:ln>
        </p:spPr>
      </p:sp>
      <p:sp>
        <p:nvSpPr>
          <p:cNvPr id="9" name="Text 7"/>
          <p:cNvSpPr/>
          <p:nvPr>
            <p:custDataLst>
              <p:tags r:id="rId4"/>
            </p:custDataLst>
          </p:nvPr>
        </p:nvSpPr>
        <p:spPr>
          <a:xfrm>
            <a:off x="813773" y="2675015"/>
            <a:ext cx="2365583" cy="1299595"/>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按照财务敏感等级、组织边界、岗位职责对数据进行分层治理；AI 只能访问当前任务必须使用的数据，且访问行为可追溯。</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0" name="Shape 8"/>
          <p:cNvSpPr/>
          <p:nvPr>
            <p:custDataLst>
              <p:tags r:id="rId5"/>
            </p:custDataLst>
          </p:nvPr>
        </p:nvSpPr>
        <p:spPr>
          <a:xfrm>
            <a:off x="3540034" y="1857393"/>
            <a:ext cx="2772469" cy="2498431"/>
          </a:xfrm>
          <a:prstGeom prst="roundRect">
            <a:avLst>
              <a:gd name="adj" fmla="val 4000"/>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1" name="Text 9"/>
          <p:cNvSpPr/>
          <p:nvPr>
            <p:custDataLst>
              <p:tags r:id="rId6"/>
            </p:custDataLst>
          </p:nvPr>
        </p:nvSpPr>
        <p:spPr>
          <a:xfrm>
            <a:off x="3734363" y="2056215"/>
            <a:ext cx="2365840" cy="295730"/>
          </a:xfrm>
          <a:prstGeom prst="rect">
            <a:avLst/>
          </a:prstGeom>
          <a:noFill/>
        </p:spPr>
        <p:txBody>
          <a:bodyPr wrap="square" lIns="0" tIns="0" rIns="0" bIns="0" rtlCol="0" anchor="ctr">
            <a:normAutofit/>
          </a:bodyPr>
          <a:lstStyle/>
          <a:p>
            <a:pPr marL="0" indent="0">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原则二：模型与数据解耦</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2" name="Shape 10"/>
          <p:cNvSpPr/>
          <p:nvPr>
            <p:custDataLst>
              <p:tags r:id="rId7"/>
            </p:custDataLst>
          </p:nvPr>
        </p:nvSpPr>
        <p:spPr>
          <a:xfrm>
            <a:off x="3743348" y="2517780"/>
            <a:ext cx="166348" cy="36966"/>
          </a:xfrm>
          <a:prstGeom prst="rect">
            <a:avLst/>
          </a:prstGeom>
          <a:solidFill>
            <a:srgbClr val="2F6BFF"/>
          </a:solidFill>
          <a:ln w="12700">
            <a:solidFill>
              <a:srgbClr val="2F6BFF"/>
            </a:solidFill>
            <a:prstDash val="solid"/>
          </a:ln>
        </p:spPr>
      </p:sp>
      <p:sp>
        <p:nvSpPr>
          <p:cNvPr id="13" name="Text 11"/>
          <p:cNvSpPr/>
          <p:nvPr>
            <p:custDataLst>
              <p:tags r:id="rId8"/>
            </p:custDataLst>
          </p:nvPr>
        </p:nvSpPr>
        <p:spPr>
          <a:xfrm>
            <a:off x="3743477" y="2675015"/>
            <a:ext cx="2365583" cy="1252745"/>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将模型调用与企业核心数据隔离：通过受控 API / 中间层把数据按需、脱敏、裁剪后提供给模型，避免原始数据库直接暴露给大模型。</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4" name="Shape 12"/>
          <p:cNvSpPr/>
          <p:nvPr>
            <p:custDataLst>
              <p:tags r:id="rId9"/>
            </p:custDataLst>
          </p:nvPr>
        </p:nvSpPr>
        <p:spPr>
          <a:xfrm>
            <a:off x="6469738" y="1856752"/>
            <a:ext cx="2495222" cy="2499073"/>
          </a:xfrm>
          <a:prstGeom prst="roundRect">
            <a:avLst>
              <a:gd name="adj" fmla="val 4444"/>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5" name="Text 13"/>
          <p:cNvSpPr/>
          <p:nvPr>
            <p:custDataLst>
              <p:tags r:id="rId10"/>
            </p:custDataLst>
          </p:nvPr>
        </p:nvSpPr>
        <p:spPr>
          <a:xfrm>
            <a:off x="6672924" y="2056215"/>
            <a:ext cx="2088593" cy="295730"/>
          </a:xfrm>
          <a:prstGeom prst="rect">
            <a:avLst/>
          </a:prstGeom>
          <a:noFill/>
        </p:spPr>
        <p:txBody>
          <a:bodyPr wrap="square" lIns="0" tIns="0" rIns="0" bIns="0" rtlCol="0" anchor="ctr">
            <a:normAutofit/>
          </a:bodyPr>
          <a:lstStyle/>
          <a:p>
            <a:pPr marL="0" indent="0">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原则三：全链路</a:t>
            </a: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审计</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16" name="Shape 14"/>
          <p:cNvSpPr/>
          <p:nvPr>
            <p:custDataLst>
              <p:tags r:id="rId11"/>
            </p:custDataLst>
          </p:nvPr>
        </p:nvSpPr>
        <p:spPr>
          <a:xfrm>
            <a:off x="6672924" y="2517780"/>
            <a:ext cx="166348" cy="36966"/>
          </a:xfrm>
          <a:prstGeom prst="rect">
            <a:avLst/>
          </a:prstGeom>
          <a:solidFill>
            <a:srgbClr val="C61F26"/>
          </a:solidFill>
          <a:ln w="12700">
            <a:solidFill>
              <a:srgbClr val="C61F26"/>
            </a:solidFill>
            <a:prstDash val="solid"/>
          </a:ln>
        </p:spPr>
      </p:sp>
      <p:sp>
        <p:nvSpPr>
          <p:cNvPr id="17" name="Text 15"/>
          <p:cNvSpPr/>
          <p:nvPr>
            <p:custDataLst>
              <p:tags r:id="rId12"/>
            </p:custDataLst>
          </p:nvPr>
        </p:nvSpPr>
        <p:spPr>
          <a:xfrm>
            <a:off x="6673180" y="2675015"/>
            <a:ext cx="2088337" cy="1353504"/>
          </a:xfrm>
          <a:prstGeom prst="rect">
            <a:avLst/>
          </a:prstGeom>
          <a:noFill/>
        </p:spPr>
        <p:txBody>
          <a:bodyPr wrap="square" lIns="0" tIns="0" rIns="0" bIns="0" rtlCol="0" anchor="t">
            <a:normAutofit lnSpcReduction="10000"/>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记录 AI 使用了什么数据、引用了什么知识、生成了什么建议、触发了什么动作、由谁确认执行。满足审计、内控和责任追踪要求。</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p:txBody>
      </p:sp>
      <p:sp>
        <p:nvSpPr>
          <p:cNvPr id="18" name="Shape 16"/>
          <p:cNvSpPr/>
          <p:nvPr>
            <p:custDataLst>
              <p:tags r:id="rId13"/>
            </p:custDataLst>
          </p:nvPr>
        </p:nvSpPr>
        <p:spPr>
          <a:xfrm>
            <a:off x="9131180" y="1856752"/>
            <a:ext cx="2356599" cy="2499073"/>
          </a:xfrm>
          <a:prstGeom prst="roundRect">
            <a:avLst>
              <a:gd name="adj" fmla="val 4706"/>
            </a:avLst>
          </a:prstGeom>
          <a:solidFill>
            <a:srgbClr val="FEFEFF"/>
          </a:solidFill>
          <a:ln w="12700">
            <a:solidFill>
              <a:srgbClr val="E7E9ED"/>
            </a:solidFill>
            <a:prstDash val="solid"/>
          </a:ln>
          <a:effectLst>
            <a:outerShdw blurRad="25400" dist="50800" dir="2700000" algn="bl" rotWithShape="0">
              <a:srgbClr val="D9DDE3">
                <a:alpha val="12000"/>
              </a:srgbClr>
            </a:outerShdw>
          </a:effectLst>
        </p:spPr>
      </p:sp>
      <p:sp>
        <p:nvSpPr>
          <p:cNvPr id="19" name="Text 17"/>
          <p:cNvSpPr/>
          <p:nvPr>
            <p:custDataLst>
              <p:tags r:id="rId14"/>
            </p:custDataLst>
          </p:nvPr>
        </p:nvSpPr>
        <p:spPr>
          <a:xfrm>
            <a:off x="9325637" y="2012703"/>
            <a:ext cx="2045979" cy="385065"/>
          </a:xfrm>
          <a:prstGeom prst="rect">
            <a:avLst/>
          </a:prstGeom>
          <a:noFill/>
        </p:spPr>
        <p:txBody>
          <a:bodyPr wrap="square" lIns="0" tIns="0" rIns="0" bIns="0" rtlCol="0" anchor="ctr"/>
          <a:lstStyle/>
          <a:p>
            <a:pPr marL="0" indent="0">
              <a:lnSpc>
                <a:spcPct val="100000"/>
              </a:lnSpc>
              <a:buNone/>
            </a:pPr>
            <a:r>
              <a:rPr lang="en-US" sz="1400" b="1" dirty="0">
                <a:solidFill>
                  <a:srgbClr val="2F3440"/>
                </a:solidFill>
                <a:latin typeface="微软雅黑" panose="020B0503020204020204" charset="-122"/>
                <a:ea typeface="微软雅黑" panose="020B0503020204020204" charset="-122"/>
                <a:cs typeface="微软雅黑" panose="020B0503020204020204" pitchFamily="34" charset="-120"/>
              </a:rPr>
              <a:t>原则四：高风险动作必须有人在环</a:t>
            </a:r>
            <a:endParaRPr lang="en-US" sz="1400" b="1" dirty="0">
              <a:solidFill>
                <a:srgbClr val="2F3440"/>
              </a:solidFill>
              <a:latin typeface="微软雅黑" panose="020B0503020204020204" charset="-122"/>
              <a:ea typeface="微软雅黑" panose="020B0503020204020204" charset="-122"/>
              <a:cs typeface="微软雅黑" panose="020B0503020204020204" pitchFamily="34" charset="-120"/>
            </a:endParaRPr>
          </a:p>
        </p:txBody>
      </p:sp>
      <p:sp>
        <p:nvSpPr>
          <p:cNvPr id="20" name="Shape 18"/>
          <p:cNvSpPr/>
          <p:nvPr>
            <p:custDataLst>
              <p:tags r:id="rId15"/>
            </p:custDataLst>
          </p:nvPr>
        </p:nvSpPr>
        <p:spPr>
          <a:xfrm>
            <a:off x="9334494" y="2517780"/>
            <a:ext cx="166348" cy="36966"/>
          </a:xfrm>
          <a:prstGeom prst="rect">
            <a:avLst/>
          </a:prstGeom>
          <a:solidFill>
            <a:srgbClr val="E25A3B"/>
          </a:solidFill>
          <a:ln w="12700">
            <a:solidFill>
              <a:srgbClr val="E25A3B"/>
            </a:solidFill>
            <a:prstDash val="solid"/>
          </a:ln>
        </p:spPr>
      </p:sp>
      <p:sp>
        <p:nvSpPr>
          <p:cNvPr id="21" name="Text 19"/>
          <p:cNvSpPr/>
          <p:nvPr>
            <p:custDataLst>
              <p:tags r:id="rId16"/>
            </p:custDataLst>
          </p:nvPr>
        </p:nvSpPr>
        <p:spPr>
          <a:xfrm>
            <a:off x="9334622" y="2675015"/>
            <a:ext cx="1949713" cy="1270715"/>
          </a:xfrm>
          <a:prstGeom prst="rect">
            <a:avLst/>
          </a:prstGeom>
          <a:noFill/>
        </p:spPr>
        <p:txBody>
          <a:bodyPr wrap="square" lIns="0" tIns="0" rIns="0" bIns="0" rtlCol="0" anchor="t">
            <a:normAutofit/>
          </a:bodyPr>
          <a:lstStyle/>
          <a:p>
            <a:pPr marL="0" indent="0">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对付款、调账、关账、税务申报、主数据修改等关键操作设置审批和双重确认，不让 AI 越权自治</a:t>
            </a:r>
            <a:r>
              <a:rPr lang="en-US" sz="1060" dirty="0">
                <a:solidFill>
                  <a:srgbClr val="4B4F56"/>
                </a:solidFill>
                <a:latin typeface="微软雅黑" panose="020B0503020204020204" charset="-122"/>
                <a:ea typeface="微软雅黑" panose="020B0503020204020204" charset="-122"/>
                <a:cs typeface="微软雅黑" panose="020B0503020204020204" pitchFamily="34" charset="-120"/>
              </a:rPr>
              <a:t>。</a:t>
            </a:r>
            <a:endParaRPr lang="en-US" sz="1060" dirty="0"/>
          </a:p>
        </p:txBody>
      </p:sp>
      <p:grpSp>
        <p:nvGrpSpPr>
          <p:cNvPr id="35" name="组合 34"/>
          <p:cNvGrpSpPr/>
          <p:nvPr>
            <p:custDataLst>
              <p:tags r:id="rId17"/>
            </p:custDataLst>
          </p:nvPr>
        </p:nvGrpSpPr>
        <p:grpSpPr>
          <a:xfrm>
            <a:off x="601345" y="4652966"/>
            <a:ext cx="10887075" cy="751519"/>
            <a:chOff x="2054" y="8794"/>
            <a:chExt cx="13858" cy="1256"/>
          </a:xfrm>
        </p:grpSpPr>
        <p:sp>
          <p:nvSpPr>
            <p:cNvPr id="22" name="Shape 20"/>
            <p:cNvSpPr/>
            <p:nvPr>
              <p:custDataLst>
                <p:tags r:id="rId18"/>
              </p:custDataLst>
            </p:nvPr>
          </p:nvSpPr>
          <p:spPr>
            <a:xfrm>
              <a:off x="2054" y="8794"/>
              <a:ext cx="2842" cy="1257"/>
            </a:xfrm>
            <a:prstGeom prst="roundRect">
              <a:avLst>
                <a:gd name="adj" fmla="val 13953"/>
              </a:avLst>
            </a:prstGeom>
            <a:solidFill>
              <a:srgbClr val="EAF1FF"/>
            </a:solidFill>
            <a:ln w="12700">
              <a:solidFill>
                <a:srgbClr val="E7E9ED"/>
              </a:solidFill>
              <a:prstDash val="solid"/>
            </a:ln>
          </p:spPr>
        </p:sp>
        <p:sp>
          <p:nvSpPr>
            <p:cNvPr id="23" name="Text 21"/>
            <p:cNvSpPr/>
            <p:nvPr>
              <p:custDataLst>
                <p:tags r:id="rId19"/>
              </p:custDataLst>
            </p:nvPr>
          </p:nvSpPr>
          <p:spPr>
            <a:xfrm>
              <a:off x="2054" y="8950"/>
              <a:ext cx="2842" cy="497"/>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分级</a:t>
              </a:r>
              <a:endParaRPr lang="en-US" sz="2000" dirty="0"/>
            </a:p>
          </p:txBody>
        </p:sp>
        <p:sp>
          <p:nvSpPr>
            <p:cNvPr id="24" name="Text 22"/>
            <p:cNvSpPr/>
            <p:nvPr>
              <p:custDataLst>
                <p:tags r:id="rId20"/>
              </p:custDataLst>
            </p:nvPr>
          </p:nvSpPr>
          <p:spPr>
            <a:xfrm>
              <a:off x="2165" y="9528"/>
              <a:ext cx="2616" cy="351"/>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数据分类分域</a:t>
              </a:r>
              <a:endParaRPr lang="en-US" sz="1020" dirty="0"/>
            </a:p>
          </p:txBody>
        </p:sp>
        <p:sp>
          <p:nvSpPr>
            <p:cNvPr id="25" name="Shape 23"/>
            <p:cNvSpPr/>
            <p:nvPr>
              <p:custDataLst>
                <p:tags r:id="rId21"/>
              </p:custDataLst>
            </p:nvPr>
          </p:nvSpPr>
          <p:spPr>
            <a:xfrm>
              <a:off x="5726" y="8794"/>
              <a:ext cx="2842" cy="1257"/>
            </a:xfrm>
            <a:prstGeom prst="roundRect">
              <a:avLst>
                <a:gd name="adj" fmla="val 13953"/>
              </a:avLst>
            </a:prstGeom>
            <a:solidFill>
              <a:srgbClr val="DFF6F4"/>
            </a:solidFill>
            <a:ln w="12700">
              <a:solidFill>
                <a:srgbClr val="E7E9ED"/>
              </a:solidFill>
              <a:prstDash val="solid"/>
            </a:ln>
          </p:spPr>
        </p:sp>
        <p:sp>
          <p:nvSpPr>
            <p:cNvPr id="26" name="Text 24"/>
            <p:cNvSpPr/>
            <p:nvPr>
              <p:custDataLst>
                <p:tags r:id="rId22"/>
              </p:custDataLst>
            </p:nvPr>
          </p:nvSpPr>
          <p:spPr>
            <a:xfrm>
              <a:off x="5726" y="8950"/>
              <a:ext cx="2842" cy="497"/>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隔离</a:t>
              </a:r>
              <a:endParaRPr lang="en-US" sz="2000" dirty="0"/>
            </a:p>
          </p:txBody>
        </p:sp>
        <p:sp>
          <p:nvSpPr>
            <p:cNvPr id="27" name="Text 25"/>
            <p:cNvSpPr/>
            <p:nvPr>
              <p:custDataLst>
                <p:tags r:id="rId23"/>
              </p:custDataLst>
            </p:nvPr>
          </p:nvSpPr>
          <p:spPr>
            <a:xfrm>
              <a:off x="5837" y="9528"/>
              <a:ext cx="2616" cy="351"/>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模型与数据边界</a:t>
              </a:r>
              <a:endParaRPr lang="en-US" sz="1020" dirty="0"/>
            </a:p>
          </p:txBody>
        </p:sp>
        <p:sp>
          <p:nvSpPr>
            <p:cNvPr id="28" name="Shape 26"/>
            <p:cNvSpPr/>
            <p:nvPr>
              <p:custDataLst>
                <p:tags r:id="rId24"/>
              </p:custDataLst>
            </p:nvPr>
          </p:nvSpPr>
          <p:spPr>
            <a:xfrm>
              <a:off x="9398" y="8794"/>
              <a:ext cx="2842" cy="1257"/>
            </a:xfrm>
            <a:prstGeom prst="roundRect">
              <a:avLst>
                <a:gd name="adj" fmla="val 13953"/>
              </a:avLst>
            </a:prstGeom>
            <a:solidFill>
              <a:srgbClr val="FFF4D6"/>
            </a:solidFill>
            <a:ln w="12700">
              <a:solidFill>
                <a:srgbClr val="E7E9ED"/>
              </a:solidFill>
              <a:prstDash val="solid"/>
            </a:ln>
          </p:spPr>
        </p:sp>
        <p:sp>
          <p:nvSpPr>
            <p:cNvPr id="29" name="Text 27"/>
            <p:cNvSpPr/>
            <p:nvPr>
              <p:custDataLst>
                <p:tags r:id="rId25"/>
              </p:custDataLst>
            </p:nvPr>
          </p:nvSpPr>
          <p:spPr>
            <a:xfrm>
              <a:off x="9398" y="8950"/>
              <a:ext cx="2842" cy="497"/>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留痕</a:t>
              </a:r>
              <a:endParaRPr lang="en-US" sz="2000" dirty="0"/>
            </a:p>
          </p:txBody>
        </p:sp>
        <p:sp>
          <p:nvSpPr>
            <p:cNvPr id="30" name="Text 28"/>
            <p:cNvSpPr/>
            <p:nvPr>
              <p:custDataLst>
                <p:tags r:id="rId26"/>
              </p:custDataLst>
            </p:nvPr>
          </p:nvSpPr>
          <p:spPr>
            <a:xfrm>
              <a:off x="9509" y="9528"/>
              <a:ext cx="2616" cy="351"/>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全链路可审计</a:t>
              </a:r>
              <a:endParaRPr lang="en-US" sz="1020" dirty="0"/>
            </a:p>
          </p:txBody>
        </p:sp>
        <p:sp>
          <p:nvSpPr>
            <p:cNvPr id="31" name="Shape 29"/>
            <p:cNvSpPr/>
            <p:nvPr>
              <p:custDataLst>
                <p:tags r:id="rId27"/>
              </p:custDataLst>
            </p:nvPr>
          </p:nvSpPr>
          <p:spPr>
            <a:xfrm>
              <a:off x="13070" y="8794"/>
              <a:ext cx="2842" cy="1257"/>
            </a:xfrm>
            <a:prstGeom prst="roundRect">
              <a:avLst>
                <a:gd name="adj" fmla="val 13953"/>
              </a:avLst>
            </a:prstGeom>
            <a:solidFill>
              <a:srgbClr val="FFE5D9"/>
            </a:solidFill>
            <a:ln w="12700">
              <a:solidFill>
                <a:srgbClr val="E7E9ED"/>
              </a:solidFill>
              <a:prstDash val="solid"/>
            </a:ln>
          </p:spPr>
        </p:sp>
        <p:sp>
          <p:nvSpPr>
            <p:cNvPr id="32" name="Text 30"/>
            <p:cNvSpPr/>
            <p:nvPr>
              <p:custDataLst>
                <p:tags r:id="rId28"/>
              </p:custDataLst>
            </p:nvPr>
          </p:nvSpPr>
          <p:spPr>
            <a:xfrm>
              <a:off x="13070" y="8950"/>
              <a:ext cx="2842" cy="497"/>
            </a:xfrm>
            <a:prstGeom prst="rect">
              <a:avLst/>
            </a:prstGeom>
            <a:noFill/>
          </p:spPr>
          <p:txBody>
            <a:bodyPr wrap="square" lIns="0" tIns="0" rIns="0" bIns="0" rtlCol="0" anchor="ctr"/>
            <a:lstStyle/>
            <a:p>
              <a:pPr marL="0" indent="0" algn="ctr">
                <a:buNone/>
              </a:pPr>
              <a:r>
                <a:rPr lang="en-US" sz="2000" b="1" dirty="0">
                  <a:solidFill>
                    <a:srgbClr val="2F3440"/>
                  </a:solidFill>
                  <a:latin typeface="微软雅黑" panose="020B0503020204020204" charset="-122"/>
                  <a:ea typeface="微软雅黑" panose="020B0503020204020204" charset="-122"/>
                  <a:cs typeface="微软雅黑" panose="020B0503020204020204" pitchFamily="34" charset="-120"/>
                </a:rPr>
                <a:t>审批</a:t>
              </a:r>
              <a:endParaRPr lang="en-US" sz="2000" dirty="0"/>
            </a:p>
          </p:txBody>
        </p:sp>
        <p:sp>
          <p:nvSpPr>
            <p:cNvPr id="33" name="Text 31"/>
            <p:cNvSpPr/>
            <p:nvPr>
              <p:custDataLst>
                <p:tags r:id="rId29"/>
              </p:custDataLst>
            </p:nvPr>
          </p:nvSpPr>
          <p:spPr>
            <a:xfrm>
              <a:off x="13181" y="9528"/>
              <a:ext cx="2616" cy="351"/>
            </a:xfrm>
            <a:prstGeom prst="rect">
              <a:avLst/>
            </a:prstGeom>
            <a:noFill/>
          </p:spPr>
          <p:txBody>
            <a:bodyPr wrap="square" lIns="0" tIns="0" rIns="0" bIns="0" rtlCol="0" anchor="ctr"/>
            <a:lstStyle/>
            <a:p>
              <a:pPr marL="0" indent="0" algn="ctr">
                <a:buNone/>
              </a:pPr>
              <a:r>
                <a:rPr lang="en-US" sz="1020" dirty="0">
                  <a:solidFill>
                    <a:srgbClr val="4B4F56"/>
                  </a:solidFill>
                  <a:latin typeface="微软雅黑" panose="020B0503020204020204" charset="-122"/>
                  <a:ea typeface="微软雅黑" panose="020B0503020204020204" charset="-122"/>
                  <a:cs typeface="微软雅黑" panose="020B0503020204020204" pitchFamily="34" charset="-120"/>
                </a:rPr>
                <a:t>关键动作人审</a:t>
              </a:r>
              <a:endParaRPr lang="en-US" sz="1020" dirty="0"/>
            </a:p>
          </p:txBody>
        </p:sp>
      </p:grpSp>
      <p:sp>
        <p:nvSpPr>
          <p:cNvPr id="34" name="Slide Number Placeholder 0"/>
          <p:cNvSpPr>
            <a:spLocks noGrp="1"/>
          </p:cNvSpPr>
          <p:nvPr>
            <p:ph type="sldNum" sz="quarter" idx="4294967295"/>
          </p:nvPr>
        </p:nvSpPr>
        <p:spPr>
          <a:xfrm>
            <a:off x="11475720" y="6419088"/>
            <a:ext cx="320040" cy="164592"/>
          </a:xfrm>
          <a:prstGeom prst="rect">
            <a:avLst/>
          </a:prstGeom>
        </p:spPr>
        <p:txBody>
          <a:bodyPr/>
          <a:lstStyle>
            <a:lvl1pPr>
              <a:defRPr sz="900">
                <a:solidFill>
                  <a:srgbClr val="8A8F98"/>
                </a:solidFill>
                <a:latin typeface="微软雅黑" panose="020B0503020204020204" charset="-122"/>
                <a:ea typeface="微软雅黑" panose="020B0503020204020204" charset="-122"/>
                <a:cs typeface="微软雅黑" panose="020B0503020204020204" charset="-122"/>
              </a:defRPr>
            </a:lvl1pPr>
          </a:lstStyle>
          <a:p>
            <a:pPr algn="r"/>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86384" y="380873"/>
            <a:ext cx="3840480" cy="274320"/>
          </a:xfrm>
          <a:prstGeom prst="rect">
            <a:avLst/>
          </a:prstGeom>
          <a:noFill/>
        </p:spPr>
        <p:txBody>
          <a:bodyPr wrap="square" lIns="0" tIns="0" rIns="0" bIns="0" rtlCol="0" anchor="ctr"/>
          <a:lstStyle/>
          <a:p>
            <a:pPr marL="0" indent="0">
              <a:buNone/>
            </a:pPr>
            <a:r>
              <a:rPr lang="en-US" b="1" dirty="0">
                <a:solidFill>
                  <a:srgbClr val="C61F26"/>
                </a:solidFill>
                <a:latin typeface="微软雅黑" panose="020B0503020204020204" charset="-122"/>
                <a:ea typeface="微软雅黑" panose="020B0503020204020204" charset="-122"/>
                <a:cs typeface="微软雅黑" panose="020B0503020204020204" pitchFamily="34" charset="-120"/>
              </a:rPr>
              <a:t>可落地的数据安全方案建议</a:t>
            </a:r>
            <a:endParaRPr lang="en-US" b="1" dirty="0">
              <a:solidFill>
                <a:srgbClr val="C61F26"/>
              </a:solidFill>
              <a:latin typeface="微软雅黑" panose="020B0503020204020204" charset="-122"/>
              <a:ea typeface="微软雅黑" panose="020B0503020204020204" charset="-122"/>
              <a:cs typeface="微软雅黑" panose="020B0503020204020204" pitchFamily="34" charset="-120"/>
            </a:endParaRPr>
          </a:p>
        </p:txBody>
      </p:sp>
      <p:sp>
        <p:nvSpPr>
          <p:cNvPr id="3" name="Text 1"/>
          <p:cNvSpPr/>
          <p:nvPr/>
        </p:nvSpPr>
        <p:spPr>
          <a:xfrm>
            <a:off x="786384" y="769112"/>
            <a:ext cx="4389120" cy="182880"/>
          </a:xfrm>
          <a:prstGeom prst="rect">
            <a:avLst/>
          </a:prstGeom>
          <a:noFill/>
        </p:spPr>
        <p:txBody>
          <a:bodyPr wrap="square" lIns="0" tIns="0" rIns="0" bIns="0" rtlCol="0" anchor="ctr"/>
          <a:lstStyle/>
          <a:p>
            <a:pPr marL="0" indent="0">
              <a:buNone/>
            </a:pPr>
            <a:r>
              <a:rPr lang="en-US" sz="1100" dirty="0">
                <a:solidFill>
                  <a:srgbClr val="7C828B"/>
                </a:solidFill>
                <a:latin typeface="微软雅黑" panose="020B0503020204020204" charset="-122"/>
                <a:ea typeface="微软雅黑" panose="020B0503020204020204" charset="-122"/>
                <a:cs typeface="微软雅黑" panose="020B0503020204020204" pitchFamily="34" charset="-120"/>
              </a:rPr>
              <a:t>安全不是附加项，而是 AI 财务系统的基础能力</a:t>
            </a:r>
            <a:endParaRPr lang="en-US" sz="1100" dirty="0"/>
          </a:p>
        </p:txBody>
      </p:sp>
      <p:graphicFrame>
        <p:nvGraphicFramePr>
          <p:cNvPr id="16" name="Table 0"/>
          <p:cNvGraphicFramePr>
            <a:graphicFrameLocks noGrp="1"/>
          </p:cNvGraphicFramePr>
          <p:nvPr>
            <p:custDataLst>
              <p:tags r:id="rId1"/>
            </p:custDataLst>
          </p:nvPr>
        </p:nvGraphicFramePr>
        <p:xfrm>
          <a:off x="786130" y="1101725"/>
          <a:ext cx="10607040" cy="4114165"/>
        </p:xfrm>
        <a:graphic>
          <a:graphicData uri="http://schemas.openxmlformats.org/drawingml/2006/table">
            <a:tbl>
              <a:tblPr/>
              <a:tblGrid>
                <a:gridCol w="1463040"/>
                <a:gridCol w="4892040"/>
                <a:gridCol w="4251960"/>
              </a:tblGrid>
              <a:tr h="434975">
                <a:tc>
                  <a:txBody>
                    <a:bodyPr/>
                    <a:lstStyle/>
                    <a:p>
                      <a:pPr marL="0" indent="0" algn="ctr">
                        <a:lnSpc>
                          <a:spcPct val="150000"/>
                        </a:lnSpc>
                        <a:buNone/>
                      </a:pPr>
                      <a:r>
                        <a:rPr lang="en-US" sz="1060" b="1" dirty="0">
                          <a:solidFill>
                            <a:srgbClr val="FFFFFF"/>
                          </a:solidFill>
                          <a:latin typeface="微软雅黑" panose="020B0503020204020204" charset="-122"/>
                          <a:ea typeface="微软雅黑" panose="020B0503020204020204" charset="-122"/>
                          <a:cs typeface="微软雅黑" panose="020B0503020204020204" pitchFamily="34" charset="-120"/>
                        </a:rPr>
                        <a:t>安全域</a:t>
                      </a:r>
                      <a:endParaRPr lang="en-US" sz="1060" dirty="0">
                        <a:latin typeface="微软雅黑" panose="020B0503020204020204" charset="-122"/>
                        <a:ea typeface="微软雅黑" panose="020B0503020204020204" charset="-122"/>
                        <a:cs typeface="微软雅黑" panose="020B0503020204020204" charset="-122"/>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060" b="1" dirty="0">
                          <a:solidFill>
                            <a:srgbClr val="FFFFFF"/>
                          </a:solidFill>
                          <a:latin typeface="微软雅黑" panose="020B0503020204020204" charset="-122"/>
                          <a:ea typeface="微软雅黑" panose="020B0503020204020204" charset="-122"/>
                          <a:cs typeface="微软雅黑" panose="020B0503020204020204" pitchFamily="34" charset="-120"/>
                        </a:rPr>
                        <a:t>建议方案</a:t>
                      </a:r>
                      <a:endParaRPr lang="en-US" sz="1060" dirty="0">
                        <a:latin typeface="微软雅黑" panose="020B0503020204020204" charset="-122"/>
                        <a:ea typeface="微软雅黑" panose="020B0503020204020204" charset="-122"/>
                        <a:cs typeface="微软雅黑" panose="020B0503020204020204" charset="-122"/>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060" b="1" dirty="0">
                          <a:solidFill>
                            <a:srgbClr val="FFFFFF"/>
                          </a:solidFill>
                          <a:latin typeface="微软雅黑" panose="020B0503020204020204" charset="-122"/>
                          <a:ea typeface="微软雅黑" panose="020B0503020204020204" charset="-122"/>
                          <a:cs typeface="微软雅黑" panose="020B0503020204020204" pitchFamily="34" charset="-120"/>
                        </a:rPr>
                        <a:t>价值</a:t>
                      </a:r>
                      <a:endParaRPr lang="en-US" sz="1060" dirty="0">
                        <a:latin typeface="微软雅黑" panose="020B0503020204020204" charset="-122"/>
                        <a:ea typeface="微软雅黑" panose="020B0503020204020204" charset="-122"/>
                        <a:cs typeface="微软雅黑" panose="020B0503020204020204" charset="-122"/>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2775">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部署模式</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支持私有化部署、专有云、混合架构；敏感数据优先在企业边界内处理</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满足不同客户对数据主权与监管要求</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34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访问控制</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基于 Odoo 权限体系 + AI 任务级访问控制 + 行级/字段级权限</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确保不同角色看到的数据、能执行的动作严格隔离</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34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脱敏与加密</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传输加密、存储加密、敏感字段脱敏、日志脱敏、秘钥托管</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降低敏感数据泄露与二次扩散风险</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34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知识库治理</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制度、政策、案例、SOP 分权限入库，支持版本管理与失效管理</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保证 AI 引用的是正确、可控、可追溯的知识</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3410">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审计与监控</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保留 Prompt、上下文、工具调用、结果、审批链、异常日志</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满足审计、内控、问题追责和安全运营需要</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r h="612775">
                <a:tc>
                  <a:txBody>
                    <a:bodyPr/>
                    <a:lstStyle/>
                    <a:p>
                      <a:pPr marL="0" indent="0" algn="ctr">
                        <a:lnSpc>
                          <a:spcPct val="150000"/>
                        </a:lnSpc>
                        <a:buNone/>
                      </a:pPr>
                      <a:r>
                        <a:rPr lang="en-US" sz="1200" b="1" dirty="0">
                          <a:solidFill>
                            <a:srgbClr val="4B4F56"/>
                          </a:solidFill>
                          <a:latin typeface="微软雅黑" panose="020B0503020204020204" charset="-122"/>
                          <a:ea typeface="微软雅黑" panose="020B0503020204020204" charset="-122"/>
                          <a:cs typeface="微软雅黑" panose="020B0503020204020204" pitchFamily="34" charset="-120"/>
                        </a:rPr>
                        <a:t>模型策略</a:t>
                      </a:r>
                      <a:endParaRPr lang="en-US" sz="1200" b="1"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模型白名单、场景路由、置信度阈值、敏感动作禁用策略</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c>
                  <a:txBody>
                    <a:bodyPr/>
                    <a:lstStyle/>
                    <a:p>
                      <a:pPr marL="0" indent="0" algn="ctr">
                        <a:lnSpc>
                          <a:spcPct val="150000"/>
                        </a:lnSpc>
                        <a:buNone/>
                      </a:pPr>
                      <a:r>
                        <a:rPr lang="en-US" sz="1200" dirty="0">
                          <a:solidFill>
                            <a:srgbClr val="4B4F56"/>
                          </a:solidFill>
                          <a:latin typeface="微软雅黑" panose="020B0503020204020204" charset="-122"/>
                          <a:ea typeface="微软雅黑" panose="020B0503020204020204" charset="-122"/>
                          <a:cs typeface="微软雅黑" panose="020B0503020204020204" pitchFamily="34" charset="-120"/>
                        </a:rPr>
                        <a:t>避免“一个模型通吃”，提高稳定性与合规性</a:t>
                      </a:r>
                      <a:endParaRPr lang="en-US" sz="1200" dirty="0">
                        <a:solidFill>
                          <a:srgbClr val="4B4F56"/>
                        </a:solidFill>
                        <a:latin typeface="微软雅黑" panose="020B0503020204020204" charset="-122"/>
                        <a:ea typeface="微软雅黑" panose="020B0503020204020204" charset="-122"/>
                        <a:cs typeface="微软雅黑" panose="020B0503020204020204" pitchFamily="34" charset="-120"/>
                      </a:endParaRPr>
                    </a:p>
                  </a:txBody>
                  <a:tcPr marL="45720" marR="45720" anchor="ctr">
                    <a:lnL w="12700" cap="flat" cmpd="sng" algn="ctr">
                      <a:solidFill>
                        <a:srgbClr val="E7E9ED"/>
                      </a:solidFill>
                      <a:prstDash val="solid"/>
                      <a:round/>
                      <a:headEnd type="none" w="med" len="med"/>
                      <a:tailEnd type="none" w="med" len="med"/>
                    </a:lnL>
                    <a:lnR w="12700" cap="flat" cmpd="sng" algn="ctr">
                      <a:solidFill>
                        <a:srgbClr val="E7E9ED"/>
                      </a:solidFill>
                      <a:prstDash val="solid"/>
                      <a:round/>
                      <a:headEnd type="none" w="med" len="med"/>
                      <a:tailEnd type="none" w="med" len="med"/>
                    </a:lnR>
                    <a:lnT w="12700" cap="flat" cmpd="sng" algn="ctr">
                      <a:solidFill>
                        <a:srgbClr val="E7E9ED"/>
                      </a:solidFill>
                      <a:prstDash val="solid"/>
                      <a:round/>
                      <a:headEnd type="none" w="med" len="med"/>
                      <a:tailEnd type="none" w="med" len="med"/>
                    </a:lnT>
                    <a:lnB w="12700" cap="flat" cmpd="sng" algn="ctr">
                      <a:solidFill>
                        <a:srgbClr val="E7E9ED"/>
                      </a:solidFill>
                      <a:prstDash val="solid"/>
                      <a:round/>
                      <a:headEnd type="none" w="med" len="med"/>
                      <a:tailEnd type="none" w="med" len="med"/>
                    </a:lnB>
                    <a:solidFill>
                      <a:srgbClr val="FFFFFF"/>
                    </a:solidFill>
                  </a:tcPr>
                </a:tc>
              </a:tr>
            </a:tbl>
          </a:graphicData>
        </a:graphic>
      </p:graphicFrame>
      <p:sp>
        <p:nvSpPr>
          <p:cNvPr id="5" name="Text 2"/>
          <p:cNvSpPr/>
          <p:nvPr/>
        </p:nvSpPr>
        <p:spPr>
          <a:xfrm>
            <a:off x="2880360" y="5365750"/>
            <a:ext cx="6583680" cy="329184"/>
          </a:xfrm>
          <a:prstGeom prst="rect">
            <a:avLst/>
          </a:prstGeom>
          <a:noFill/>
        </p:spPr>
        <p:txBody>
          <a:bodyPr wrap="square" lIns="0" tIns="0" rIns="0" bIns="0" rtlCol="0" anchor="ctr"/>
          <a:lstStyle/>
          <a:p>
            <a:pPr marL="0" indent="0" algn="ctr">
              <a:buNone/>
            </a:pPr>
            <a:r>
              <a:rPr lang="en-US" sz="22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rPr>
              <a:t>财务迭代之路  由 AI 原生架构持续驱动</a:t>
            </a:r>
            <a:endParaRPr lang="en-US" sz="2200" b="1" dirty="0">
              <a:solidFill>
                <a:schemeClr val="bg1">
                  <a:lumMod val="50000"/>
                </a:schemeClr>
              </a:solidFill>
              <a:latin typeface="微软雅黑" panose="020B0503020204020204" charset="-122"/>
              <a:ea typeface="微软雅黑" panose="020B0503020204020204" charset="-122"/>
              <a:cs typeface="微软雅黑" panose="020B0503020204020204" pitchFamily="34" charset="-120"/>
            </a:endParaRPr>
          </a:p>
        </p:txBody>
      </p:sp>
      <p:sp>
        <p:nvSpPr>
          <p:cNvPr id="6" name="Text 3"/>
          <p:cNvSpPr/>
          <p:nvPr/>
        </p:nvSpPr>
        <p:spPr>
          <a:xfrm>
            <a:off x="2788920" y="5723255"/>
            <a:ext cx="6675120" cy="164592"/>
          </a:xfrm>
          <a:prstGeom prst="rect">
            <a:avLst/>
          </a:prstGeom>
          <a:noFill/>
        </p:spPr>
        <p:txBody>
          <a:bodyPr wrap="square" lIns="0" tIns="0" rIns="0" bIns="0" rtlCol="0" anchor="ctr"/>
          <a:lstStyle/>
          <a:p>
            <a:pPr marL="0" indent="0" algn="ctr">
              <a:buNone/>
            </a:pPr>
            <a:r>
              <a:rPr lang="en-US" sz="1050" i="1" dirty="0">
                <a:solidFill>
                  <a:srgbClr val="C61F26"/>
                </a:solidFill>
                <a:latin typeface="微软雅黑" panose="020B0503020204020204" charset="-122"/>
                <a:ea typeface="微软雅黑" panose="020B0503020204020204" charset="-122"/>
                <a:cs typeface="微软雅黑" panose="020B0503020204020204" pitchFamily="34" charset="-120"/>
              </a:rPr>
              <a:t>The Next Way of Finance, Powered by Odoo + FT Agent</a:t>
            </a:r>
            <a:endParaRPr lang="en-US" sz="1050" dirty="0"/>
          </a:p>
        </p:txBody>
      </p:sp>
      <p:sp>
        <p:nvSpPr>
          <p:cNvPr id="7" name="Text 4"/>
          <p:cNvSpPr/>
          <p:nvPr/>
        </p:nvSpPr>
        <p:spPr>
          <a:xfrm>
            <a:off x="3154680" y="5962904"/>
            <a:ext cx="6035040" cy="164592"/>
          </a:xfrm>
          <a:prstGeom prst="rect">
            <a:avLst/>
          </a:prstGeom>
          <a:noFill/>
        </p:spPr>
        <p:txBody>
          <a:bodyPr wrap="square" lIns="0" tIns="0" rIns="0" bIns="0" rtlCol="0" anchor="ctr"/>
          <a:lstStyle/>
          <a:p>
            <a:pPr marL="0" indent="0" algn="ctr">
              <a:buNone/>
            </a:pPr>
            <a:r>
              <a:rPr lang="en-US" sz="1050" dirty="0">
                <a:solidFill>
                  <a:srgbClr val="4B4F56"/>
                </a:solidFill>
                <a:latin typeface="微软雅黑" panose="020B0503020204020204" charset="-122"/>
                <a:ea typeface="微软雅黑" panose="020B0503020204020204" charset="-122"/>
                <a:cs typeface="微软雅黑" panose="020B0503020204020204" pitchFamily="34" charset="-120"/>
              </a:rPr>
              <a:t>智能核算｜风险预警｜经营分析｜安全治理</a:t>
            </a:r>
            <a:endParaRPr lang="en-US" sz="1050" dirty="0"/>
          </a:p>
        </p:txBody>
      </p:sp>
    </p:spTree>
  </p:cSld>
  <p:clrMapOvr>
    <a:masterClrMapping/>
  </p:clrMapOvr>
</p:sld>
</file>

<file path=ppt/tags/tag1.xml><?xml version="1.0" encoding="utf-8"?>
<p:tagLst xmlns:p="http://schemas.openxmlformats.org/presentationml/2006/main">
  <p:tag name="KSO_WM_DIAGRAM_VIRTUALLY_FRAME" val="{&quot;height&quot;:196.25,&quot;left&quot;:577.35,&quot;top&quot;:90,&quot;width&quot;:322.15}"/>
</p:tagLst>
</file>

<file path=ppt/tags/tag2.xml><?xml version="1.0" encoding="utf-8"?>
<p:tagLst xmlns:p="http://schemas.openxmlformats.org/presentationml/2006/main">
  <p:tag name="KSO_WM_DIAGRAM_VIRTUALLY_FRAME" val="{&quot;height&quot;:196.25,&quot;left&quot;:577.35,&quot;top&quot;:90,&quot;width&quot;:322.15}"/>
</p:tagLst>
</file>

<file path=ppt/tags/tag3.xml><?xml version="1.0" encoding="utf-8"?>
<p:tagLst xmlns:p="http://schemas.openxmlformats.org/presentationml/2006/main">
  <p:tag name="KSO_WM_DIAGRAM_VIRTUALLY_FRAME" val="{&quot;height&quot;:196.25,&quot;left&quot;:577.35,&quot;top&quot;:90,&quot;width&quot;:322.15}"/>
</p:tagLst>
</file>

<file path=ppt/tags/tag4.xml><?xml version="1.0" encoding="utf-8"?>
<p:tagLst xmlns:p="http://schemas.openxmlformats.org/presentationml/2006/main">
  <p:tag name="KSO_WM_DIAGRAM_VIRTUALLY_FRAME" val="{&quot;height&quot;:196.25,&quot;left&quot;:577.35,&quot;top&quot;:90,&quot;width&quot;:322.15}"/>
</p:tagLst>
</file>

<file path=ppt/tags/tag5.xml><?xml version="1.0" encoding="utf-8"?>
<p:tagLst xmlns:p="http://schemas.openxmlformats.org/presentationml/2006/main">
  <p:tag name="KSO_WM_DIAGRAM_VIRTUALLY_FRAME" val="{&quot;height&quot;:196.25,&quot;left&quot;:577.35,&quot;top&quot;:90,&quot;width&quot;:322.15}"/>
</p:tagLst>
</file>

<file path=ppt/tags/tag6.xml><?xml version="1.0" encoding="utf-8"?>
<p:tagLst xmlns:p="http://schemas.openxmlformats.org/presentationml/2006/main">
  <p:tag name="KSO_WM_DIAGRAM_VIRTUALLY_FRAME" val="{&quot;height&quot;:196.25,&quot;left&quot;:577.35,&quot;top&quot;:90,&quot;width&quot;:322.15}"/>
</p:tagLst>
</file>

<file path=ppt/tags/tag7.xml><?xml version="1.0" encoding="utf-8"?>
<p:tagLst xmlns:p="http://schemas.openxmlformats.org/presentationml/2006/main">
  <p:tag name="KSO_WM_DIAGRAM_VIRTUALLY_FRAME" val="{&quot;height&quot;:196.25,&quot;left&quot;:577.35,&quot;top&quot;:90,&quot;width&quot;:322.15}"/>
</p:tagLst>
</file>

<file path=ppt/tags/tag8.xml><?xml version="1.0" encoding="utf-8"?>
<p:tagLst xmlns:p="http://schemas.openxmlformats.org/presentationml/2006/main">
  <p:tag name="KSO_WM_DIAGRAM_VIRTUALLY_FRAME" val="{&quot;height&quot;:196.25,&quot;left&quot;:577.35,&quot;top&quot;:90,&quot;width&quot;:322.15}"/>
</p:tagLst>
</file>

<file path=ppt/tags/tag9.xml><?xml version="1.0" encoding="utf-8"?>
<p:tagLst xmlns:p="http://schemas.openxmlformats.org/presentationml/2006/main">
  <p:tag name="KSO_WM_DIAGRAM_VIRTUALLY_FRAME" val="{&quot;height&quot;:196.25,&quot;left&quot;:577.35,&quot;top&quot;:90,&quot;width&quot;:322.15}"/>
</p:tagLst>
</file>

<file path=ppt/tags/tag10.xml><?xml version="1.0" encoding="utf-8"?>
<p:tagLst xmlns:p="http://schemas.openxmlformats.org/presentationml/2006/main">
  <p:tag name="KSO_WM_DIAGRAM_VIRTUALLY_FRAME" val="{&quot;height&quot;:196.25,&quot;left&quot;:577.35,&quot;top&quot;:90,&quot;width&quot;:322.15}"/>
</p:tagLst>
</file>

<file path=ppt/tags/tag11.xml><?xml version="1.0" encoding="utf-8"?>
<p:tagLst xmlns:p="http://schemas.openxmlformats.org/presentationml/2006/main">
  <p:tag name="KSO_WM_DIAGRAM_VIRTUALLY_FRAME" val="{&quot;height&quot;:196.25,&quot;left&quot;:577.35,&quot;top&quot;:90,&quot;width&quot;:322.15}"/>
</p:tagLst>
</file>

<file path=ppt/tags/tag12.xml><?xml version="1.0" encoding="utf-8"?>
<p:tagLst xmlns:p="http://schemas.openxmlformats.org/presentationml/2006/main">
  <p:tag name="KSO_WM_DIAGRAM_VIRTUALLY_FRAME" val="{&quot;height&quot;:196.25,&quot;left&quot;:577.35,&quot;top&quot;:90,&quot;width&quot;:322.15}"/>
</p:tagLst>
</file>

<file path=ppt/tags/tag13.xml><?xml version="1.0" encoding="utf-8"?>
<p:tagLst xmlns:p="http://schemas.openxmlformats.org/presentationml/2006/main">
  <p:tag name="KSO_WM_DIAGRAM_VIRTUALLY_FRAME" val="{&quot;height&quot;:196.25,&quot;left&quot;:577.35,&quot;top&quot;:90,&quot;width&quot;:322.15}"/>
</p:tagLst>
</file>

<file path=ppt/tags/tag14.xml><?xml version="1.0" encoding="utf-8"?>
<p:tagLst xmlns:p="http://schemas.openxmlformats.org/presentationml/2006/main">
  <p:tag name="KSO_WM_DIAGRAM_VIRTUALLY_FRAME" val="{&quot;height&quot;:142.05,&quot;left&quot;:51.839999999999996,&quot;top&quot;:102.25,&quot;width&quot;:885.51}"/>
</p:tagLst>
</file>

<file path=ppt/tags/tag15.xml><?xml version="1.0" encoding="utf-8"?>
<p:tagLst xmlns:p="http://schemas.openxmlformats.org/presentationml/2006/main">
  <p:tag name="KSO_WM_DIAGRAM_VIRTUALLY_FRAME" val="{&quot;height&quot;:142.05,&quot;left&quot;:51.839999999999996,&quot;top&quot;:102.25,&quot;width&quot;:885.51}"/>
</p:tagLst>
</file>

<file path=ppt/tags/tag16.xml><?xml version="1.0" encoding="utf-8"?>
<p:tagLst xmlns:p="http://schemas.openxmlformats.org/presentationml/2006/main">
  <p:tag name="KSO_WM_DIAGRAM_VIRTUALLY_FRAME" val="{&quot;height&quot;:142.05,&quot;left&quot;:51.839999999999996,&quot;top&quot;:102.25,&quot;width&quot;:885.51}"/>
</p:tagLst>
</file>

<file path=ppt/tags/tag17.xml><?xml version="1.0" encoding="utf-8"?>
<p:tagLst xmlns:p="http://schemas.openxmlformats.org/presentationml/2006/main">
  <p:tag name="KSO_WM_DIAGRAM_VIRTUALLY_FRAME" val="{&quot;height&quot;:142.05,&quot;left&quot;:51.839999999999996,&quot;top&quot;:102.25,&quot;width&quot;:885.51}"/>
</p:tagLst>
</file>

<file path=ppt/tags/tag18.xml><?xml version="1.0" encoding="utf-8"?>
<p:tagLst xmlns:p="http://schemas.openxmlformats.org/presentationml/2006/main">
  <p:tag name="KSO_WM_DIAGRAM_VIRTUALLY_FRAME" val="{&quot;height&quot;:142.05,&quot;left&quot;:51.839999999999996,&quot;top&quot;:102.25,&quot;width&quot;:885.51}"/>
</p:tagLst>
</file>

<file path=ppt/tags/tag19.xml><?xml version="1.0" encoding="utf-8"?>
<p:tagLst xmlns:p="http://schemas.openxmlformats.org/presentationml/2006/main">
  <p:tag name="KSO_WM_DIAGRAM_VIRTUALLY_FRAME" val="{&quot;height&quot;:142.05,&quot;left&quot;:51.839999999999996,&quot;top&quot;:102.25,&quot;width&quot;:885.51}"/>
</p:tagLst>
</file>

<file path=ppt/tags/tag20.xml><?xml version="1.0" encoding="utf-8"?>
<p:tagLst xmlns:p="http://schemas.openxmlformats.org/presentationml/2006/main">
  <p:tag name="KSO_WM_DIAGRAM_VIRTUALLY_FRAME" val="{&quot;height&quot;:142.05,&quot;left&quot;:51.839999999999996,&quot;top&quot;:102.25,&quot;width&quot;:885.51}"/>
</p:tagLst>
</file>

<file path=ppt/tags/tag21.xml><?xml version="1.0" encoding="utf-8"?>
<p:tagLst xmlns:p="http://schemas.openxmlformats.org/presentationml/2006/main">
  <p:tag name="KSO_WM_DIAGRAM_VIRTUALLY_FRAME" val="{&quot;height&quot;:142.05,&quot;left&quot;:51.839999999999996,&quot;top&quot;:102.25,&quot;width&quot;:885.51}"/>
</p:tagLst>
</file>

<file path=ppt/tags/tag22.xml><?xml version="1.0" encoding="utf-8"?>
<p:tagLst xmlns:p="http://schemas.openxmlformats.org/presentationml/2006/main">
  <p:tag name="KSO_WM_DIAGRAM_VIRTUALLY_FRAME" val="{&quot;height&quot;:142.05,&quot;left&quot;:51.839999999999996,&quot;top&quot;:102.25,&quot;width&quot;:885.51}"/>
</p:tagLst>
</file>

<file path=ppt/tags/tag23.xml><?xml version="1.0" encoding="utf-8"?>
<p:tagLst xmlns:p="http://schemas.openxmlformats.org/presentationml/2006/main">
  <p:tag name="KSO_WM_DIAGRAM_VIRTUALLY_FRAME" val="{&quot;height&quot;:142.05,&quot;left&quot;:51.839999999999996,&quot;top&quot;:102.25,&quot;width&quot;:885.51}"/>
</p:tagLst>
</file>

<file path=ppt/tags/tag24.xml><?xml version="1.0" encoding="utf-8"?>
<p:tagLst xmlns:p="http://schemas.openxmlformats.org/presentationml/2006/main">
  <p:tag name="KSO_WM_DIAGRAM_VIRTUALLY_FRAME" val="{&quot;height&quot;:142.05,&quot;left&quot;:51.839999999999996,&quot;top&quot;:102.25,&quot;width&quot;:885.51}"/>
</p:tagLst>
</file>

<file path=ppt/tags/tag25.xml><?xml version="1.0" encoding="utf-8"?>
<p:tagLst xmlns:p="http://schemas.openxmlformats.org/presentationml/2006/main">
  <p:tag name="KSO_WM_DIAGRAM_VIRTUALLY_FRAME" val="{&quot;height&quot;:142.05,&quot;left&quot;:51.839999999999996,&quot;top&quot;:102.25,&quot;width&quot;:885.51}"/>
</p:tagLst>
</file>

<file path=ppt/tags/tag26.xml><?xml version="1.0" encoding="utf-8"?>
<p:tagLst xmlns:p="http://schemas.openxmlformats.org/presentationml/2006/main">
  <p:tag name="KSO_WM_DIAGRAM_VIRTUALLY_FRAME" val="{&quot;height&quot;:142.05,&quot;left&quot;:51.839999999999996,&quot;top&quot;:102.25,&quot;width&quot;:885.51}"/>
</p:tagLst>
</file>

<file path=ppt/tags/tag27.xml><?xml version="1.0" encoding="utf-8"?>
<p:tagLst xmlns:p="http://schemas.openxmlformats.org/presentationml/2006/main">
  <p:tag name="KSO_WM_DIAGRAM_VIRTUALLY_FRAME" val="{&quot;height&quot;:142.05,&quot;left&quot;:51.839999999999996,&quot;top&quot;:102.25,&quot;width&quot;:885.51}"/>
</p:tagLst>
</file>

<file path=ppt/tags/tag28.xml><?xml version="1.0" encoding="utf-8"?>
<p:tagLst xmlns:p="http://schemas.openxmlformats.org/presentationml/2006/main">
  <p:tag name="KSO_WM_DIAGRAM_VIRTUALLY_FRAME" val="{&quot;height&quot;:142.05,&quot;left&quot;:51.839999999999996,&quot;top&quot;:102.25,&quot;width&quot;:885.51}"/>
</p:tagLst>
</file>

<file path=ppt/tags/tag29.xml><?xml version="1.0" encoding="utf-8"?>
<p:tagLst xmlns:p="http://schemas.openxmlformats.org/presentationml/2006/main">
  <p:tag name="KSO_WM_DIAGRAM_VIRTUALLY_FRAME" val="{&quot;height&quot;:142.05,&quot;left&quot;:51.839999999999996,&quot;top&quot;:102.25,&quot;width&quot;:885.51}"/>
</p:tagLst>
</file>

<file path=ppt/tags/tag30.xml><?xml version="1.0" encoding="utf-8"?>
<p:tagLst xmlns:p="http://schemas.openxmlformats.org/presentationml/2006/main">
  <p:tag name="KSO_WM_DIAGRAM_VIRTUALLY_FRAME" val="{&quot;height&quot;:142.05,&quot;left&quot;:51.839999999999996,&quot;top&quot;:102.25,&quot;width&quot;:885.51}"/>
</p:tagLst>
</file>

<file path=ppt/tags/tag31.xml><?xml version="1.0" encoding="utf-8"?>
<p:tagLst xmlns:p="http://schemas.openxmlformats.org/presentationml/2006/main">
  <p:tag name="KSO_WM_DIAGRAM_VIRTUALLY_FRAME" val="{&quot;height&quot;:299.85,&quot;left&quot;:44.05,&quot;top&quot;:118.65,&quot;width&quot;:866.8}"/>
</p:tagLst>
</file>

<file path=ppt/tags/tag32.xml><?xml version="1.0" encoding="utf-8"?>
<p:tagLst xmlns:p="http://schemas.openxmlformats.org/presentationml/2006/main">
  <p:tag name="KSO_WM_DIAGRAM_VIRTUALLY_FRAME" val="{&quot;height&quot;:299.85,&quot;left&quot;:44.05,&quot;top&quot;:118.65,&quot;width&quot;:866.8}"/>
</p:tagLst>
</file>

<file path=ppt/tags/tag33.xml><?xml version="1.0" encoding="utf-8"?>
<p:tagLst xmlns:p="http://schemas.openxmlformats.org/presentationml/2006/main">
  <p:tag name="KSO_WM_DIAGRAM_VIRTUALLY_FRAME" val="{&quot;height&quot;:299.85,&quot;left&quot;:44.05,&quot;top&quot;:118.65,&quot;width&quot;:866.8}"/>
</p:tagLst>
</file>

<file path=ppt/tags/tag34.xml><?xml version="1.0" encoding="utf-8"?>
<p:tagLst xmlns:p="http://schemas.openxmlformats.org/presentationml/2006/main">
  <p:tag name="KSO_WM_DIAGRAM_VIRTUALLY_FRAME" val="{&quot;height&quot;:299.85,&quot;left&quot;:44.05,&quot;top&quot;:118.65,&quot;width&quot;:866.8}"/>
</p:tagLst>
</file>

<file path=ppt/tags/tag35.xml><?xml version="1.0" encoding="utf-8"?>
<p:tagLst xmlns:p="http://schemas.openxmlformats.org/presentationml/2006/main">
  <p:tag name="KSO_WM_DIAGRAM_VIRTUALLY_FRAME" val="{&quot;height&quot;:299.85,&quot;left&quot;:44.05,&quot;top&quot;:118.65,&quot;width&quot;:866.8}"/>
</p:tagLst>
</file>

<file path=ppt/tags/tag36.xml><?xml version="1.0" encoding="utf-8"?>
<p:tagLst xmlns:p="http://schemas.openxmlformats.org/presentationml/2006/main">
  <p:tag name="KSO_WM_DIAGRAM_VIRTUALLY_FRAME" val="{&quot;height&quot;:299.85,&quot;left&quot;:44.05,&quot;top&quot;:118.65,&quot;width&quot;:866.8}"/>
</p:tagLst>
</file>

<file path=ppt/tags/tag37.xml><?xml version="1.0" encoding="utf-8"?>
<p:tagLst xmlns:p="http://schemas.openxmlformats.org/presentationml/2006/main">
  <p:tag name="KSO_WM_DIAGRAM_VIRTUALLY_FRAME" val="{&quot;height&quot;:299.85,&quot;left&quot;:44.05,&quot;top&quot;:118.65,&quot;width&quot;:866.8}"/>
</p:tagLst>
</file>

<file path=ppt/tags/tag38.xml><?xml version="1.0" encoding="utf-8"?>
<p:tagLst xmlns:p="http://schemas.openxmlformats.org/presentationml/2006/main">
  <p:tag name="KSO_WM_DIAGRAM_VIRTUALLY_FRAME" val="{&quot;height&quot;:299.85,&quot;left&quot;:44.05,&quot;top&quot;:118.65,&quot;width&quot;:866.8}"/>
</p:tagLst>
</file>

<file path=ppt/tags/tag39.xml><?xml version="1.0" encoding="utf-8"?>
<p:tagLst xmlns:p="http://schemas.openxmlformats.org/presentationml/2006/main">
  <p:tag name="KSO_WM_DIAGRAM_VIRTUALLY_FRAME" val="{&quot;height&quot;:299.85,&quot;left&quot;:44.05,&quot;top&quot;:118.65,&quot;width&quot;:866.8}"/>
</p:tagLst>
</file>

<file path=ppt/tags/tag40.xml><?xml version="1.0" encoding="utf-8"?>
<p:tagLst xmlns:p="http://schemas.openxmlformats.org/presentationml/2006/main">
  <p:tag name="KSO_WM_DIAGRAM_VIRTUALLY_FRAME" val="{&quot;height&quot;:299.85,&quot;left&quot;:44.05,&quot;top&quot;:118.65,&quot;width&quot;:866.8}"/>
</p:tagLst>
</file>

<file path=ppt/tags/tag41.xml><?xml version="1.0" encoding="utf-8"?>
<p:tagLst xmlns:p="http://schemas.openxmlformats.org/presentationml/2006/main">
  <p:tag name="KSO_WM_DIAGRAM_VIRTUALLY_FRAME" val="{&quot;height&quot;:299.85,&quot;left&quot;:44.05,&quot;top&quot;:118.65,&quot;width&quot;:866.8}"/>
</p:tagLst>
</file>

<file path=ppt/tags/tag42.xml><?xml version="1.0" encoding="utf-8"?>
<p:tagLst xmlns:p="http://schemas.openxmlformats.org/presentationml/2006/main">
  <p:tag name="KSO_WM_DIAGRAM_VIRTUALLY_FRAME" val="{&quot;height&quot;:299.85,&quot;left&quot;:44.05,&quot;top&quot;:118.65,&quot;width&quot;:866.8}"/>
</p:tagLst>
</file>

<file path=ppt/tags/tag43.xml><?xml version="1.0" encoding="utf-8"?>
<p:tagLst xmlns:p="http://schemas.openxmlformats.org/presentationml/2006/main">
  <p:tag name="KSO_WM_DIAGRAM_VIRTUALLY_FRAME" val="{&quot;height&quot;:299.85,&quot;left&quot;:44.05,&quot;top&quot;:118.65,&quot;width&quot;:866.8}"/>
</p:tagLst>
</file>

<file path=ppt/tags/tag44.xml><?xml version="1.0" encoding="utf-8"?>
<p:tagLst xmlns:p="http://schemas.openxmlformats.org/presentationml/2006/main">
  <p:tag name="KSO_WM_DIAGRAM_VIRTUALLY_FRAME" val="{&quot;height&quot;:299.85,&quot;left&quot;:44.05,&quot;top&quot;:118.65,&quot;width&quot;:866.8}"/>
</p:tagLst>
</file>

<file path=ppt/tags/tag45.xml><?xml version="1.0" encoding="utf-8"?>
<p:tagLst xmlns:p="http://schemas.openxmlformats.org/presentationml/2006/main">
  <p:tag name="KSO_WM_DIAGRAM_VIRTUALLY_FRAME" val="{&quot;height&quot;:299.85,&quot;left&quot;:44.05,&quot;top&quot;:118.65,&quot;width&quot;:866.8}"/>
</p:tagLst>
</file>

<file path=ppt/tags/tag46.xml><?xml version="1.0" encoding="utf-8"?>
<p:tagLst xmlns:p="http://schemas.openxmlformats.org/presentationml/2006/main">
  <p:tag name="KSO_WM_DIAGRAM_VIRTUALLY_FRAME" val="{&quot;height&quot;:299.85,&quot;left&quot;:44.05,&quot;top&quot;:118.65,&quot;width&quot;:866.8}"/>
</p:tagLst>
</file>

<file path=ppt/tags/tag47.xml><?xml version="1.0" encoding="utf-8"?>
<p:tagLst xmlns:p="http://schemas.openxmlformats.org/presentationml/2006/main">
  <p:tag name="KSO_WM_DIAGRAM_VIRTUALLY_FRAME" val="{&quot;height&quot;:299.85,&quot;left&quot;:44.05,&quot;top&quot;:118.65,&quot;width&quot;:866.8}"/>
</p:tagLst>
</file>

<file path=ppt/tags/tag48.xml><?xml version="1.0" encoding="utf-8"?>
<p:tagLst xmlns:p="http://schemas.openxmlformats.org/presentationml/2006/main">
  <p:tag name="KSO_WM_DIAGRAM_VIRTUALLY_FRAME" val="{&quot;height&quot;:299.85,&quot;left&quot;:44.05,&quot;top&quot;:118.65,&quot;width&quot;:866.8}"/>
</p:tagLst>
</file>

<file path=ppt/tags/tag49.xml><?xml version="1.0" encoding="utf-8"?>
<p:tagLst xmlns:p="http://schemas.openxmlformats.org/presentationml/2006/main">
  <p:tag name="KSO_WM_DIAGRAM_VIRTUALLY_FRAME" val="{&quot;height&quot;:299.85,&quot;left&quot;:44.05,&quot;top&quot;:118.65,&quot;width&quot;:866.8}"/>
</p:tagLst>
</file>

<file path=ppt/tags/tag50.xml><?xml version="1.0" encoding="utf-8"?>
<p:tagLst xmlns:p="http://schemas.openxmlformats.org/presentationml/2006/main">
  <p:tag name="KSO_WM_DIAGRAM_VIRTUALLY_FRAME" val="{&quot;height&quot;:299.85,&quot;left&quot;:44.05,&quot;top&quot;:118.65,&quot;width&quot;:866.8}"/>
</p:tagLst>
</file>

<file path=ppt/tags/tag51.xml><?xml version="1.0" encoding="utf-8"?>
<p:tagLst xmlns:p="http://schemas.openxmlformats.org/presentationml/2006/main">
  <p:tag name="KSO_WM_DIAGRAM_VIRTUALLY_FRAME" val="{&quot;height&quot;:299.85,&quot;left&quot;:44.05,&quot;top&quot;:118.65,&quot;width&quot;:866.8}"/>
</p:tagLst>
</file>

<file path=ppt/tags/tag52.xml><?xml version="1.0" encoding="utf-8"?>
<p:tagLst xmlns:p="http://schemas.openxmlformats.org/presentationml/2006/main">
  <p:tag name="KSO_WM_DIAGRAM_VIRTUALLY_FRAME" val="{&quot;height&quot;:276.2407074428887,&quot;left&quot;:49.2,&quot;top&quot;:136.8,&quot;width&quot;:874.5600801060397}"/>
</p:tagLst>
</file>

<file path=ppt/tags/tag53.xml><?xml version="1.0" encoding="utf-8"?>
<p:tagLst xmlns:p="http://schemas.openxmlformats.org/presentationml/2006/main">
  <p:tag name="KSO_WM_DIAGRAM_VIRTUALLY_FRAME" val="{&quot;height&quot;:276.2407074428887,&quot;left&quot;:49.2,&quot;top&quot;:136.8,&quot;width&quot;:874.5600801060397}"/>
</p:tagLst>
</file>

<file path=ppt/tags/tag54.xml><?xml version="1.0" encoding="utf-8"?>
<p:tagLst xmlns:p="http://schemas.openxmlformats.org/presentationml/2006/main">
  <p:tag name="KSO_WM_DIAGRAM_VIRTUALLY_FRAME" val="{&quot;height&quot;:276.2407074428887,&quot;left&quot;:49.2,&quot;top&quot;:136.8,&quot;width&quot;:874.5600801060397}"/>
</p:tagLst>
</file>

<file path=ppt/tags/tag55.xml><?xml version="1.0" encoding="utf-8"?>
<p:tagLst xmlns:p="http://schemas.openxmlformats.org/presentationml/2006/main">
  <p:tag name="KSO_WM_DIAGRAM_VIRTUALLY_FRAME" val="{&quot;height&quot;:276.2407074428887,&quot;left&quot;:49.2,&quot;top&quot;:136.8,&quot;width&quot;:874.5600801060397}"/>
</p:tagLst>
</file>

<file path=ppt/tags/tag56.xml><?xml version="1.0" encoding="utf-8"?>
<p:tagLst xmlns:p="http://schemas.openxmlformats.org/presentationml/2006/main">
  <p:tag name="KSO_WM_DIAGRAM_VIRTUALLY_FRAME" val="{&quot;height&quot;:276.2407074428887,&quot;left&quot;:49.2,&quot;top&quot;:136.8,&quot;width&quot;:874.5600801060397}"/>
</p:tagLst>
</file>

<file path=ppt/tags/tag57.xml><?xml version="1.0" encoding="utf-8"?>
<p:tagLst xmlns:p="http://schemas.openxmlformats.org/presentationml/2006/main">
  <p:tag name="KSO_WM_DIAGRAM_VIRTUALLY_FRAME" val="{&quot;height&quot;:276.2407074428887,&quot;left&quot;:49.2,&quot;top&quot;:136.8,&quot;width&quot;:874.5600801060397}"/>
</p:tagLst>
</file>

<file path=ppt/tags/tag58.xml><?xml version="1.0" encoding="utf-8"?>
<p:tagLst xmlns:p="http://schemas.openxmlformats.org/presentationml/2006/main">
  <p:tag name="KSO_WM_DIAGRAM_VIRTUALLY_FRAME" val="{&quot;height&quot;:276.2407074428887,&quot;left&quot;:49.2,&quot;top&quot;:136.8,&quot;width&quot;:874.5600801060397}"/>
</p:tagLst>
</file>

<file path=ppt/tags/tag59.xml><?xml version="1.0" encoding="utf-8"?>
<p:tagLst xmlns:p="http://schemas.openxmlformats.org/presentationml/2006/main">
  <p:tag name="KSO_WM_DIAGRAM_VIRTUALLY_FRAME" val="{&quot;height&quot;:276.2407074428887,&quot;left&quot;:49.2,&quot;top&quot;:136.8,&quot;width&quot;:874.5600801060397}"/>
</p:tagLst>
</file>

<file path=ppt/tags/tag60.xml><?xml version="1.0" encoding="utf-8"?>
<p:tagLst xmlns:p="http://schemas.openxmlformats.org/presentationml/2006/main">
  <p:tag name="KSO_WM_DIAGRAM_VIRTUALLY_FRAME" val="{&quot;height&quot;:276.2407074428887,&quot;left&quot;:49.2,&quot;top&quot;:136.8,&quot;width&quot;:874.5600801060397}"/>
</p:tagLst>
</file>

<file path=ppt/tags/tag61.xml><?xml version="1.0" encoding="utf-8"?>
<p:tagLst xmlns:p="http://schemas.openxmlformats.org/presentationml/2006/main">
  <p:tag name="KSO_WM_DIAGRAM_VIRTUALLY_FRAME" val="{&quot;height&quot;:276.2407074428887,&quot;left&quot;:49.2,&quot;top&quot;:136.8,&quot;width&quot;:874.5600801060397}"/>
</p:tagLst>
</file>

<file path=ppt/tags/tag62.xml><?xml version="1.0" encoding="utf-8"?>
<p:tagLst xmlns:p="http://schemas.openxmlformats.org/presentationml/2006/main">
  <p:tag name="KSO_WM_DIAGRAM_VIRTUALLY_FRAME" val="{&quot;height&quot;:276.2407074428887,&quot;left&quot;:49.2,&quot;top&quot;:136.8,&quot;width&quot;:874.5600801060397}"/>
</p:tagLst>
</file>

<file path=ppt/tags/tag63.xml><?xml version="1.0" encoding="utf-8"?>
<p:tagLst xmlns:p="http://schemas.openxmlformats.org/presentationml/2006/main">
  <p:tag name="KSO_WM_DIAGRAM_VIRTUALLY_FRAME" val="{&quot;height&quot;:276.2407074428887,&quot;left&quot;:49.2,&quot;top&quot;:136.8,&quot;width&quot;:874.5600801060397}"/>
</p:tagLst>
</file>

<file path=ppt/tags/tag64.xml><?xml version="1.0" encoding="utf-8"?>
<p:tagLst xmlns:p="http://schemas.openxmlformats.org/presentationml/2006/main">
  <p:tag name="KSO_WM_DIAGRAM_VIRTUALLY_FRAME" val="{&quot;height&quot;:276.2407074428887,&quot;left&quot;:49.2,&quot;top&quot;:136.8,&quot;width&quot;:874.5600801060397}"/>
</p:tagLst>
</file>

<file path=ppt/tags/tag65.xml><?xml version="1.0" encoding="utf-8"?>
<p:tagLst xmlns:p="http://schemas.openxmlformats.org/presentationml/2006/main">
  <p:tag name="KSO_WM_DIAGRAM_VIRTUALLY_FRAME" val="{&quot;height&quot;:276.2407074428887,&quot;left&quot;:49.2,&quot;top&quot;:136.8,&quot;width&quot;:874.5600801060397}"/>
</p:tagLst>
</file>

<file path=ppt/tags/tag66.xml><?xml version="1.0" encoding="utf-8"?>
<p:tagLst xmlns:p="http://schemas.openxmlformats.org/presentationml/2006/main">
  <p:tag name="KSO_WM_DIAGRAM_VIRTUALLY_FRAME" val="{&quot;height&quot;:276.2407074428887,&quot;left&quot;:49.2,&quot;top&quot;:136.8,&quot;width&quot;:874.5600801060397}"/>
</p:tagLst>
</file>

<file path=ppt/tags/tag67.xml><?xml version="1.0" encoding="utf-8"?>
<p:tagLst xmlns:p="http://schemas.openxmlformats.org/presentationml/2006/main">
  <p:tag name="KSO_WM_DIAGRAM_VIRTUALLY_FRAME" val="{&quot;height&quot;:276.2407074428887,&quot;left&quot;:49.2,&quot;top&quot;:136.8,&quot;width&quot;:874.5600801060397}"/>
</p:tagLst>
</file>

<file path=ppt/tags/tag68.xml><?xml version="1.0" encoding="utf-8"?>
<p:tagLst xmlns:p="http://schemas.openxmlformats.org/presentationml/2006/main">
  <p:tag name="KSO_WM_DIAGRAM_VIRTUALLY_FRAME" val="{&quot;height&quot;:276.2407074428887,&quot;left&quot;:49.2,&quot;top&quot;:136.8,&quot;width&quot;:874.5600801060397}"/>
</p:tagLst>
</file>

<file path=ppt/tags/tag69.xml><?xml version="1.0" encoding="utf-8"?>
<p:tagLst xmlns:p="http://schemas.openxmlformats.org/presentationml/2006/main">
  <p:tag name="KSO_WM_DIAGRAM_VIRTUALLY_FRAME" val="{&quot;height&quot;:276.2407074428887,&quot;left&quot;:49.2,&quot;top&quot;:136.8,&quot;width&quot;:874.5600801060397}"/>
</p:tagLst>
</file>

<file path=ppt/tags/tag70.xml><?xml version="1.0" encoding="utf-8"?>
<p:tagLst xmlns:p="http://schemas.openxmlformats.org/presentationml/2006/main">
  <p:tag name="KSO_WM_DIAGRAM_VIRTUALLY_FRAME" val="{&quot;height&quot;:276.2407074428887,&quot;left&quot;:49.2,&quot;top&quot;:136.8,&quot;width&quot;:874.5600801060397}"/>
</p:tagLst>
</file>

<file path=ppt/tags/tag71.xml><?xml version="1.0" encoding="utf-8"?>
<p:tagLst xmlns:p="http://schemas.openxmlformats.org/presentationml/2006/main">
  <p:tag name="KSO_WM_DIAGRAM_VIRTUALLY_FRAME" val="{&quot;height&quot;:276.2407074428887,&quot;left&quot;:49.2,&quot;top&quot;:136.8,&quot;width&quot;:874.5600801060397}"/>
</p:tagLst>
</file>

<file path=ppt/tags/tag72.xml><?xml version="1.0" encoding="utf-8"?>
<p:tagLst xmlns:p="http://schemas.openxmlformats.org/presentationml/2006/main">
  <p:tag name="KSO_WM_DIAGRAM_VIRTUALLY_FRAME" val="{&quot;height&quot;:276.2407074428887,&quot;left&quot;:49.2,&quot;top&quot;:136.8,&quot;width&quot;:874.5600801060397}"/>
</p:tagLst>
</file>

<file path=ppt/tags/tag73.xml><?xml version="1.0" encoding="utf-8"?>
<p:tagLst xmlns:p="http://schemas.openxmlformats.org/presentationml/2006/main">
  <p:tag name="KSO_WM_DIAGRAM_VIRTUALLY_FRAME" val="{&quot;height&quot;:276.2407074428887,&quot;left&quot;:49.2,&quot;top&quot;:136.8,&quot;width&quot;:874.5600801060397}"/>
</p:tagLst>
</file>

<file path=ppt/tags/tag74.xml><?xml version="1.0" encoding="utf-8"?>
<p:tagLst xmlns:p="http://schemas.openxmlformats.org/presentationml/2006/main">
  <p:tag name="KSO_WM_DIAGRAM_VIRTUALLY_FRAME" val="{&quot;height&quot;:276.2407074428887,&quot;left&quot;:49.2,&quot;top&quot;:136.8,&quot;width&quot;:874.5600801060397}"/>
</p:tagLst>
</file>

<file path=ppt/tags/tag75.xml><?xml version="1.0" encoding="utf-8"?>
<p:tagLst xmlns:p="http://schemas.openxmlformats.org/presentationml/2006/main">
  <p:tag name="KSO_WM_DIAGRAM_VIRTUALLY_FRAME" val="{&quot;height&quot;:276.2407074428887,&quot;left&quot;:49.2,&quot;top&quot;:136.8,&quot;width&quot;:874.5600801060397}"/>
</p:tagLst>
</file>

<file path=ppt/tags/tag76.xml><?xml version="1.0" encoding="utf-8"?>
<p:tagLst xmlns:p="http://schemas.openxmlformats.org/presentationml/2006/main">
  <p:tag name="KSO_WM_DIAGRAM_VIRTUALLY_FRAME" val="{&quot;height&quot;:276.2407074428887,&quot;left&quot;:49.2,&quot;top&quot;:136.8,&quot;width&quot;:874.5600801060397}"/>
</p:tagLst>
</file>

<file path=ppt/tags/tag77.xml><?xml version="1.0" encoding="utf-8"?>
<p:tagLst xmlns:p="http://schemas.openxmlformats.org/presentationml/2006/main">
  <p:tag name="KSO_WM_DIAGRAM_VIRTUALLY_FRAME" val="{&quot;height&quot;:276.2407074428887,&quot;left&quot;:49.2,&quot;top&quot;:136.8,&quot;width&quot;:874.5600801060397}"/>
</p:tagLst>
</file>

<file path=ppt/tags/tag78.xml><?xml version="1.0" encoding="utf-8"?>
<p:tagLst xmlns:p="http://schemas.openxmlformats.org/presentationml/2006/main">
  <p:tag name="KSO_WM_DIAGRAM_VIRTUALLY_FRAME" val="{&quot;height&quot;:276.2407074428887,&quot;left&quot;:49.2,&quot;top&quot;:136.8,&quot;width&quot;:874.5600801060397}"/>
</p:tagLst>
</file>

<file path=ppt/tags/tag79.xml><?xml version="1.0" encoding="utf-8"?>
<p:tagLst xmlns:p="http://schemas.openxmlformats.org/presentationml/2006/main">
  <p:tag name="KSO_WM_DIAGRAM_VIRTUALLY_FRAME" val="{&quot;height&quot;:276.2407074428887,&quot;left&quot;:49.2,&quot;top&quot;:136.8,&quot;width&quot;:874.5600801060397}"/>
</p:tagLst>
</file>

<file path=ppt/tags/tag80.xml><?xml version="1.0" encoding="utf-8"?>
<p:tagLst xmlns:p="http://schemas.openxmlformats.org/presentationml/2006/main">
  <p:tag name="KSO_WM_DIAGRAM_VIRTUALLY_FRAME" val="{&quot;height&quot;:276.2407074428887,&quot;left&quot;:49.2,&quot;top&quot;:136.8,&quot;width&quot;:874.5600801060397}"/>
</p:tagLst>
</file>

<file path=ppt/tags/tag81.xml><?xml version="1.0" encoding="utf-8"?>
<p:tagLst xmlns:p="http://schemas.openxmlformats.org/presentationml/2006/main">
  <p:tag name="KSO_WM_DIAGRAM_VIRTUALLY_FRAME" val="{&quot;height&quot;:276.2407074428887,&quot;left&quot;:49.2,&quot;top&quot;:136.8,&quot;width&quot;:874.5600801060397}"/>
</p:tagLst>
</file>

<file path=ppt/tags/tag82.xml><?xml version="1.0" encoding="utf-8"?>
<p:tagLst xmlns:p="http://schemas.openxmlformats.org/presentationml/2006/main">
  <p:tag name="KSO_WM_DIAGRAM_VIRTUALLY_FRAME" val="{&quot;height&quot;:276.2407074428887,&quot;left&quot;:49.2,&quot;top&quot;:136.8,&quot;width&quot;:874.5600801060397}"/>
</p:tagLst>
</file>

<file path=ppt/tags/tag83.xml><?xml version="1.0" encoding="utf-8"?>
<p:tagLst xmlns:p="http://schemas.openxmlformats.org/presentationml/2006/main">
  <p:tag name="KSO_WM_DIAGRAM_VIRTUALLY_FRAME" val="{&quot;height&quot;:293.73,&quot;left&quot;:51.85,&quot;top&quot;:133.95,&quot;width&quot;:851.8}"/>
</p:tagLst>
</file>

<file path=ppt/tags/tag84.xml><?xml version="1.0" encoding="utf-8"?>
<p:tagLst xmlns:p="http://schemas.openxmlformats.org/presentationml/2006/main">
  <p:tag name="KSO_WM_DIAGRAM_VIRTUALLY_FRAME" val="{&quot;height&quot;:293.73,&quot;left&quot;:51.85,&quot;top&quot;:133.95,&quot;width&quot;:851.8}"/>
</p:tagLst>
</file>

<file path=ppt/tags/tag85.xml><?xml version="1.0" encoding="utf-8"?>
<p:tagLst xmlns:p="http://schemas.openxmlformats.org/presentationml/2006/main">
  <p:tag name="KSO_WM_DIAGRAM_VIRTUALLY_FRAME" val="{&quot;height&quot;:293.73,&quot;left&quot;:51.85,&quot;top&quot;:133.95,&quot;width&quot;:851.8}"/>
</p:tagLst>
</file>

<file path=ppt/tags/tag86.xml><?xml version="1.0" encoding="utf-8"?>
<p:tagLst xmlns:p="http://schemas.openxmlformats.org/presentationml/2006/main">
  <p:tag name="KSO_WM_DIAGRAM_VIRTUALLY_FRAME" val="{&quot;height&quot;:293.73,&quot;left&quot;:51.85,&quot;top&quot;:133.95,&quot;width&quot;:851.8}"/>
</p:tagLst>
</file>

<file path=ppt/tags/tag87.xml><?xml version="1.0" encoding="utf-8"?>
<p:tagLst xmlns:p="http://schemas.openxmlformats.org/presentationml/2006/main">
  <p:tag name="KSO_WM_DIAGRAM_VIRTUALLY_FRAME" val="{&quot;height&quot;:293.73,&quot;left&quot;:51.85,&quot;top&quot;:133.95,&quot;width&quot;:851.8}"/>
</p:tagLst>
</file>

<file path=ppt/tags/tag88.xml><?xml version="1.0" encoding="utf-8"?>
<p:tagLst xmlns:p="http://schemas.openxmlformats.org/presentationml/2006/main">
  <p:tag name="KSO_WM_DIAGRAM_VIRTUALLY_FRAME" val="{&quot;height&quot;:293.73,&quot;left&quot;:51.85,&quot;top&quot;:133.95,&quot;width&quot;:851.8}"/>
</p:tagLst>
</file>

<file path=ppt/tags/tag89.xml><?xml version="1.0" encoding="utf-8"?>
<p:tagLst xmlns:p="http://schemas.openxmlformats.org/presentationml/2006/main">
  <p:tag name="KSO_WM_DIAGRAM_VIRTUALLY_FRAME" val="{&quot;height&quot;:293.73,&quot;left&quot;:51.85,&quot;top&quot;:133.95,&quot;width&quot;:851.8}"/>
</p:tagLst>
</file>

<file path=ppt/tags/tag90.xml><?xml version="1.0" encoding="utf-8"?>
<p:tagLst xmlns:p="http://schemas.openxmlformats.org/presentationml/2006/main">
  <p:tag name="KSO_WM_DIAGRAM_VIRTUALLY_FRAME" val="{&quot;height&quot;:293.73,&quot;left&quot;:51.85,&quot;top&quot;:133.95,&quot;width&quot;:851.8}"/>
</p:tagLst>
</file>

<file path=ppt/tags/tag91.xml><?xml version="1.0" encoding="utf-8"?>
<p:tagLst xmlns:p="http://schemas.openxmlformats.org/presentationml/2006/main">
  <p:tag name="KSO_WM_DIAGRAM_VIRTUALLY_FRAME" val="{&quot;height&quot;:293.73,&quot;left&quot;:51.85,&quot;top&quot;:133.95,&quot;width&quot;:851.8}"/>
</p:tagLst>
</file>

<file path=ppt/tags/tag92.xml><?xml version="1.0" encoding="utf-8"?>
<p:tagLst xmlns:p="http://schemas.openxmlformats.org/presentationml/2006/main">
  <p:tag name="KSO_WM_DIAGRAM_VIRTUALLY_FRAME" val="{&quot;height&quot;:293.73,&quot;left&quot;:51.85,&quot;top&quot;:133.95,&quot;width&quot;:851.8}"/>
</p:tagLst>
</file>

<file path=ppt/tags/tag93.xml><?xml version="1.0" encoding="utf-8"?>
<p:tagLst xmlns:p="http://schemas.openxmlformats.org/presentationml/2006/main">
  <p:tag name="KSO_WM_DIAGRAM_VIRTUALLY_FRAME" val="{&quot;height&quot;:293.73,&quot;left&quot;:51.85,&quot;top&quot;:133.95,&quot;width&quot;:851.8}"/>
</p:tagLst>
</file>

<file path=ppt/tags/tag94.xml><?xml version="1.0" encoding="utf-8"?>
<p:tagLst xmlns:p="http://schemas.openxmlformats.org/presentationml/2006/main">
  <p:tag name="KSO_WM_DIAGRAM_VIRTUALLY_FRAME" val="{&quot;height&quot;:293.73,&quot;left&quot;:51.85,&quot;top&quot;:133.95,&quot;width&quot;:851.8}"/>
</p:tagLst>
</file>

<file path=ppt/tags/tag95.xml><?xml version="1.0" encoding="utf-8"?>
<p:tagLst xmlns:p="http://schemas.openxmlformats.org/presentationml/2006/main">
  <p:tag name="KSO_WM_DIAGRAM_VIRTUALLY_FRAME" val="{&quot;height&quot;:293.73,&quot;left&quot;:51.85,&quot;top&quot;:133.95,&quot;width&quot;:851.8}"/>
</p:tagLst>
</file>

<file path=ppt/tags/tag96.xml><?xml version="1.0" encoding="utf-8"?>
<p:tagLst xmlns:p="http://schemas.openxmlformats.org/presentationml/2006/main">
  <p:tag name="KSO_WM_DIAGRAM_VIRTUALLY_FRAME" val="{&quot;height&quot;:293.73,&quot;left&quot;:51.85,&quot;top&quot;:133.95,&quot;width&quot;:851.8}"/>
</p:tagLst>
</file>

<file path=ppt/tags/tag97.xml><?xml version="1.0" encoding="utf-8"?>
<p:tagLst xmlns:p="http://schemas.openxmlformats.org/presentationml/2006/main">
  <p:tag name="KSO_WM_DIAGRAM_VIRTUALLY_FRAME" val="{&quot;height&quot;:293.73,&quot;left&quot;:51.85,&quot;top&quot;:133.95,&quot;width&quot;:851.8}"/>
</p:tagLst>
</file>

<file path=ppt/tags/tag98.xml><?xml version="1.0" encoding="utf-8"?>
<p:tagLst xmlns:p="http://schemas.openxmlformats.org/presentationml/2006/main">
  <p:tag name="KSO_WM_DIAGRAM_VIRTUALLY_FRAME" val="{&quot;height&quot;:293.73,&quot;left&quot;:51.85,&quot;top&quot;:133.95,&quot;width&quot;:851.8}"/>
</p:tagLst>
</file>

<file path=ppt/tags/tag99.xml><?xml version="1.0" encoding="utf-8"?>
<p:tagLst xmlns:p="http://schemas.openxmlformats.org/presentationml/2006/main">
  <p:tag name="KSO_WM_DIAGRAM_VIRTUALLY_FRAME" val="{&quot;height&quot;:293.73,&quot;left&quot;:51.85,&quot;top&quot;:133.95,&quot;width&quot;:851.8}"/>
</p:tagLst>
</file>

<file path=ppt/tags/tag100.xml><?xml version="1.0" encoding="utf-8"?>
<p:tagLst xmlns:p="http://schemas.openxmlformats.org/presentationml/2006/main">
  <p:tag name="KSO_WM_DIAGRAM_VIRTUALLY_FRAME" val="{&quot;height&quot;:293.73,&quot;left&quot;:51.85,&quot;top&quot;:133.95,&quot;width&quot;:851.8}"/>
</p:tagLst>
</file>

<file path=ppt/tags/tag101.xml><?xml version="1.0" encoding="utf-8"?>
<p:tagLst xmlns:p="http://schemas.openxmlformats.org/presentationml/2006/main">
  <p:tag name="KSO_WM_DIAGRAM_VIRTUALLY_FRAME" val="{&quot;height&quot;:293.73,&quot;left&quot;:51.85,&quot;top&quot;:133.95,&quot;width&quot;:851.8}"/>
</p:tagLst>
</file>

<file path=ppt/tags/tag102.xml><?xml version="1.0" encoding="utf-8"?>
<p:tagLst xmlns:p="http://schemas.openxmlformats.org/presentationml/2006/main">
  <p:tag name="KSO_WM_DIAGRAM_VIRTUALLY_FRAME" val="{&quot;height&quot;:293.73,&quot;left&quot;:51.85,&quot;top&quot;:133.95,&quot;width&quot;:851.8}"/>
</p:tagLst>
</file>

<file path=ppt/tags/tag103.xml><?xml version="1.0" encoding="utf-8"?>
<p:tagLst xmlns:p="http://schemas.openxmlformats.org/presentationml/2006/main">
  <p:tag name="KSO_WM_DIAGRAM_VIRTUALLY_FRAME" val="{&quot;height&quot;:293.73,&quot;left&quot;:51.85,&quot;top&quot;:133.95,&quot;width&quot;:851.8}"/>
</p:tagLst>
</file>

<file path=ppt/tags/tag104.xml><?xml version="1.0" encoding="utf-8"?>
<p:tagLst xmlns:p="http://schemas.openxmlformats.org/presentationml/2006/main">
  <p:tag name="KSO_WM_DIAGRAM_VIRTUALLY_FRAME" val="{&quot;height&quot;:293.73,&quot;left&quot;:51.85,&quot;top&quot;:133.95,&quot;width&quot;:851.8}"/>
</p:tagLst>
</file>

<file path=ppt/tags/tag105.xml><?xml version="1.0" encoding="utf-8"?>
<p:tagLst xmlns:p="http://schemas.openxmlformats.org/presentationml/2006/main">
  <p:tag name="KSO_WM_DIAGRAM_VIRTUALLY_FRAME" val="{&quot;height&quot;:293.73,&quot;left&quot;:51.85,&quot;top&quot;:133.95,&quot;width&quot;:851.8}"/>
</p:tagLst>
</file>

<file path=ppt/tags/tag106.xml><?xml version="1.0" encoding="utf-8"?>
<p:tagLst xmlns:p="http://schemas.openxmlformats.org/presentationml/2006/main">
  <p:tag name="KSO_WM_DIAGRAM_VIRTUALLY_FRAME" val="{&quot;height&quot;:293.73,&quot;left&quot;:51.85,&quot;top&quot;:133.95,&quot;width&quot;:851.8}"/>
</p:tagLst>
</file>

<file path=ppt/tags/tag107.xml><?xml version="1.0" encoding="utf-8"?>
<p:tagLst xmlns:p="http://schemas.openxmlformats.org/presentationml/2006/main">
  <p:tag name="KSO_WM_DIAGRAM_VIRTUALLY_FRAME" val="{&quot;height&quot;:293.73,&quot;left&quot;:51.85,&quot;top&quot;:133.95,&quot;width&quot;:851.8}"/>
</p:tagLst>
</file>

<file path=ppt/tags/tag108.xml><?xml version="1.0" encoding="utf-8"?>
<p:tagLst xmlns:p="http://schemas.openxmlformats.org/presentationml/2006/main">
  <p:tag name="TABLE_ENDDRAG_ORIGIN_RECT" val="852*365"/>
  <p:tag name="TABLE_ENDDRAG_RECT" val="52*128*852*365"/>
</p:tagLst>
</file>

<file path=ppt/tags/tag109.xml><?xml version="1.0" encoding="utf-8"?>
<p:tagLst xmlns:p="http://schemas.openxmlformats.org/presentationml/2006/main">
  <p:tag name="KSO_WM_DIAGRAM_VIRTUALLY_FRAME" val="{&quot;height&quot;:305.75,&quot;left&quot;:50.45,&quot;top&quot;:136.7,&quot;width&quot;:849.55}"/>
</p:tagLst>
</file>

<file path=ppt/tags/tag110.xml><?xml version="1.0" encoding="utf-8"?>
<p:tagLst xmlns:p="http://schemas.openxmlformats.org/presentationml/2006/main">
  <p:tag name="KSO_WM_DIAGRAM_VIRTUALLY_FRAME" val="{&quot;height&quot;:310.37337184511273,&quot;left&quot;:50.45,&quot;top&quot;:132.07662815488726,&quot;width&quot;:849.55}"/>
</p:tagLst>
</file>

<file path=ppt/tags/tag111.xml><?xml version="1.0" encoding="utf-8"?>
<p:tagLst xmlns:p="http://schemas.openxmlformats.org/presentationml/2006/main">
  <p:tag name="KSO_WM_DIAGRAM_VIRTUALLY_FRAME" val="{&quot;height&quot;:310.37337184511273,&quot;left&quot;:50.45,&quot;top&quot;:132.07662815488726,&quot;width&quot;:849.55}"/>
</p:tagLst>
</file>

<file path=ppt/tags/tag112.xml><?xml version="1.0" encoding="utf-8"?>
<p:tagLst xmlns:p="http://schemas.openxmlformats.org/presentationml/2006/main">
  <p:tag name="KSO_WM_DIAGRAM_VIRTUALLY_FRAME" val="{&quot;height&quot;:310.37337184511273,&quot;left&quot;:50.45,&quot;top&quot;:132.07662815488726,&quot;width&quot;:849.55}"/>
</p:tagLst>
</file>

<file path=ppt/tags/tag113.xml><?xml version="1.0" encoding="utf-8"?>
<p:tagLst xmlns:p="http://schemas.openxmlformats.org/presentationml/2006/main">
  <p:tag name="KSO_WM_DIAGRAM_VIRTUALLY_FRAME" val="{&quot;height&quot;:310.37337184511273,&quot;left&quot;:50.45,&quot;top&quot;:132.07662815488726,&quot;width&quot;:849.55}"/>
</p:tagLst>
</file>

<file path=ppt/tags/tag114.xml><?xml version="1.0" encoding="utf-8"?>
<p:tagLst xmlns:p="http://schemas.openxmlformats.org/presentationml/2006/main">
  <p:tag name="KSO_WM_DIAGRAM_VIRTUALLY_FRAME" val="{&quot;height&quot;:310.37337184511273,&quot;left&quot;:50.45,&quot;top&quot;:132.07662815488726,&quot;width&quot;:849.55}"/>
</p:tagLst>
</file>

<file path=ppt/tags/tag115.xml><?xml version="1.0" encoding="utf-8"?>
<p:tagLst xmlns:p="http://schemas.openxmlformats.org/presentationml/2006/main">
  <p:tag name="KSO_WM_DIAGRAM_VIRTUALLY_FRAME" val="{&quot;height&quot;:310.37337184511273,&quot;left&quot;:50.45,&quot;top&quot;:132.07662815488726,&quot;width&quot;:849.55}"/>
</p:tagLst>
</file>

<file path=ppt/tags/tag116.xml><?xml version="1.0" encoding="utf-8"?>
<p:tagLst xmlns:p="http://schemas.openxmlformats.org/presentationml/2006/main">
  <p:tag name="KSO_WM_DIAGRAM_VIRTUALLY_FRAME" val="{&quot;height&quot;:310.37337184511273,&quot;left&quot;:50.45,&quot;top&quot;:132.07662815488726,&quot;width&quot;:849.55}"/>
</p:tagLst>
</file>

<file path=ppt/tags/tag117.xml><?xml version="1.0" encoding="utf-8"?>
<p:tagLst xmlns:p="http://schemas.openxmlformats.org/presentationml/2006/main">
  <p:tag name="KSO_WM_DIAGRAM_VIRTUALLY_FRAME" val="{&quot;height&quot;:305.75,&quot;left&quot;:50.45,&quot;top&quot;:136.7,&quot;width&quot;:849.55}"/>
</p:tagLst>
</file>

<file path=ppt/tags/tag118.xml><?xml version="1.0" encoding="utf-8"?>
<p:tagLst xmlns:p="http://schemas.openxmlformats.org/presentationml/2006/main">
  <p:tag name="KSO_WM_DIAGRAM_VIRTUALLY_FRAME" val="{&quot;height&quot;:310.37337184511273,&quot;left&quot;:50.45,&quot;top&quot;:132.07662815488726,&quot;width&quot;:849.55}"/>
</p:tagLst>
</file>

<file path=ppt/tags/tag119.xml><?xml version="1.0" encoding="utf-8"?>
<p:tagLst xmlns:p="http://schemas.openxmlformats.org/presentationml/2006/main">
  <p:tag name="KSO_WM_DIAGRAM_VIRTUALLY_FRAME" val="{&quot;height&quot;:310.37337184511273,&quot;left&quot;:50.45,&quot;top&quot;:132.07662815488726,&quot;width&quot;:849.55}"/>
</p:tagLst>
</file>

<file path=ppt/tags/tag120.xml><?xml version="1.0" encoding="utf-8"?>
<p:tagLst xmlns:p="http://schemas.openxmlformats.org/presentationml/2006/main">
  <p:tag name="KSO_WM_DIAGRAM_VIRTUALLY_FRAME" val="{&quot;height&quot;:310.37337184511273,&quot;left&quot;:50.45,&quot;top&quot;:132.07662815488726,&quot;width&quot;:849.55}"/>
</p:tagLst>
</file>

<file path=ppt/tags/tag121.xml><?xml version="1.0" encoding="utf-8"?>
<p:tagLst xmlns:p="http://schemas.openxmlformats.org/presentationml/2006/main">
  <p:tag name="KSO_WM_DIAGRAM_VIRTUALLY_FRAME" val="{&quot;height&quot;:310.37337184511273,&quot;left&quot;:50.45,&quot;top&quot;:132.07662815488726,&quot;width&quot;:849.55}"/>
</p:tagLst>
</file>

<file path=ppt/tags/tag122.xml><?xml version="1.0" encoding="utf-8"?>
<p:tagLst xmlns:p="http://schemas.openxmlformats.org/presentationml/2006/main">
  <p:tag name="KSO_WM_DIAGRAM_VIRTUALLY_FRAME" val="{&quot;height&quot;:310.37337184511273,&quot;left&quot;:50.45,&quot;top&quot;:132.07662815488726,&quot;width&quot;:849.55}"/>
</p:tagLst>
</file>

<file path=ppt/tags/tag123.xml><?xml version="1.0" encoding="utf-8"?>
<p:tagLst xmlns:p="http://schemas.openxmlformats.org/presentationml/2006/main">
  <p:tag name="KSO_WM_DIAGRAM_VIRTUALLY_FRAME" val="{&quot;height&quot;:310.37337184511273,&quot;left&quot;:50.45,&quot;top&quot;:132.07662815488726,&quot;width&quot;:849.55}"/>
</p:tagLst>
</file>

<file path=ppt/tags/tag124.xml><?xml version="1.0" encoding="utf-8"?>
<p:tagLst xmlns:p="http://schemas.openxmlformats.org/presentationml/2006/main">
  <p:tag name="KSO_WM_DIAGRAM_VIRTUALLY_FRAME" val="{&quot;height&quot;:310.37337184511273,&quot;left&quot;:50.45,&quot;top&quot;:132.07662815488726,&quot;width&quot;:849.55}"/>
</p:tagLst>
</file>

<file path=ppt/tags/tag125.xml><?xml version="1.0" encoding="utf-8"?>
<p:tagLst xmlns:p="http://schemas.openxmlformats.org/presentationml/2006/main">
  <p:tag name="KSO_WM_DIAGRAM_VIRTUALLY_FRAME" val="{&quot;height&quot;:310.37337184511273,&quot;left&quot;:50.45,&quot;top&quot;:132.07662815488726,&quot;width&quot;:849.55}"/>
</p:tagLst>
</file>

<file path=ppt/tags/tag126.xml><?xml version="1.0" encoding="utf-8"?>
<p:tagLst xmlns:p="http://schemas.openxmlformats.org/presentationml/2006/main">
  <p:tag name="KSO_WM_DIAGRAM_VIRTUALLY_FRAME" val="{&quot;height&quot;:310.37337184511273,&quot;left&quot;:50.45,&quot;top&quot;:132.07662815488726,&quot;width&quot;:849.55}"/>
</p:tagLst>
</file>

<file path=ppt/tags/tag127.xml><?xml version="1.0" encoding="utf-8"?>
<p:tagLst xmlns:p="http://schemas.openxmlformats.org/presentationml/2006/main">
  <p:tag name="KSO_WM_DIAGRAM_VIRTUALLY_FRAME" val="{&quot;height&quot;:310.37337184511273,&quot;left&quot;:50.45,&quot;top&quot;:132.07662815488726,&quot;width&quot;:849.55}"/>
</p:tagLst>
</file>

<file path=ppt/tags/tag128.xml><?xml version="1.0" encoding="utf-8"?>
<p:tagLst xmlns:p="http://schemas.openxmlformats.org/presentationml/2006/main">
  <p:tag name="KSO_WM_DIAGRAM_VIRTUALLY_FRAME" val="{&quot;height&quot;:310.37337184511273,&quot;left&quot;:50.45,&quot;top&quot;:132.07662815488726,&quot;width&quot;:849.55}"/>
</p:tagLst>
</file>

<file path=ppt/tags/tag129.xml><?xml version="1.0" encoding="utf-8"?>
<p:tagLst xmlns:p="http://schemas.openxmlformats.org/presentationml/2006/main">
  <p:tag name="KSO_WM_DIAGRAM_VIRTUALLY_FRAME" val="{&quot;height&quot;:310.37337184511273,&quot;left&quot;:50.45,&quot;top&quot;:132.07662815488726,&quot;width&quot;:849.55}"/>
</p:tagLst>
</file>

<file path=ppt/tags/tag130.xml><?xml version="1.0" encoding="utf-8"?>
<p:tagLst xmlns:p="http://schemas.openxmlformats.org/presentationml/2006/main">
  <p:tag name="KSO_WM_DIAGRAM_VIRTUALLY_FRAME" val="{&quot;height&quot;:380.609092195237,&quot;left&quot;:47.35,&quot;top&quot;:146.20090780476295,&quot;width&quot;:857.25}"/>
</p:tagLst>
</file>

<file path=ppt/tags/tag131.xml><?xml version="1.0" encoding="utf-8"?>
<p:tagLst xmlns:p="http://schemas.openxmlformats.org/presentationml/2006/main">
  <p:tag name="KSO_WM_DIAGRAM_VIRTUALLY_FRAME" val="{&quot;height&quot;:380.609092195237,&quot;left&quot;:47.35,&quot;top&quot;:146.20090780476295,&quot;width&quot;:857.25}"/>
</p:tagLst>
</file>

<file path=ppt/tags/tag132.xml><?xml version="1.0" encoding="utf-8"?>
<p:tagLst xmlns:p="http://schemas.openxmlformats.org/presentationml/2006/main">
  <p:tag name="KSO_WM_DIAGRAM_VIRTUALLY_FRAME" val="{&quot;height&quot;:380.609092195237,&quot;left&quot;:47.35,&quot;top&quot;:146.20090780476295,&quot;width&quot;:857.25}"/>
</p:tagLst>
</file>

<file path=ppt/tags/tag133.xml><?xml version="1.0" encoding="utf-8"?>
<p:tagLst xmlns:p="http://schemas.openxmlformats.org/presentationml/2006/main">
  <p:tag name="KSO_WM_DIAGRAM_VIRTUALLY_FRAME" val="{&quot;height&quot;:380.609092195237,&quot;left&quot;:47.35,&quot;top&quot;:146.20090780476295,&quot;width&quot;:857.25}"/>
</p:tagLst>
</file>

<file path=ppt/tags/tag134.xml><?xml version="1.0" encoding="utf-8"?>
<p:tagLst xmlns:p="http://schemas.openxmlformats.org/presentationml/2006/main">
  <p:tag name="KSO_WM_DIAGRAM_VIRTUALLY_FRAME" val="{&quot;height&quot;:380.609092195237,&quot;left&quot;:47.35,&quot;top&quot;:146.20090780476295,&quot;width&quot;:857.25}"/>
</p:tagLst>
</file>

<file path=ppt/tags/tag135.xml><?xml version="1.0" encoding="utf-8"?>
<p:tagLst xmlns:p="http://schemas.openxmlformats.org/presentationml/2006/main">
  <p:tag name="KSO_WM_DIAGRAM_VIRTUALLY_FRAME" val="{&quot;height&quot;:380.609092195237,&quot;left&quot;:47.35,&quot;top&quot;:146.20090780476295,&quot;width&quot;:857.25}"/>
</p:tagLst>
</file>

<file path=ppt/tags/tag136.xml><?xml version="1.0" encoding="utf-8"?>
<p:tagLst xmlns:p="http://schemas.openxmlformats.org/presentationml/2006/main">
  <p:tag name="KSO_WM_DIAGRAM_VIRTUALLY_FRAME" val="{&quot;height&quot;:380.609092195237,&quot;left&quot;:47.35,&quot;top&quot;:146.20090780476295,&quot;width&quot;:857.25}"/>
</p:tagLst>
</file>

<file path=ppt/tags/tag137.xml><?xml version="1.0" encoding="utf-8"?>
<p:tagLst xmlns:p="http://schemas.openxmlformats.org/presentationml/2006/main">
  <p:tag name="KSO_WM_DIAGRAM_VIRTUALLY_FRAME" val="{&quot;height&quot;:380.609092195237,&quot;left&quot;:47.35,&quot;top&quot;:146.20090780476295,&quot;width&quot;:857.25}"/>
</p:tagLst>
</file>

<file path=ppt/tags/tag138.xml><?xml version="1.0" encoding="utf-8"?>
<p:tagLst xmlns:p="http://schemas.openxmlformats.org/presentationml/2006/main">
  <p:tag name="KSO_WM_DIAGRAM_VIRTUALLY_FRAME" val="{&quot;height&quot;:380.609092195237,&quot;left&quot;:47.35,&quot;top&quot;:146.20090780476295,&quot;width&quot;:857.25}"/>
</p:tagLst>
</file>

<file path=ppt/tags/tag139.xml><?xml version="1.0" encoding="utf-8"?>
<p:tagLst xmlns:p="http://schemas.openxmlformats.org/presentationml/2006/main">
  <p:tag name="KSO_WM_DIAGRAM_VIRTUALLY_FRAME" val="{&quot;height&quot;:380.609092195237,&quot;left&quot;:47.35,&quot;top&quot;:146.20090780476295,&quot;width&quot;:857.25}"/>
</p:tagLst>
</file>

<file path=ppt/tags/tag140.xml><?xml version="1.0" encoding="utf-8"?>
<p:tagLst xmlns:p="http://schemas.openxmlformats.org/presentationml/2006/main">
  <p:tag name="KSO_WM_DIAGRAM_VIRTUALLY_FRAME" val="{&quot;height&quot;:380.609092195237,&quot;left&quot;:47.35,&quot;top&quot;:146.20090780476295,&quot;width&quot;:857.25}"/>
</p:tagLst>
</file>

<file path=ppt/tags/tag141.xml><?xml version="1.0" encoding="utf-8"?>
<p:tagLst xmlns:p="http://schemas.openxmlformats.org/presentationml/2006/main">
  <p:tag name="KSO_WM_DIAGRAM_VIRTUALLY_FRAME" val="{&quot;height&quot;:380.609092195237,&quot;left&quot;:47.35,&quot;top&quot;:146.20090780476295,&quot;width&quot;:857.25}"/>
</p:tagLst>
</file>

<file path=ppt/tags/tag142.xml><?xml version="1.0" encoding="utf-8"?>
<p:tagLst xmlns:p="http://schemas.openxmlformats.org/presentationml/2006/main">
  <p:tag name="KSO_WM_DIAGRAM_VIRTUALLY_FRAME" val="{&quot;height&quot;:380.609092195237,&quot;left&quot;:47.35,&quot;top&quot;:146.20090780476295,&quot;width&quot;:857.25}"/>
</p:tagLst>
</file>

<file path=ppt/tags/tag143.xml><?xml version="1.0" encoding="utf-8"?>
<p:tagLst xmlns:p="http://schemas.openxmlformats.org/presentationml/2006/main">
  <p:tag name="KSO_WM_DIAGRAM_VIRTUALLY_FRAME" val="{&quot;height&quot;:380.609092195237,&quot;left&quot;:47.35,&quot;top&quot;:146.20090780476295,&quot;width&quot;:857.25}"/>
</p:tagLst>
</file>

<file path=ppt/tags/tag144.xml><?xml version="1.0" encoding="utf-8"?>
<p:tagLst xmlns:p="http://schemas.openxmlformats.org/presentationml/2006/main">
  <p:tag name="KSO_WM_DIAGRAM_VIRTUALLY_FRAME" val="{&quot;height&quot;:380.609092195237,&quot;left&quot;:47.35,&quot;top&quot;:146.20090780476295,&quot;width&quot;:857.25}"/>
</p:tagLst>
</file>

<file path=ppt/tags/tag145.xml><?xml version="1.0" encoding="utf-8"?>
<p:tagLst xmlns:p="http://schemas.openxmlformats.org/presentationml/2006/main">
  <p:tag name="KSO_WM_DIAGRAM_VIRTUALLY_FRAME" val="{&quot;height&quot;:380.609092195237,&quot;left&quot;:47.35,&quot;top&quot;:146.20090780476295,&quot;width&quot;:857.25}"/>
</p:tagLst>
</file>

<file path=ppt/tags/tag146.xml><?xml version="1.0" encoding="utf-8"?>
<p:tagLst xmlns:p="http://schemas.openxmlformats.org/presentationml/2006/main">
  <p:tag name="KSO_WM_DIAGRAM_VIRTUALLY_FRAME" val="{&quot;height&quot;:377.65999999999997,&quot;left&quot;:56.4,&quot;top&quot;:149.15,&quot;width&quot;:848.2}"/>
</p:tagLst>
</file>

<file path=ppt/tags/tag147.xml><?xml version="1.0" encoding="utf-8"?>
<p:tagLst xmlns:p="http://schemas.openxmlformats.org/presentationml/2006/main">
  <p:tag name="KSO_WM_DIAGRAM_VIRTUALLY_FRAME" val="{&quot;height&quot;:380.609092195237,&quot;left&quot;:47.35,&quot;top&quot;:146.20090780476295,&quot;width&quot;:857.25}"/>
</p:tagLst>
</file>

<file path=ppt/tags/tag148.xml><?xml version="1.0" encoding="utf-8"?>
<p:tagLst xmlns:p="http://schemas.openxmlformats.org/presentationml/2006/main">
  <p:tag name="KSO_WM_DIAGRAM_VIRTUALLY_FRAME" val="{&quot;height&quot;:380.609092195237,&quot;left&quot;:47.35,&quot;top&quot;:146.20090780476295,&quot;width&quot;:857.25}"/>
</p:tagLst>
</file>

<file path=ppt/tags/tag149.xml><?xml version="1.0" encoding="utf-8"?>
<p:tagLst xmlns:p="http://schemas.openxmlformats.org/presentationml/2006/main">
  <p:tag name="KSO_WM_DIAGRAM_VIRTUALLY_FRAME" val="{&quot;height&quot;:380.609092195237,&quot;left&quot;:47.35,&quot;top&quot;:146.20090780476295,&quot;width&quot;:857.25}"/>
</p:tagLst>
</file>

<file path=ppt/tags/tag150.xml><?xml version="1.0" encoding="utf-8"?>
<p:tagLst xmlns:p="http://schemas.openxmlformats.org/presentationml/2006/main">
  <p:tag name="KSO_WM_DIAGRAM_VIRTUALLY_FRAME" val="{&quot;height&quot;:380.609092195237,&quot;left&quot;:47.35,&quot;top&quot;:146.20090780476295,&quot;width&quot;:857.25}"/>
</p:tagLst>
</file>

<file path=ppt/tags/tag151.xml><?xml version="1.0" encoding="utf-8"?>
<p:tagLst xmlns:p="http://schemas.openxmlformats.org/presentationml/2006/main">
  <p:tag name="KSO_WM_DIAGRAM_VIRTUALLY_FRAME" val="{&quot;height&quot;:380.609092195237,&quot;left&quot;:47.35,&quot;top&quot;:146.20090780476295,&quot;width&quot;:857.25}"/>
</p:tagLst>
</file>

<file path=ppt/tags/tag152.xml><?xml version="1.0" encoding="utf-8"?>
<p:tagLst xmlns:p="http://schemas.openxmlformats.org/presentationml/2006/main">
  <p:tag name="KSO_WM_DIAGRAM_VIRTUALLY_FRAME" val="{&quot;height&quot;:380.609092195237,&quot;left&quot;:47.35,&quot;top&quot;:146.20090780476295,&quot;width&quot;:857.25}"/>
</p:tagLst>
</file>

<file path=ppt/tags/tag153.xml><?xml version="1.0" encoding="utf-8"?>
<p:tagLst xmlns:p="http://schemas.openxmlformats.org/presentationml/2006/main">
  <p:tag name="KSO_WM_DIAGRAM_VIRTUALLY_FRAME" val="{&quot;height&quot;:380.609092195237,&quot;left&quot;:47.35,&quot;top&quot;:146.20090780476295,&quot;width&quot;:857.25}"/>
</p:tagLst>
</file>

<file path=ppt/tags/tag154.xml><?xml version="1.0" encoding="utf-8"?>
<p:tagLst xmlns:p="http://schemas.openxmlformats.org/presentationml/2006/main">
  <p:tag name="KSO_WM_DIAGRAM_VIRTUALLY_FRAME" val="{&quot;height&quot;:380.609092195237,&quot;left&quot;:47.35,&quot;top&quot;:146.20090780476295,&quot;width&quot;:857.25}"/>
</p:tagLst>
</file>

<file path=ppt/tags/tag155.xml><?xml version="1.0" encoding="utf-8"?>
<p:tagLst xmlns:p="http://schemas.openxmlformats.org/presentationml/2006/main">
  <p:tag name="KSO_WM_DIAGRAM_VIRTUALLY_FRAME" val="{&quot;height&quot;:380.609092195237,&quot;left&quot;:47.35,&quot;top&quot;:146.20090780476295,&quot;width&quot;:857.25}"/>
</p:tagLst>
</file>

<file path=ppt/tags/tag156.xml><?xml version="1.0" encoding="utf-8"?>
<p:tagLst xmlns:p="http://schemas.openxmlformats.org/presentationml/2006/main">
  <p:tag name="KSO_WM_DIAGRAM_VIRTUALLY_FRAME" val="{&quot;height&quot;:380.609092195237,&quot;left&quot;:47.35,&quot;top&quot;:146.20090780476295,&quot;width&quot;:857.25}"/>
</p:tagLst>
</file>

<file path=ppt/tags/tag157.xml><?xml version="1.0" encoding="utf-8"?>
<p:tagLst xmlns:p="http://schemas.openxmlformats.org/presentationml/2006/main">
  <p:tag name="KSO_WM_DIAGRAM_VIRTUALLY_FRAME" val="{&quot;height&quot;:380.609092195237,&quot;left&quot;:47.35,&quot;top&quot;:146.20090780476295,&quot;width&quot;:857.25}"/>
</p:tagLst>
</file>

<file path=ppt/tags/tag158.xml><?xml version="1.0" encoding="utf-8"?>
<p:tagLst xmlns:p="http://schemas.openxmlformats.org/presentationml/2006/main">
  <p:tag name="KSO_WM_DIAGRAM_VIRTUALLY_FRAME" val="{&quot;height&quot;:380.609092195237,&quot;left&quot;:47.35,&quot;top&quot;:146.20090780476295,&quot;width&quot;:857.25}"/>
</p:tagLst>
</file>

<file path=ppt/tags/tag159.xml><?xml version="1.0" encoding="utf-8"?>
<p:tagLst xmlns:p="http://schemas.openxmlformats.org/presentationml/2006/main">
  <p:tag name="TABLE_ENDDRAG_ORIGIN_RECT" val="835*323"/>
  <p:tag name="TABLE_ENDDRAG_RECT" val="61*115*835*32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5518</Words>
  <Application>WPS 演示</Application>
  <PresentationFormat>On-screen Show (16:9)</PresentationFormat>
  <Paragraphs>631</Paragraphs>
  <Slides>15</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Arial</vt:lpstr>
      <vt:lpstr>宋体</vt:lpstr>
      <vt:lpstr>Wingdings</vt:lpstr>
      <vt:lpstr>微软雅黑</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瑞华云｜数豆科技</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 Odoo + OpenClaw 的 AI-Native 企业财务数智化系统工作汇报</dc:title>
  <dc:creator>Hermes</dc:creator>
  <dc:subject>AI-Native 企业财务数智化系统工作汇报</dc:subject>
  <cp:lastModifiedBy>Yyshi</cp:lastModifiedBy>
  <cp:revision>43</cp:revision>
  <dcterms:created xsi:type="dcterms:W3CDTF">2026-04-13T01:04:00Z</dcterms:created>
  <dcterms:modified xsi:type="dcterms:W3CDTF">2026-04-13T03:36:19Z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19F42B2A9092405C92E4366490871A28_13</vt:lpwstr>
  </property>
  <property fmtid="{D5CDD505-2E9C-101B-9397-08002B2CF9AE}" pid="3" name="KSOProductBuildVer">
    <vt:lpwstr>2052-12.1.0.25225</vt:lpwstr>
  </property>
</Properties>
</file>